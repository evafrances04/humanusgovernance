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10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3383280"/>
            <a:ext cx="1188720" cy="15000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520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96FF14"/>
                </a:solidFill>
                <a:latin typeface="Fagun Medium"/>
              </a:rPr>
              <a:t>update since 29 June  ·  Q3 2026 Board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Fagun Medium"/>
              </a:rPr>
              <a:t>29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FFFFFF"/>
                </a:solidFill>
                <a:latin typeface="Fagun Black"/>
              </a:rPr>
              <a:t>Humanising Justice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3492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6FF14"/>
                </a:solidFill>
                <a:latin typeface="Fagun Medium"/>
              </a:rPr>
              <a:t>ACCOUNTABILITY  ·  COMMUNITY  · 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96FF14"/>
                </a:solidFill>
                <a:latin typeface="Inter"/>
              </a:rPr>
              <a:t>Sponsor: Eva Buzo, Executive Director  ·  Agenda item </a:t>
            </a:r>
            <a:r>
              <a:rPr sz="1000" b="0" i="1">
                <a:solidFill>
                  <a:srgbClr val="E12D64"/>
                </a:solidFill>
                <a:latin typeface="Inter"/>
              </a:rPr>
              <a:t>[Eva to confirm]</a:t>
            </a:r>
            <a:r>
              <a:rPr sz="1000" b="0" i="1">
                <a:solidFill>
                  <a:srgbClr val="96FF14"/>
                </a:solidFill>
                <a:latin typeface="Inter"/>
              </a:rPr>
              <a:t>  ·  15 minutes  ·  Discussion  ·  DRAFT for ED sign-off</a:t>
            </a:r>
          </a:p>
        </p:txBody>
      </p:sp>
      <p:pic>
        <p:nvPicPr>
          <p:cNvPr id="10" name="Picture 9" descr="humanus_logo_master_b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086" y="1011143"/>
            <a:ext cx="9509522" cy="32812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Fagun Bold"/>
              </a:rPr>
              <a:t>Three goals guide everything we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Our 2024–29 strategy frames the year.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74720" cy="2743200"/>
          </a:xfrm>
          <a:prstGeom prst="rect">
            <a:avLst/>
          </a:prstGeom>
          <a:solidFill>
            <a:srgbClr val="410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96FF14"/>
                </a:solidFill>
                <a:latin typeface="Fagun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Victims secure outcomes in line with their own conception of justice.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474720" cy="2743200"/>
          </a:xfrm>
          <a:prstGeom prst="rect">
            <a:avLst/>
          </a:prstGeom>
          <a:solidFill>
            <a:srgbClr val="410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96FF14"/>
                </a:solidFill>
                <a:latin typeface="Fagun Blac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56616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Victims are empowered by the process of pursuing justice — not just by its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194560"/>
            <a:ext cx="3474720" cy="2743200"/>
          </a:xfrm>
          <a:prstGeom prst="rect">
            <a:avLst/>
          </a:prstGeom>
          <a:solidFill>
            <a:srgbClr val="410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96FF14"/>
                </a:solidFill>
                <a:latin typeface="Fagun Blac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6616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Justice processes are transformed to put victims at the centre.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410F37"/>
                </a:solidFill>
                <a:latin typeface="Inter"/>
              </a:rPr>
              <a:t>The September retreat proposed broadening our framing from serious international crimes to human rights violations (slide 10). </a:t>
            </a:r>
            <a:r>
              <a:rPr sz="1200" b="0" i="1">
                <a:solidFill>
                  <a:srgbClr val="E12D64"/>
                </a:solidFill>
                <a:latin typeface="Inter"/>
              </a:rPr>
              <a:t>[Eva to confirm: Note or Endorse on 29 Oct agenda]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Q3 2026 Board Meeting  ·  Operations &amp; Impact Update  ·  DRAFT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2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Fagun Bold"/>
              </a:rPr>
              <a:t>Where the work has sat since June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29 June – 12 October 2026, by funded programme and other significant strands.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972800" cy="411480"/>
          </a:xfrm>
          <a:prstGeom prst="rect">
            <a:avLst/>
          </a:prstGeom>
          <a:solidFill>
            <a:srgbClr val="410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47671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6FF14"/>
                </a:solidFill>
                <a:latin typeface="Fagun Bold"/>
              </a:rPr>
              <a:t>Programme / strand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947671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6FF14"/>
                </a:solidFill>
                <a:latin typeface="Fagun Bold"/>
              </a:rPr>
              <a:t>Funder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947671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6FF14"/>
                </a:solidFill>
                <a:latin typeface="Fagun Bold"/>
              </a:rPr>
              <a:t>Status since 29 June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85999"/>
            <a:ext cx="10972800" cy="566928"/>
          </a:xfrm>
          <a:prstGeom prst="rect">
            <a:avLst/>
          </a:prstGeom>
          <a:solidFill>
            <a:srgbClr val="F7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59151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10F37"/>
                </a:solidFill>
                <a:latin typeface="Fagun Bold"/>
              </a:rPr>
              <a:t>Rohingya in India — legal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59151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Core funding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359151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Delhi detention roundtable convened lawyers (5 Jul); Right to Education route for detained minors developed; habeas and bail filings in preparation.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52927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26079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10F37"/>
                </a:solidFill>
                <a:latin typeface="Fagun Bold"/>
              </a:rPr>
              <a:t>Bangladesh dialogue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926079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FCDO (UK)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926079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Phase I delivery continuing; inputs to Stimson-led interim report (Jun–Oct); Jun–Oct financial claim in preparation.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19855"/>
            <a:ext cx="10972800" cy="566928"/>
          </a:xfrm>
          <a:prstGeom prst="rect">
            <a:avLst/>
          </a:prstGeom>
          <a:solidFill>
            <a:srgbClr val="F7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93007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10F37"/>
                </a:solidFill>
                <a:latin typeface="Fagun Bold"/>
              </a:rPr>
              <a:t>Towards a More Peaceful Arakan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493007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Swiss FDFA via Stimson Center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493007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Rohingya dialogue continuing; RCC roundtable on conditions for return at UNGA (25 Sep).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86783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59935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10F37"/>
                </a:solidFill>
                <a:latin typeface="Fagun Bold"/>
              </a:rPr>
              <a:t>Accountability for business and human rights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059935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Core funding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059935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Meta response to our case; Amnesty × hūmānus UNGA side event; Adani research dossier.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53711"/>
            <a:ext cx="10972800" cy="566928"/>
          </a:xfrm>
          <a:prstGeom prst="rect">
            <a:avLst/>
          </a:prstGeom>
          <a:solidFill>
            <a:srgbClr val="F7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626863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10F37"/>
                </a:solidFill>
                <a:latin typeface="Fagun Bold"/>
              </a:rPr>
              <a:t>Public engagement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626863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Core funding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626863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Against the Tide swim (Small Islands Coalition, Seychelles, UNGA); Berkeley keynote (28 Sep).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120639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193791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10F37"/>
                </a:solidFill>
                <a:latin typeface="Fagun Bold"/>
              </a:rPr>
              <a:t>Research — Rohingya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193791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12D64"/>
                </a:solidFill>
                <a:latin typeface="Inter"/>
              </a:rPr>
              <a:t>[Eva to confirm]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5193791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Sawyeddollah's analysis reports on Rohingya; website in development.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10F37"/>
                </a:solidFill>
                <a:latin typeface="Inter"/>
              </a:rPr>
              <a:t>Women's Dialogue (SDC) closed 30 April 2026; no activity this period. </a:t>
            </a:r>
            <a:r>
              <a:rPr sz="1000" b="0" i="1">
                <a:solidFill>
                  <a:srgbClr val="E12D64"/>
                </a:solidFill>
                <a:latin typeface="Inter"/>
              </a:rPr>
              <a:t>[Eva to confirm]</a:t>
            </a:r>
            <a:r>
              <a:rPr sz="1000" b="0" i="1">
                <a:solidFill>
                  <a:srgbClr val="410F37"/>
                </a:solidFill>
                <a:latin typeface="Inter"/>
              </a:rPr>
              <a:t> Finance: see Stacy McGill's Q3 Board Finance Report and Forecast Report.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Q3 2026 Board Meeting  ·  Operations &amp; Impact Update  ·  DRAFT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3 /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Fagun Bold"/>
              </a:rPr>
              <a:t>Rohingya in India — legal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Core funded  ·  no project grant  ·  Lead: Arati Ranade, India Programme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Q3 2026 Board Meeting  ·  Operations &amp; Impact Update  ·  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4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What the strand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5999"/>
            <a:ext cx="1097280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10F37"/>
                </a:solidFill>
                <a:latin typeface="Inter"/>
              </a:rPr>
              <a:t>Direct legal intervention for detained Rohingya refugees in India, building a cross-state network of lawyers and an evidentiary base on detention and deportation patterns. Funded from core — no donor restriction on case selection or strategy.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2271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Since 29 June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53070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34198"/>
            <a:ext cx="1069848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Delhi detention roundtable (5 July) — lawyers from across states convened over three panels to discuss detention litigation strategy.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89789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70917"/>
            <a:ext cx="1069848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Right to Education — strategy note drafted on an education-rights route for detained minors, alongside the refugee route; raised with African states in Geneva (25 August).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26508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07636"/>
            <a:ext cx="1069848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Litigation pipeline — habeas corpus petition in drafting; bail application being finalised for counsel's review; Right to Information petitioner being identified.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63227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44355"/>
            <a:ext cx="1069848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Lawyer network — Jammu &amp; Kashmir leads in place; Rajasthan, Tripura and Hyderabad being assessed. Case-law report on Rohingya deportation in preparation.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8107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Why this matters for the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92554"/>
            <a:ext cx="1097280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10F37"/>
                </a:solidFill>
                <a:latin typeface="Inter"/>
              </a:rPr>
              <a:t>The retreat agreed to continue the lawyer-network approach and reassess the Rohingya project after six months (slide 10). </a:t>
            </a:r>
            <a:r>
              <a:rPr sz="1200" b="0" i="0">
                <a:solidFill>
                  <a:srgbClr val="E12D64"/>
                </a:solidFill>
                <a:latin typeface="Inter"/>
              </a:rPr>
              <a:t>[Eva to confirm: report the review in writing or verbally]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Fagun Bold"/>
              </a:rPr>
              <a:t>Bangladesh dialogue programme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FCDO (UK)  ·  continuing programme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Q3 2026 Board Meeting  ·  Operations &amp; Impact Update  ·  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What the funding supports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5999"/>
            <a:ext cx="1097280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10F37"/>
                </a:solidFill>
                <a:latin typeface="Inter"/>
              </a:rPr>
              <a:t>Sustained dialogue and engagement work with Rohingya leadership in Bangladesh, complementing the Swiss/Stimson Arakan partnership. Operates in a deficit / reimbursement model — hūmānus spends and is reimbursed in arrears.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7271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Since 29 June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03070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84198"/>
            <a:ext cx="1069848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Phase I delivery continuing.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84210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65338"/>
            <a:ext cx="1069848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hūmānus inputs being prepared for the Stimson-led FCDO interim report covering June–October.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65350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46478"/>
            <a:ext cx="1069848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June–October financial claim being prepared in GBP; Schedule 2 disbursement amounts being agreed and countersigned.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546490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27618"/>
            <a:ext cx="10698480" cy="462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Cash timing — Stacy McGill's Q3 report shows the FCDO Phase II claim as the next contracted receipt, indicatively November.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Fagun Bold"/>
              </a:rPr>
              <a:t>Towards a More Peaceful Arakan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Swiss FDFA, via Stimson Center as prime  ·  hūmānus as implementing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Q3 2026 Board Meeting  ·  Operations &amp; Impact Update  ·  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What the project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5999"/>
            <a:ext cx="1097280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10F37"/>
                </a:solidFill>
                <a:latin typeface="Inter"/>
              </a:rPr>
              <a:t>An 18-month partnership (December 2025 – May 2027) to identify, create, and support trust-building opportunities among Rohingya, Arakanese, and Bangladesh stakeholders, combining bilateral engagement, capacity building, and facilitated dialogue.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7271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Since 29 June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03070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84198"/>
            <a:ext cx="1069848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Rohingya dialogue work continuing with Rohingya leadership.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84210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65338"/>
            <a:ext cx="1069848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UNGA week — RCC High-Level Roundtable, The Conditions for Return: A Rohingya-Led Dialogue (25 September).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65350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46478"/>
            <a:ext cx="1069848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Request made to Stimson for the FDFA head grant and the approved joint workplan.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546490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27618"/>
            <a:ext cx="10698480" cy="6934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Related peace-network engagement — PHRD Myanmar partner discussion (16 July); Pre-Gathering online sessions, Finding Each Other on Shifting Ground (13 and 16 July); Swiss Peace Partners Network, Geneva (6 August). </a:t>
            </a:r>
            <a:r>
              <a:rPr sz="1300" b="0" i="0">
                <a:solidFill>
                  <a:srgbClr val="E12D64"/>
                </a:solidFill>
                <a:latin typeface="Inter"/>
              </a:rPr>
              <a:t>[Eva to confirm placement]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Fagun Bold"/>
              </a:rPr>
              <a:t>Accountability for business and human rights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Core funded  ·  legal action, regulatory complaint and advocacy — confirmed as a core model at the retreat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THE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10F37"/>
                </a:solidFill>
                <a:latin typeface="Inter"/>
              </a:rPr>
              <a:t>Bringing together our work that holds business actors accountable for contribution to, or benefit from, serious international crimes — across litigation, regulatory complaint, and investor-facing advocacy.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ACTIVE WORKSTREAMS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10F37"/>
                </a:solidFill>
                <a:latin typeface="Fagun Bold"/>
              </a:rPr>
              <a:t>Meta / Facebook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10F37"/>
                </a:solidFill>
                <a:latin typeface="Inter"/>
              </a:rPr>
              <a:t>Meta has responded to our case, including a request for particulars. </a:t>
            </a:r>
            <a:r>
              <a:rPr sz="1100" b="0" i="0">
                <a:solidFill>
                  <a:srgbClr val="E12D64"/>
                </a:solidFill>
                <a:latin typeface="Inter"/>
              </a:rPr>
              <a:t>[Eva to confirm: source to be supplied]</a:t>
            </a:r>
            <a:r>
              <a:rPr sz="1100" b="0" i="0">
                <a:solidFill>
                  <a:srgbClr val="410F37"/>
                </a:solidFill>
                <a:latin typeface="Inter"/>
              </a:rPr>
              <a:t> Amnesty × hūmānus and Meta Inc. side events at UNGA (25 Sep); documentary narrative and video series in production.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576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10F37"/>
                </a:solidFill>
                <a:latin typeface="Fagun Bold"/>
              </a:rPr>
              <a:t>Adani / UniSuper / APRA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10F37"/>
                </a:solidFill>
                <a:latin typeface="Inter"/>
              </a:rPr>
              <a:t>Team research dossier progressing: UniSuper holdings disclosure, super-fund exposure and GQG mandates, Cbus deep dive, OFAC civil probe, Australian fiduciary-duty case law, thermal-coal revenue share, Adani Defence.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10F37"/>
                </a:solidFill>
                <a:latin typeface="Fagun Bold"/>
              </a:rPr>
              <a:t>Other accountability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10F37"/>
                </a:solidFill>
                <a:latin typeface="Inter"/>
              </a:rPr>
              <a:t>US and UK greenwashing opinions (Reuben brothers / Escénica) in progress. CERD / ICJ brief concerning Australia in preparation.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394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10F37"/>
                </a:solidFill>
                <a:latin typeface="Fagun Bold"/>
              </a:rPr>
              <a:t>Note for the 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760720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10F37"/>
                </a:solidFill>
                <a:latin typeface="Inter"/>
              </a:rPr>
              <a:t>At Q2 we proposed a dedicated Adani / UniSuper paper for this meeting. </a:t>
            </a:r>
            <a:r>
              <a:rPr sz="1100" b="0" i="1">
                <a:solidFill>
                  <a:srgbClr val="E12D64"/>
                </a:solidFill>
                <a:latin typeface="Inter"/>
              </a:rPr>
              <a:t>[Eva to confirm: delivered, deferred (with reason) or dropped]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Q3 2026 Board Meeting  ·  Operations &amp; Impact Update  ·  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7 / 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Fagun Bold"/>
              </a:rPr>
              <a:t>Public engagement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Core funded  ·  Against the Tide, speaking and advocacy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Q3 2026 Board Meeting  ·  Operations &amp; Impact Update  ·  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8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Against the Tide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04871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85999"/>
            <a:ext cx="10698480" cy="462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Eva Buzo Swim × Small Islands Coalition (28 August); Islands Swim: Seychelles (15 September); small-islands press, social and documentary session at UNGA (25 September).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9827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Speaking and advocacy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28631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09759"/>
            <a:ext cx="10698480" cy="462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Berkeley (28 September) — keynote, Human Rights for Victims of Conflict in a Fragmenting World; session with Berkeley IIS clinic students on conflict monitoring.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40911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22039"/>
            <a:ext cx="10698480" cy="462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UNGA week (21–25 September) — Afrobarometer–OSF side event Beyond Borders (24 Sep), OSF reception and network partners dinner, alongside the Amnesty, Meta and RCC events on slides 6 and 7.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53191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34319"/>
            <a:ext cx="1069848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9th anniversary of the Rohingya genocide (24 August) — communications moment.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034331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15459"/>
            <a:ext cx="1069848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Media bank (B-roll and photography) being built for future communications.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Fagun Bold"/>
              </a:rPr>
              <a:t>Research — Rohingya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M. Sawyeddollah </a:t>
            </a:r>
            <a:r>
              <a:rPr sz="1300" b="0" i="1">
                <a:solidFill>
                  <a:srgbClr val="E12D64"/>
                </a:solidFill>
                <a:latin typeface="Inter"/>
              </a:rPr>
              <a:t>[Eva to confirm spelling]</a:t>
            </a:r>
            <a:r>
              <a:rPr sz="1300" b="0" i="1">
                <a:solidFill>
                  <a:srgbClr val="E12D64"/>
                </a:solidFill>
                <a:latin typeface="Inter"/>
              </a:rPr>
              <a:t>  ·  funding line </a:t>
            </a:r>
            <a:r>
              <a:rPr sz="1300" b="0" i="1">
                <a:solidFill>
                  <a:srgbClr val="E12D64"/>
                </a:solidFill>
                <a:latin typeface="Inter"/>
              </a:rPr>
              <a:t>[Eva to confirm]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Q3 2026 Board Meeting  ·  Operations &amp; Impact Update  ·  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What the strand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5999"/>
            <a:ext cx="1097280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10F37"/>
                </a:solidFill>
                <a:latin typeface="Inter"/>
              </a:rPr>
              <a:t>Analysis reports on the Rohingya situation by M. Sawyeddollah, and a website he is building to host the work. </a:t>
            </a:r>
            <a:r>
              <a:rPr sz="1200" b="0" i="0">
                <a:solidFill>
                  <a:srgbClr val="E12D64"/>
                </a:solidFill>
                <a:latin typeface="Inter"/>
              </a:rPr>
              <a:t>[Eva to confirm framing]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7271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Since 29 June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03070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84198"/>
            <a:ext cx="1069848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Analysis papers discussed with him in New York during UNGA week (23 September).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84210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65338"/>
            <a:ext cx="1069848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Website in development. </a:t>
            </a:r>
            <a:r>
              <a:rPr sz="1300" b="0" i="0">
                <a:solidFill>
                  <a:srgbClr val="E12D64"/>
                </a:solidFill>
                <a:latin typeface="Inter"/>
              </a:rPr>
              <a:t>[Eva to confirm launch timing]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65350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46478"/>
            <a:ext cx="1069848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Scope and audience of the reports. </a:t>
            </a:r>
            <a:r>
              <a:rPr sz="1300" b="0" i="0">
                <a:solidFill>
                  <a:srgbClr val="E12D64"/>
                </a:solidFill>
                <a:latin typeface="Inter"/>
              </a:rPr>
              <a:t>[Eva to confirm]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Fagun Bold"/>
              </a:rPr>
              <a:t>Strategy retreat — what we decided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Team retreat, September 2026  ·  Day 1: strategy, impact and organisational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Q3 2026 Board Meeting  ·  Operations &amp; Impact Update  ·  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Strategy and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04871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85999"/>
            <a:ext cx="10698480" cy="21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Plan from what clients need — an outcomes ladder linking litigation, mediation and community engagement to meaningful results.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28230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9358"/>
            <a:ext cx="1069848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Broaden the framing from serious international crimes to human rights violations; stay people-focused and prioritise systemic change. </a:t>
            </a:r>
            <a:r>
              <a:rPr sz="1300" b="0" i="0">
                <a:solidFill>
                  <a:srgbClr val="E12D64"/>
                </a:solidFill>
                <a:latin typeface="Inter"/>
              </a:rPr>
              <a:t>[Eva to confirm: Note or Endorse on 29 Oct agenda]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64949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46077"/>
            <a:ext cx="1069848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Corporate accountability — legal action, regulatory complaints and advocacy — adopted as a core model, including Adani and Facebook.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01668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82796"/>
            <a:ext cx="1069848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Rohingya — continue the lawyer-network and coordination approach; reassess after six months. </a:t>
            </a:r>
            <a:r>
              <a:rPr sz="1300" b="0" i="0">
                <a:solidFill>
                  <a:srgbClr val="E12D64"/>
                </a:solidFill>
                <a:latin typeface="Inter"/>
              </a:rPr>
              <a:t>[Eva to confirm: written or verbal]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19515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Organisational choices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749867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30995"/>
            <a:ext cx="1069848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Be realistic about capacity; close or refocus dormant or ineffective projects without a credible path to impact. </a:t>
            </a:r>
            <a:r>
              <a:rPr sz="1300" b="0" i="0">
                <a:solidFill>
                  <a:srgbClr val="E12D64"/>
                </a:solidFill>
                <a:latin typeface="Inter"/>
              </a:rPr>
              <a:t>[Eva to confirm: name projects or keep principled]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86586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67714"/>
            <a:ext cx="10698480" cy="21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Keep excellence, rigour and clear accountability central; new geographies only where needs-driven.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609945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91073"/>
            <a:ext cx="1069848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Tell the organisation's story well, show impact to clients and funders; consider dedicated fundraising capacity. </a:t>
            </a:r>
            <a:r>
              <a:rPr sz="1300" b="0" i="0">
                <a:solidFill>
                  <a:srgbClr val="E12D64"/>
                </a:solidFill>
                <a:latin typeface="Inter"/>
              </a:rPr>
              <a:t>[Eva to confirm: decided or exploratory]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Fagun Bold"/>
              </a:rPr>
              <a:t>Strategy retreat — how we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Team retreat, September 2026  ·  Day 2: culture, collaboration and ways of working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Q3 2026 Board Meeting  ·  Operations &amp; Impact Update  ·  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Ways of working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04871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85999"/>
            <a:ext cx="10698480" cy="21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Channels — Motion for tasks and coordination, Signal for quick contact, email for external and out-of-hours.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28230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9358"/>
            <a:ext cx="10698480" cy="21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Rhythm — full-team meetings fortnightly, project meetings on alternate weeks, 15-minute calls for quick clarification.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51589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32717"/>
            <a:ext cx="1069848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Supportive accountability — flag delays and dependencies early; clear owners, timelines and expectations; setbacks treated as learning.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88308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69436"/>
            <a:ext cx="1069848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Audiences — "humanizing justice" for clients seeking remedies and funders seeking measurable impact; policymakers, lawyers and media as multipliers.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25027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06155"/>
            <a:ext cx="10698480" cy="21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People — regionally grounded recruitment, internships and fellowships; external mentors and internal peer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2951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10F37"/>
                </a:solidFill>
                <a:latin typeface="Fagun Medium"/>
              </a:rPr>
              <a:t>Follow-up themes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40994"/>
            <a:ext cx="10972800" cy="426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10F37"/>
                </a:solidFill>
                <a:latin typeface="Inter"/>
              </a:rPr>
              <a:t>Connect activities and resource requests to client outcomes; reassess work without a realistic route to impact, including the Rohingya project after the review period; strengthen public storytelling; keep refining strategy and practice as capacity evolves.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Fagun Bold"/>
              </a:rPr>
              <a:t>Strategic outlook and watch-items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Things to keep in view between now and the February 2027 meeting.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37160" cy="685800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10F37"/>
                </a:solidFill>
                <a:latin typeface="Fagun Bold"/>
              </a:rPr>
              <a:t>Cash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Cash USD 33,679 at 30 September; no contracted receipts until the FCDO Phase II claim (indicatively November) and OSF Year 3 (January 2027). Per Stacy McGill's Q3 Board Finance Report.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137160" cy="685800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10F37"/>
                </a:solidFill>
                <a:latin typeface="Fagun Bold"/>
              </a:rPr>
              <a:t>Strategic framing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The retreat proposes broadening the board-approved 2024–29 strategy from serious international crimes to human rights violations. </a:t>
            </a:r>
            <a:r>
              <a:rPr sz="1000" b="0" i="0">
                <a:solidFill>
                  <a:srgbClr val="E12D64"/>
                </a:solidFill>
                <a:latin typeface="Inter"/>
              </a:rPr>
              <a:t>[Eva to confirm: Note or Endorse]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36976"/>
            <a:ext cx="137160" cy="685800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36976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10F37"/>
                </a:solidFill>
                <a:latin typeface="Fagun Bold"/>
              </a:rPr>
              <a:t>Rohingya programme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11296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Six-month reassessment agreed in September falls around March 2027, between board meetings. </a:t>
            </a:r>
            <a:r>
              <a:rPr sz="1000" b="0" i="0">
                <a:solidFill>
                  <a:srgbClr val="E12D64"/>
                </a:solidFill>
                <a:latin typeface="Inter"/>
              </a:rPr>
              <a:t>[Eva to confirm: how and when the board hears the outcome]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986784"/>
            <a:ext cx="137160" cy="685800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86784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10F37"/>
                </a:solidFill>
                <a:latin typeface="Fagun Bold"/>
              </a:rPr>
              <a:t>Prioritisation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61104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Dormant or ineffective projects to be closed or refocused. </a:t>
            </a:r>
            <a:r>
              <a:rPr sz="1000" b="0" i="0">
                <a:solidFill>
                  <a:srgbClr val="E12D64"/>
                </a:solidFill>
                <a:latin typeface="Inter"/>
              </a:rPr>
              <a:t>[Eva to confirm: name projects or keep principled]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36592"/>
            <a:ext cx="137160" cy="685800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36592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10F37"/>
                </a:solidFill>
                <a:latin typeface="Fagun Bold"/>
              </a:rPr>
              <a:t>Fundraising and post-OSF horizon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Dedicated fundraising capacity under consideration — continues the Q2 item 6 discussion on matching ambition to fundraising. </a:t>
            </a:r>
            <a:r>
              <a:rPr sz="1000" b="0" i="0">
                <a:solidFill>
                  <a:srgbClr val="E12D64"/>
                </a:solidFill>
                <a:latin typeface="Inter"/>
              </a:rPr>
              <a:t>[Eva to confirm: decided or exploratory]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486400"/>
            <a:ext cx="137160" cy="685800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10F37"/>
                </a:solidFill>
                <a:latin typeface="Fagun Bold"/>
              </a:rPr>
              <a:t>Governance and 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Legal name change VAI → hūmānus notified to OSF grant contacts; staff contract renewals in progress. Finance detail in Stacy McGill's papers.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Q3 2026 Board Meeting  ·  Operations &amp; Impact Update  ·  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12 / 13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10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Fagun Black"/>
              </a:rPr>
              <a:t>Humanising justice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96FF14"/>
                </a:solidFill>
                <a:latin typeface="Fagun Medium"/>
              </a:rPr>
              <a:t>ACCOUNTABILITY  ·  COMMUNITY  · 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www.humanus.co  ·  hello@humanus.co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96FF14"/>
                </a:solidFill>
                <a:latin typeface="Inter"/>
              </a:rPr>
              <a:t>Q3 2026 Board Meeting  ·  Operations &amp; Impact Update  ·  Sponsor: Eva Buzo (ED)  ·  DRAFT</a:t>
            </a:r>
          </a:p>
        </p:txBody>
      </p:sp>
      <p:pic>
        <p:nvPicPr>
          <p:cNvPr id="8" name="Picture 7" descr="humanus_logo_master_b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086" y="1011143"/>
            <a:ext cx="9509522" cy="32812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