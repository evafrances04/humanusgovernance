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410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0" y="3383280"/>
            <a:ext cx="1188720" cy="15000"/>
          </a:xfrm>
          <a:prstGeom prst="rect">
            <a:avLst/>
          </a:prstGeom>
          <a:solidFill>
            <a:srgbClr val="E12D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3520440"/>
            <a:ext cx="12191695" cy="365760"/>
          </a:xfrm>
          <a:prstGeom prst="rect">
            <a:avLst/>
          </a:prstGeom>
          <a:noFill/>
        </p:spPr>
        <p:txBody>
          <a:bodyPr wrap="square" anchor="t" lIns="0" rIns="0" tIns="0" bIns="0">
            <a:spAutoFit/>
          </a:bodyPr>
          <a:lstStyle/>
          <a:p>
            <a:pPr algn="ctr">
              <a:lnSpc>
                <a:spcPct val="115000"/>
              </a:lnSpc>
            </a:pPr>
            <a:r>
              <a:rPr sz="1400" b="0" i="1">
                <a:solidFill>
                  <a:srgbClr val="96FF14"/>
                </a:solidFill>
                <a:latin typeface="Fagun Medium"/>
              </a:rPr>
              <a:t>update since 29 June  ·  Q3 2026 Board Meeting</a:t>
            </a:r>
          </a:p>
        </p:txBody>
      </p:sp>
      <p:sp>
        <p:nvSpPr>
          <p:cNvPr id="6" name="TextBox 5"/>
          <p:cNvSpPr txBox="1"/>
          <p:nvPr/>
        </p:nvSpPr>
        <p:spPr>
          <a:xfrm>
            <a:off x="0" y="4023360"/>
            <a:ext cx="12191695" cy="365760"/>
          </a:xfrm>
          <a:prstGeom prst="rect">
            <a:avLst/>
          </a:prstGeom>
          <a:noFill/>
        </p:spPr>
        <p:txBody>
          <a:bodyPr wrap="square" anchor="t" lIns="0" rIns="0" tIns="0" bIns="0">
            <a:spAutoFit/>
          </a:bodyPr>
          <a:lstStyle/>
          <a:p>
            <a:pPr algn="ctr">
              <a:lnSpc>
                <a:spcPct val="115000"/>
              </a:lnSpc>
            </a:pPr>
            <a:r>
              <a:rPr sz="1200" b="0" i="0">
                <a:solidFill>
                  <a:srgbClr val="FFFFFF"/>
                </a:solidFill>
                <a:latin typeface="Fagun Medium"/>
              </a:rPr>
              <a:t>29 October 2026</a:t>
            </a:r>
          </a:p>
        </p:txBody>
      </p:sp>
      <p:sp>
        <p:nvSpPr>
          <p:cNvPr id="7" name="TextBox 6"/>
          <p:cNvSpPr txBox="1"/>
          <p:nvPr/>
        </p:nvSpPr>
        <p:spPr>
          <a:xfrm>
            <a:off x="0" y="4846320"/>
            <a:ext cx="12191695" cy="365760"/>
          </a:xfrm>
          <a:prstGeom prst="rect">
            <a:avLst/>
          </a:prstGeom>
          <a:noFill/>
        </p:spPr>
        <p:txBody>
          <a:bodyPr wrap="square" anchor="t" lIns="0" rIns="0" tIns="0" bIns="0">
            <a:spAutoFit/>
          </a:bodyPr>
          <a:lstStyle/>
          <a:p>
            <a:pPr algn="ctr">
              <a:lnSpc>
                <a:spcPct val="115000"/>
              </a:lnSpc>
            </a:pPr>
            <a:r>
              <a:rPr sz="2600" b="0" i="0">
                <a:solidFill>
                  <a:srgbClr val="FFFFFF"/>
                </a:solidFill>
                <a:latin typeface="Fagun Black"/>
              </a:rPr>
              <a:t>Humanising Justice</a:t>
            </a:r>
          </a:p>
        </p:txBody>
      </p:sp>
      <p:sp>
        <p:nvSpPr>
          <p:cNvPr id="8" name="TextBox 7"/>
          <p:cNvSpPr txBox="1"/>
          <p:nvPr/>
        </p:nvSpPr>
        <p:spPr>
          <a:xfrm>
            <a:off x="0" y="5349240"/>
            <a:ext cx="12191695" cy="365760"/>
          </a:xfrm>
          <a:prstGeom prst="rect">
            <a:avLst/>
          </a:prstGeom>
          <a:noFill/>
        </p:spPr>
        <p:txBody>
          <a:bodyPr wrap="square" anchor="t" lIns="0" rIns="0" tIns="0" bIns="0">
            <a:spAutoFit/>
          </a:bodyPr>
          <a:lstStyle/>
          <a:p>
            <a:pPr algn="ctr">
              <a:lnSpc>
                <a:spcPct val="115000"/>
              </a:lnSpc>
            </a:pPr>
            <a:r>
              <a:rPr sz="1200" b="0" i="0">
                <a:solidFill>
                  <a:srgbClr val="96FF14"/>
                </a:solidFill>
                <a:latin typeface="Fagun Medium"/>
              </a:rPr>
              <a:t>ACCOUNTABILITY  ·  COMMUNITY  ·  EVIDENCE</a:t>
            </a:r>
          </a:p>
        </p:txBody>
      </p:sp>
      <p:sp>
        <p:nvSpPr>
          <p:cNvPr id="9" name="TextBox 8"/>
          <p:cNvSpPr txBox="1"/>
          <p:nvPr/>
        </p:nvSpPr>
        <p:spPr>
          <a:xfrm>
            <a:off x="0" y="6446520"/>
            <a:ext cx="12191695" cy="274320"/>
          </a:xfrm>
          <a:prstGeom prst="rect">
            <a:avLst/>
          </a:prstGeom>
          <a:noFill/>
        </p:spPr>
        <p:txBody>
          <a:bodyPr wrap="square" anchor="t" lIns="0" rIns="0" tIns="0" bIns="0">
            <a:spAutoFit/>
          </a:bodyPr>
          <a:lstStyle/>
          <a:p>
            <a:pPr algn="ctr">
              <a:lnSpc>
                <a:spcPct val="115000"/>
              </a:lnSpc>
            </a:pPr>
            <a:r>
              <a:rPr sz="1000" b="0" i="1">
                <a:solidFill>
                  <a:srgbClr val="96FF14"/>
                </a:solidFill>
                <a:latin typeface="Inter"/>
              </a:rPr>
              <a:t>Sponsor: Eva Buzo, Executive Director  ·  Agenda item TBC  ·  15 minutes  ·  Discussion  ·  DRAFT for ED sign-off</a:t>
            </a:r>
          </a:p>
        </p:txBody>
      </p:sp>
      <p:pic>
        <p:nvPicPr>
          <p:cNvPr id="10" name="Picture 9" descr="humanus_logo_master_bold.png"/>
          <p:cNvPicPr>
            <a:picLocks noChangeAspect="1"/>
          </p:cNvPicPr>
          <p:nvPr/>
        </p:nvPicPr>
        <p:blipFill>
          <a:blip r:embed="rId2"/>
          <a:stretch>
            <a:fillRect/>
          </a:stretch>
        </p:blipFill>
        <p:spPr>
          <a:xfrm>
            <a:off x="1341086" y="1011143"/>
            <a:ext cx="9509522" cy="328123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972800" cy="548640"/>
          </a:xfrm>
          <a:prstGeom prst="rect">
            <a:avLst/>
          </a:prstGeom>
          <a:noFill/>
        </p:spPr>
        <p:txBody>
          <a:bodyPr wrap="square" anchor="t" lIns="0" rIns="0" tIns="0" bIns="0">
            <a:spAutoFit/>
          </a:bodyPr>
          <a:lstStyle/>
          <a:p>
            <a:pPr algn="l">
              <a:lnSpc>
                <a:spcPct val="115000"/>
              </a:lnSpc>
            </a:pPr>
            <a:r>
              <a:rPr sz="2800" b="1" i="0">
                <a:solidFill>
                  <a:srgbClr val="410F37"/>
                </a:solidFill>
                <a:latin typeface="Fagun Bold"/>
              </a:rPr>
              <a:t>Three goals guide everything we do</a:t>
            </a:r>
          </a:p>
        </p:txBody>
      </p:sp>
      <p:sp>
        <p:nvSpPr>
          <p:cNvPr id="4" name="Rectangle 3"/>
          <p:cNvSpPr/>
          <p:nvPr/>
        </p:nvSpPr>
        <p:spPr>
          <a:xfrm>
            <a:off x="640080" y="1097280"/>
            <a:ext cx="548640" cy="54864"/>
          </a:xfrm>
          <a:prstGeom prst="rect">
            <a:avLst/>
          </a:prstGeom>
          <a:solidFill>
            <a:srgbClr val="E12D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972800" cy="457200"/>
          </a:xfrm>
          <a:prstGeom prst="rect">
            <a:avLst/>
          </a:prstGeom>
          <a:noFill/>
        </p:spPr>
        <p:txBody>
          <a:bodyPr wrap="square" anchor="t" lIns="0" rIns="0" tIns="0" bIns="0">
            <a:spAutoFit/>
          </a:bodyPr>
          <a:lstStyle/>
          <a:p>
            <a:pPr algn="l">
              <a:lnSpc>
                <a:spcPct val="115000"/>
              </a:lnSpc>
            </a:pPr>
            <a:r>
              <a:rPr sz="1300" b="0" i="1">
                <a:solidFill>
                  <a:srgbClr val="E12D64"/>
                </a:solidFill>
                <a:latin typeface="Inter"/>
              </a:rPr>
              <a:t>Our 2024–29 strategy frames the year.</a:t>
            </a:r>
          </a:p>
        </p:txBody>
      </p:sp>
      <p:sp>
        <p:nvSpPr>
          <p:cNvPr id="6" name="Rectangle 5"/>
          <p:cNvSpPr/>
          <p:nvPr/>
        </p:nvSpPr>
        <p:spPr>
          <a:xfrm>
            <a:off x="640080" y="2194560"/>
            <a:ext cx="3474720" cy="2743200"/>
          </a:xfrm>
          <a:prstGeom prst="rect">
            <a:avLst/>
          </a:prstGeom>
          <a:solidFill>
            <a:srgbClr val="410F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468880"/>
            <a:ext cx="2926080" cy="914400"/>
          </a:xfrm>
          <a:prstGeom prst="rect">
            <a:avLst/>
          </a:prstGeom>
          <a:noFill/>
        </p:spPr>
        <p:txBody>
          <a:bodyPr wrap="square" anchor="t" lIns="0" rIns="0" tIns="0" bIns="0">
            <a:spAutoFit/>
          </a:bodyPr>
          <a:lstStyle/>
          <a:p>
            <a:pPr algn="l">
              <a:lnSpc>
                <a:spcPct val="115000"/>
              </a:lnSpc>
            </a:pPr>
            <a:r>
              <a:rPr sz="6400" b="1" i="0">
                <a:solidFill>
                  <a:srgbClr val="96FF14"/>
                </a:solidFill>
                <a:latin typeface="Fagun Black"/>
              </a:rPr>
              <a:t>1</a:t>
            </a:r>
          </a:p>
        </p:txBody>
      </p:sp>
      <p:sp>
        <p:nvSpPr>
          <p:cNvPr id="8" name="TextBox 7"/>
          <p:cNvSpPr txBox="1"/>
          <p:nvPr/>
        </p:nvSpPr>
        <p:spPr>
          <a:xfrm>
            <a:off x="914400" y="3566160"/>
            <a:ext cx="2926080" cy="1280160"/>
          </a:xfrm>
          <a:prstGeom prst="rect">
            <a:avLst/>
          </a:prstGeom>
          <a:noFill/>
        </p:spPr>
        <p:txBody>
          <a:bodyPr wrap="square" anchor="t" lIns="0" rIns="0" tIns="0" bIns="0">
            <a:spAutoFit/>
          </a:bodyPr>
          <a:lstStyle/>
          <a:p>
            <a:pPr algn="l">
              <a:lnSpc>
                <a:spcPct val="115000"/>
              </a:lnSpc>
            </a:pPr>
            <a:r>
              <a:rPr sz="1300" b="0" i="0">
                <a:solidFill>
                  <a:srgbClr val="FFFFFF"/>
                </a:solidFill>
                <a:latin typeface="Inter"/>
              </a:rPr>
              <a:t>Victims secure outcomes in line with their own conception of justice.</a:t>
            </a:r>
          </a:p>
        </p:txBody>
      </p:sp>
      <p:sp>
        <p:nvSpPr>
          <p:cNvPr id="9" name="Rectangle 8"/>
          <p:cNvSpPr/>
          <p:nvPr/>
        </p:nvSpPr>
        <p:spPr>
          <a:xfrm>
            <a:off x="4389120" y="2194560"/>
            <a:ext cx="3474720" cy="2743200"/>
          </a:xfrm>
          <a:prstGeom prst="rect">
            <a:avLst/>
          </a:prstGeom>
          <a:solidFill>
            <a:srgbClr val="410F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63440" y="2468880"/>
            <a:ext cx="2926080" cy="914400"/>
          </a:xfrm>
          <a:prstGeom prst="rect">
            <a:avLst/>
          </a:prstGeom>
          <a:noFill/>
        </p:spPr>
        <p:txBody>
          <a:bodyPr wrap="square" anchor="t" lIns="0" rIns="0" tIns="0" bIns="0">
            <a:spAutoFit/>
          </a:bodyPr>
          <a:lstStyle/>
          <a:p>
            <a:pPr algn="l">
              <a:lnSpc>
                <a:spcPct val="115000"/>
              </a:lnSpc>
            </a:pPr>
            <a:r>
              <a:rPr sz="6400" b="1" i="0">
                <a:solidFill>
                  <a:srgbClr val="96FF14"/>
                </a:solidFill>
                <a:latin typeface="Fagun Black"/>
              </a:rPr>
              <a:t>2</a:t>
            </a:r>
          </a:p>
        </p:txBody>
      </p:sp>
      <p:sp>
        <p:nvSpPr>
          <p:cNvPr id="11" name="TextBox 10"/>
          <p:cNvSpPr txBox="1"/>
          <p:nvPr/>
        </p:nvSpPr>
        <p:spPr>
          <a:xfrm>
            <a:off x="4663440" y="3566160"/>
            <a:ext cx="2926080" cy="1280160"/>
          </a:xfrm>
          <a:prstGeom prst="rect">
            <a:avLst/>
          </a:prstGeom>
          <a:noFill/>
        </p:spPr>
        <p:txBody>
          <a:bodyPr wrap="square" anchor="t" lIns="0" rIns="0" tIns="0" bIns="0">
            <a:spAutoFit/>
          </a:bodyPr>
          <a:lstStyle/>
          <a:p>
            <a:pPr algn="l">
              <a:lnSpc>
                <a:spcPct val="115000"/>
              </a:lnSpc>
            </a:pPr>
            <a:r>
              <a:rPr sz="1300" b="0" i="0">
                <a:solidFill>
                  <a:srgbClr val="FFFFFF"/>
                </a:solidFill>
                <a:latin typeface="Inter"/>
              </a:rPr>
              <a:t>Victims are empowered by the process of pursuing justice — not just by its results.</a:t>
            </a:r>
          </a:p>
        </p:txBody>
      </p:sp>
      <p:sp>
        <p:nvSpPr>
          <p:cNvPr id="12" name="Rectangle 11"/>
          <p:cNvSpPr/>
          <p:nvPr/>
        </p:nvSpPr>
        <p:spPr>
          <a:xfrm>
            <a:off x="8138160" y="2194560"/>
            <a:ext cx="3474720" cy="2743200"/>
          </a:xfrm>
          <a:prstGeom prst="rect">
            <a:avLst/>
          </a:prstGeom>
          <a:solidFill>
            <a:srgbClr val="410F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468880"/>
            <a:ext cx="2926080" cy="914400"/>
          </a:xfrm>
          <a:prstGeom prst="rect">
            <a:avLst/>
          </a:prstGeom>
          <a:noFill/>
        </p:spPr>
        <p:txBody>
          <a:bodyPr wrap="square" anchor="t" lIns="0" rIns="0" tIns="0" bIns="0">
            <a:spAutoFit/>
          </a:bodyPr>
          <a:lstStyle/>
          <a:p>
            <a:pPr algn="l">
              <a:lnSpc>
                <a:spcPct val="115000"/>
              </a:lnSpc>
            </a:pPr>
            <a:r>
              <a:rPr sz="6400" b="1" i="0">
                <a:solidFill>
                  <a:srgbClr val="96FF14"/>
                </a:solidFill>
                <a:latin typeface="Fagun Black"/>
              </a:rPr>
              <a:t>3</a:t>
            </a:r>
          </a:p>
        </p:txBody>
      </p:sp>
      <p:sp>
        <p:nvSpPr>
          <p:cNvPr id="14" name="TextBox 13"/>
          <p:cNvSpPr txBox="1"/>
          <p:nvPr/>
        </p:nvSpPr>
        <p:spPr>
          <a:xfrm>
            <a:off x="8412480" y="3566160"/>
            <a:ext cx="2926080" cy="1280160"/>
          </a:xfrm>
          <a:prstGeom prst="rect">
            <a:avLst/>
          </a:prstGeom>
          <a:noFill/>
        </p:spPr>
        <p:txBody>
          <a:bodyPr wrap="square" anchor="t" lIns="0" rIns="0" tIns="0" bIns="0">
            <a:spAutoFit/>
          </a:bodyPr>
          <a:lstStyle/>
          <a:p>
            <a:pPr algn="l">
              <a:lnSpc>
                <a:spcPct val="115000"/>
              </a:lnSpc>
            </a:pPr>
            <a:r>
              <a:rPr sz="1300" b="0" i="0">
                <a:solidFill>
                  <a:srgbClr val="FFFFFF"/>
                </a:solidFill>
                <a:latin typeface="Inter"/>
              </a:rPr>
              <a:t>Justice processes are transformed to put victims at the centre.</a:t>
            </a:r>
          </a:p>
        </p:txBody>
      </p:sp>
      <p:sp>
        <p:nvSpPr>
          <p:cNvPr id="15" name="TextBox 14"/>
          <p:cNvSpPr txBox="1"/>
          <p:nvPr/>
        </p:nvSpPr>
        <p:spPr>
          <a:xfrm>
            <a:off x="640080" y="5303520"/>
            <a:ext cx="10972800" cy="457200"/>
          </a:xfrm>
          <a:prstGeom prst="rect">
            <a:avLst/>
          </a:prstGeom>
          <a:noFill/>
        </p:spPr>
        <p:txBody>
          <a:bodyPr wrap="square" anchor="t" lIns="0" rIns="0" tIns="0" bIns="0">
            <a:spAutoFit/>
          </a:bodyPr>
          <a:lstStyle/>
          <a:p>
            <a:pPr algn="l">
              <a:lnSpc>
                <a:spcPct val="115000"/>
              </a:lnSpc>
            </a:pPr>
            <a:r>
              <a:rPr sz="1200" b="0" i="1">
                <a:solidFill>
                  <a:srgbClr val="410F37"/>
                </a:solidFill>
                <a:latin typeface="Inter"/>
              </a:rPr>
              <a:t>The September retreat broadened our framing from serious international crimes to human rights violations (slide 11).</a:t>
            </a:r>
          </a:p>
        </p:txBody>
      </p:sp>
      <p:sp>
        <p:nvSpPr>
          <p:cNvPr id="16" name="TextBox 15"/>
          <p:cNvSpPr txBox="1"/>
          <p:nvPr/>
        </p:nvSpPr>
        <p:spPr>
          <a:xfrm>
            <a:off x="640080" y="6492240"/>
            <a:ext cx="7315200" cy="274320"/>
          </a:xfrm>
          <a:prstGeom prst="rect">
            <a:avLst/>
          </a:prstGeom>
          <a:noFill/>
        </p:spPr>
        <p:txBody>
          <a:bodyPr wrap="square" anchor="t" lIns="0" rIns="0" tIns="0" bIns="0">
            <a:spAutoFit/>
          </a:bodyPr>
          <a:lstStyle/>
          <a:p>
            <a:pPr algn="l">
              <a:lnSpc>
                <a:spcPct val="115000"/>
              </a:lnSpc>
            </a:pPr>
            <a:r>
              <a:rPr sz="900" b="0" i="0">
                <a:solidFill>
                  <a:srgbClr val="410F37"/>
                </a:solidFill>
                <a:latin typeface="Inter"/>
              </a:rPr>
              <a:t>hūmānus  ·  Q3 2026 Board Meeting  ·  Operations &amp; Impact Update  ·  DRAFT</a:t>
            </a:r>
          </a:p>
        </p:txBody>
      </p:sp>
      <p:sp>
        <p:nvSpPr>
          <p:cNvPr id="17" name="TextBox 16"/>
          <p:cNvSpPr txBox="1"/>
          <p:nvPr/>
        </p:nvSpPr>
        <p:spPr>
          <a:xfrm>
            <a:off x="10332720" y="6492240"/>
            <a:ext cx="1371600" cy="274320"/>
          </a:xfrm>
          <a:prstGeom prst="rect">
            <a:avLst/>
          </a:prstGeom>
          <a:noFill/>
        </p:spPr>
        <p:txBody>
          <a:bodyPr wrap="square" anchor="t" lIns="0" rIns="0" tIns="0" bIns="0">
            <a:spAutoFit/>
          </a:bodyPr>
          <a:lstStyle/>
          <a:p>
            <a:pPr algn="r">
              <a:lnSpc>
                <a:spcPct val="115000"/>
              </a:lnSpc>
            </a:pPr>
            <a:r>
              <a:rPr sz="900" b="0" i="0">
                <a:solidFill>
                  <a:srgbClr val="410F37"/>
                </a:solidFill>
                <a:latin typeface="Inter"/>
              </a:rPr>
              <a:t>2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972800" cy="548640"/>
          </a:xfrm>
          <a:prstGeom prst="rect">
            <a:avLst/>
          </a:prstGeom>
          <a:noFill/>
        </p:spPr>
        <p:txBody>
          <a:bodyPr wrap="square" anchor="t" lIns="0" rIns="0" tIns="0" bIns="0">
            <a:spAutoFit/>
          </a:bodyPr>
          <a:lstStyle/>
          <a:p>
            <a:pPr algn="l">
              <a:lnSpc>
                <a:spcPct val="115000"/>
              </a:lnSpc>
            </a:pPr>
            <a:r>
              <a:rPr sz="2800" b="1" i="0">
                <a:solidFill>
                  <a:srgbClr val="410F37"/>
                </a:solidFill>
                <a:latin typeface="Fagun Bold"/>
              </a:rPr>
              <a:t>Where the work has sat since June</a:t>
            </a:r>
          </a:p>
        </p:txBody>
      </p:sp>
      <p:sp>
        <p:nvSpPr>
          <p:cNvPr id="4" name="Rectangle 3"/>
          <p:cNvSpPr/>
          <p:nvPr/>
        </p:nvSpPr>
        <p:spPr>
          <a:xfrm>
            <a:off x="640080" y="1097280"/>
            <a:ext cx="548640" cy="54864"/>
          </a:xfrm>
          <a:prstGeom prst="rect">
            <a:avLst/>
          </a:prstGeom>
          <a:solidFill>
            <a:srgbClr val="E12D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972800" cy="457200"/>
          </a:xfrm>
          <a:prstGeom prst="rect">
            <a:avLst/>
          </a:prstGeom>
          <a:noFill/>
        </p:spPr>
        <p:txBody>
          <a:bodyPr wrap="square" anchor="t" lIns="0" rIns="0" tIns="0" bIns="0">
            <a:spAutoFit/>
          </a:bodyPr>
          <a:lstStyle/>
          <a:p>
            <a:pPr algn="l">
              <a:lnSpc>
                <a:spcPct val="115000"/>
              </a:lnSpc>
            </a:pPr>
            <a:r>
              <a:rPr sz="1300" b="0" i="1">
                <a:solidFill>
                  <a:srgbClr val="E12D64"/>
                </a:solidFill>
                <a:latin typeface="Inter"/>
              </a:rPr>
              <a:t>29 June – 12 October 2026, by funded programme and other significant strands.</a:t>
            </a:r>
          </a:p>
        </p:txBody>
      </p:sp>
      <p:sp>
        <p:nvSpPr>
          <p:cNvPr id="6" name="Rectangle 5"/>
          <p:cNvSpPr/>
          <p:nvPr/>
        </p:nvSpPr>
        <p:spPr>
          <a:xfrm>
            <a:off x="640080" y="1874519"/>
            <a:ext cx="10972800" cy="411480"/>
          </a:xfrm>
          <a:prstGeom prst="rect">
            <a:avLst/>
          </a:prstGeom>
          <a:solidFill>
            <a:srgbClr val="410F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47671"/>
            <a:ext cx="4023360" cy="274320"/>
          </a:xfrm>
          <a:prstGeom prst="rect">
            <a:avLst/>
          </a:prstGeom>
          <a:noFill/>
        </p:spPr>
        <p:txBody>
          <a:bodyPr wrap="square" anchor="t" lIns="0" rIns="0" tIns="0" bIns="0">
            <a:spAutoFit/>
          </a:bodyPr>
          <a:lstStyle/>
          <a:p>
            <a:pPr algn="l">
              <a:lnSpc>
                <a:spcPct val="115000"/>
              </a:lnSpc>
            </a:pPr>
            <a:r>
              <a:rPr sz="1200" b="1" i="0">
                <a:solidFill>
                  <a:srgbClr val="96FF14"/>
                </a:solidFill>
                <a:latin typeface="Fagun Bold"/>
              </a:rPr>
              <a:t>Programme / strand</a:t>
            </a:r>
          </a:p>
        </p:txBody>
      </p:sp>
      <p:sp>
        <p:nvSpPr>
          <p:cNvPr id="8" name="TextBox 7"/>
          <p:cNvSpPr txBox="1"/>
          <p:nvPr/>
        </p:nvSpPr>
        <p:spPr>
          <a:xfrm>
            <a:off x="4846320" y="1947671"/>
            <a:ext cx="2103120" cy="274320"/>
          </a:xfrm>
          <a:prstGeom prst="rect">
            <a:avLst/>
          </a:prstGeom>
          <a:noFill/>
        </p:spPr>
        <p:txBody>
          <a:bodyPr wrap="square" anchor="t" lIns="0" rIns="0" tIns="0" bIns="0">
            <a:spAutoFit/>
          </a:bodyPr>
          <a:lstStyle/>
          <a:p>
            <a:pPr algn="l">
              <a:lnSpc>
                <a:spcPct val="115000"/>
              </a:lnSpc>
            </a:pPr>
            <a:r>
              <a:rPr sz="1200" b="1" i="0">
                <a:solidFill>
                  <a:srgbClr val="96FF14"/>
                </a:solidFill>
                <a:latin typeface="Fagun Bold"/>
              </a:rPr>
              <a:t>Funder</a:t>
            </a:r>
          </a:p>
        </p:txBody>
      </p:sp>
      <p:sp>
        <p:nvSpPr>
          <p:cNvPr id="9" name="TextBox 8"/>
          <p:cNvSpPr txBox="1"/>
          <p:nvPr/>
        </p:nvSpPr>
        <p:spPr>
          <a:xfrm>
            <a:off x="6995160" y="1947671"/>
            <a:ext cx="4526280" cy="274320"/>
          </a:xfrm>
          <a:prstGeom prst="rect">
            <a:avLst/>
          </a:prstGeom>
          <a:noFill/>
        </p:spPr>
        <p:txBody>
          <a:bodyPr wrap="square" anchor="t" lIns="0" rIns="0" tIns="0" bIns="0">
            <a:spAutoFit/>
          </a:bodyPr>
          <a:lstStyle/>
          <a:p>
            <a:pPr algn="l">
              <a:lnSpc>
                <a:spcPct val="115000"/>
              </a:lnSpc>
            </a:pPr>
            <a:r>
              <a:rPr sz="1200" b="1" i="0">
                <a:solidFill>
                  <a:srgbClr val="96FF14"/>
                </a:solidFill>
                <a:latin typeface="Fagun Bold"/>
              </a:rPr>
              <a:t>Status since 29 June</a:t>
            </a:r>
          </a:p>
        </p:txBody>
      </p:sp>
      <p:sp>
        <p:nvSpPr>
          <p:cNvPr id="10" name="Rectangle 9"/>
          <p:cNvSpPr/>
          <p:nvPr/>
        </p:nvSpPr>
        <p:spPr>
          <a:xfrm>
            <a:off x="640080" y="2285999"/>
            <a:ext cx="10972800" cy="566928"/>
          </a:xfrm>
          <a:prstGeom prst="rect">
            <a:avLst/>
          </a:prstGeom>
          <a:solidFill>
            <a:srgbClr val="F7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359151"/>
            <a:ext cx="4023360" cy="566928"/>
          </a:xfrm>
          <a:prstGeom prst="rect">
            <a:avLst/>
          </a:prstGeom>
          <a:noFill/>
        </p:spPr>
        <p:txBody>
          <a:bodyPr wrap="square" anchor="t" lIns="0" rIns="0" tIns="0" bIns="0">
            <a:spAutoFit/>
          </a:bodyPr>
          <a:lstStyle/>
          <a:p>
            <a:pPr algn="l">
              <a:lnSpc>
                <a:spcPct val="115000"/>
              </a:lnSpc>
            </a:pPr>
            <a:r>
              <a:rPr sz="1100" b="1" i="0">
                <a:solidFill>
                  <a:srgbClr val="410F37"/>
                </a:solidFill>
                <a:latin typeface="Fagun Bold"/>
              </a:rPr>
              <a:t>Rohingya in India — legal protection</a:t>
            </a:r>
          </a:p>
        </p:txBody>
      </p:sp>
      <p:sp>
        <p:nvSpPr>
          <p:cNvPr id="12" name="TextBox 11"/>
          <p:cNvSpPr txBox="1"/>
          <p:nvPr/>
        </p:nvSpPr>
        <p:spPr>
          <a:xfrm>
            <a:off x="4846320" y="2359151"/>
            <a:ext cx="2103120" cy="566928"/>
          </a:xfrm>
          <a:prstGeom prst="rect">
            <a:avLst/>
          </a:prstGeom>
          <a:noFill/>
        </p:spPr>
        <p:txBody>
          <a:bodyPr wrap="square" anchor="t" lIns="0" rIns="0" tIns="0" bIns="0">
            <a:spAutoFit/>
          </a:bodyPr>
          <a:lstStyle/>
          <a:p>
            <a:pPr algn="l">
              <a:lnSpc>
                <a:spcPct val="115000"/>
              </a:lnSpc>
            </a:pPr>
            <a:r>
              <a:rPr sz="1000" b="0" i="0">
                <a:solidFill>
                  <a:srgbClr val="410F37"/>
                </a:solidFill>
                <a:latin typeface="Inter"/>
              </a:rPr>
              <a:t>Core funding</a:t>
            </a:r>
          </a:p>
        </p:txBody>
      </p:sp>
      <p:sp>
        <p:nvSpPr>
          <p:cNvPr id="13" name="TextBox 12"/>
          <p:cNvSpPr txBox="1"/>
          <p:nvPr/>
        </p:nvSpPr>
        <p:spPr>
          <a:xfrm>
            <a:off x="6995160" y="2359151"/>
            <a:ext cx="4526280" cy="566928"/>
          </a:xfrm>
          <a:prstGeom prst="rect">
            <a:avLst/>
          </a:prstGeom>
          <a:noFill/>
        </p:spPr>
        <p:txBody>
          <a:bodyPr wrap="square" anchor="t" lIns="0" rIns="0" tIns="0" bIns="0">
            <a:spAutoFit/>
          </a:bodyPr>
          <a:lstStyle/>
          <a:p>
            <a:pPr algn="l">
              <a:lnSpc>
                <a:spcPct val="115000"/>
              </a:lnSpc>
            </a:pPr>
            <a:r>
              <a:rPr sz="1000" b="0" i="0">
                <a:solidFill>
                  <a:srgbClr val="410F37"/>
                </a:solidFill>
                <a:latin typeface="Inter"/>
              </a:rPr>
              <a:t>Delhi detention roundtable convened lawyers (5 Jul); Right to Education route for detained minors developed; habeas and bail filings in preparation.</a:t>
            </a:r>
          </a:p>
        </p:txBody>
      </p:sp>
      <p:sp>
        <p:nvSpPr>
          <p:cNvPr id="14" name="Rectangle 13"/>
          <p:cNvSpPr/>
          <p:nvPr/>
        </p:nvSpPr>
        <p:spPr>
          <a:xfrm>
            <a:off x="640080" y="2852927"/>
            <a:ext cx="10972800"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2926079"/>
            <a:ext cx="4023360" cy="566928"/>
          </a:xfrm>
          <a:prstGeom prst="rect">
            <a:avLst/>
          </a:prstGeom>
          <a:noFill/>
        </p:spPr>
        <p:txBody>
          <a:bodyPr wrap="square" anchor="t" lIns="0" rIns="0" tIns="0" bIns="0">
            <a:spAutoFit/>
          </a:bodyPr>
          <a:lstStyle/>
          <a:p>
            <a:pPr algn="l">
              <a:lnSpc>
                <a:spcPct val="115000"/>
              </a:lnSpc>
            </a:pPr>
            <a:r>
              <a:rPr sz="1100" b="1" i="0">
                <a:solidFill>
                  <a:srgbClr val="410F37"/>
                </a:solidFill>
                <a:latin typeface="Fagun Bold"/>
              </a:rPr>
              <a:t>Bangladesh dialogue</a:t>
            </a:r>
          </a:p>
        </p:txBody>
      </p:sp>
      <p:sp>
        <p:nvSpPr>
          <p:cNvPr id="16" name="TextBox 15"/>
          <p:cNvSpPr txBox="1"/>
          <p:nvPr/>
        </p:nvSpPr>
        <p:spPr>
          <a:xfrm>
            <a:off x="4846320" y="2926079"/>
            <a:ext cx="2103120" cy="566928"/>
          </a:xfrm>
          <a:prstGeom prst="rect">
            <a:avLst/>
          </a:prstGeom>
          <a:noFill/>
        </p:spPr>
        <p:txBody>
          <a:bodyPr wrap="square" anchor="t" lIns="0" rIns="0" tIns="0" bIns="0">
            <a:spAutoFit/>
          </a:bodyPr>
          <a:lstStyle/>
          <a:p>
            <a:pPr algn="l">
              <a:lnSpc>
                <a:spcPct val="115000"/>
              </a:lnSpc>
            </a:pPr>
            <a:r>
              <a:rPr sz="1000" b="0" i="0">
                <a:solidFill>
                  <a:srgbClr val="410F37"/>
                </a:solidFill>
                <a:latin typeface="Inter"/>
              </a:rPr>
              <a:t>FCDO (UK)</a:t>
            </a:r>
          </a:p>
        </p:txBody>
      </p:sp>
      <p:sp>
        <p:nvSpPr>
          <p:cNvPr id="17" name="TextBox 16"/>
          <p:cNvSpPr txBox="1"/>
          <p:nvPr/>
        </p:nvSpPr>
        <p:spPr>
          <a:xfrm>
            <a:off x="6995160" y="2926079"/>
            <a:ext cx="4526280" cy="566928"/>
          </a:xfrm>
          <a:prstGeom prst="rect">
            <a:avLst/>
          </a:prstGeom>
          <a:noFill/>
        </p:spPr>
        <p:txBody>
          <a:bodyPr wrap="square" anchor="t" lIns="0" rIns="0" tIns="0" bIns="0">
            <a:spAutoFit/>
          </a:bodyPr>
          <a:lstStyle/>
          <a:p>
            <a:pPr algn="l">
              <a:lnSpc>
                <a:spcPct val="115000"/>
              </a:lnSpc>
            </a:pPr>
            <a:r>
              <a:rPr sz="1000" b="0" i="0">
                <a:solidFill>
                  <a:srgbClr val="410F37"/>
                </a:solidFill>
                <a:latin typeface="Inter"/>
              </a:rPr>
              <a:t>Phase I delivery continuing; inputs to Stimson-led interim report (Jun–Oct); Jun–Oct financial claim in preparation.</a:t>
            </a:r>
          </a:p>
        </p:txBody>
      </p:sp>
      <p:sp>
        <p:nvSpPr>
          <p:cNvPr id="18" name="Rectangle 17"/>
          <p:cNvSpPr/>
          <p:nvPr/>
        </p:nvSpPr>
        <p:spPr>
          <a:xfrm>
            <a:off x="640080" y="3419855"/>
            <a:ext cx="10972800" cy="566928"/>
          </a:xfrm>
          <a:prstGeom prst="rect">
            <a:avLst/>
          </a:prstGeom>
          <a:solidFill>
            <a:srgbClr val="F7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493007"/>
            <a:ext cx="4023360" cy="566928"/>
          </a:xfrm>
          <a:prstGeom prst="rect">
            <a:avLst/>
          </a:prstGeom>
          <a:noFill/>
        </p:spPr>
        <p:txBody>
          <a:bodyPr wrap="square" anchor="t" lIns="0" rIns="0" tIns="0" bIns="0">
            <a:spAutoFit/>
          </a:bodyPr>
          <a:lstStyle/>
          <a:p>
            <a:pPr algn="l">
              <a:lnSpc>
                <a:spcPct val="115000"/>
              </a:lnSpc>
            </a:pPr>
            <a:r>
              <a:rPr sz="1100" b="1" i="0">
                <a:solidFill>
                  <a:srgbClr val="410F37"/>
                </a:solidFill>
                <a:latin typeface="Fagun Bold"/>
              </a:rPr>
              <a:t>Towards a More Peaceful Arakan</a:t>
            </a:r>
          </a:p>
        </p:txBody>
      </p:sp>
      <p:sp>
        <p:nvSpPr>
          <p:cNvPr id="20" name="TextBox 19"/>
          <p:cNvSpPr txBox="1"/>
          <p:nvPr/>
        </p:nvSpPr>
        <p:spPr>
          <a:xfrm>
            <a:off x="4846320" y="3493007"/>
            <a:ext cx="2103120" cy="566928"/>
          </a:xfrm>
          <a:prstGeom prst="rect">
            <a:avLst/>
          </a:prstGeom>
          <a:noFill/>
        </p:spPr>
        <p:txBody>
          <a:bodyPr wrap="square" anchor="t" lIns="0" rIns="0" tIns="0" bIns="0">
            <a:spAutoFit/>
          </a:bodyPr>
          <a:lstStyle/>
          <a:p>
            <a:pPr algn="l">
              <a:lnSpc>
                <a:spcPct val="115000"/>
              </a:lnSpc>
            </a:pPr>
            <a:r>
              <a:rPr sz="1000" b="0" i="0">
                <a:solidFill>
                  <a:srgbClr val="410F37"/>
                </a:solidFill>
                <a:latin typeface="Inter"/>
              </a:rPr>
              <a:t>Swiss FDFA via Stimson Center</a:t>
            </a:r>
          </a:p>
        </p:txBody>
      </p:sp>
      <p:sp>
        <p:nvSpPr>
          <p:cNvPr id="21" name="TextBox 20"/>
          <p:cNvSpPr txBox="1"/>
          <p:nvPr/>
        </p:nvSpPr>
        <p:spPr>
          <a:xfrm>
            <a:off x="6995160" y="3493007"/>
            <a:ext cx="4526280" cy="566928"/>
          </a:xfrm>
          <a:prstGeom prst="rect">
            <a:avLst/>
          </a:prstGeom>
          <a:noFill/>
        </p:spPr>
        <p:txBody>
          <a:bodyPr wrap="square" anchor="t" lIns="0" rIns="0" tIns="0" bIns="0">
            <a:spAutoFit/>
          </a:bodyPr>
          <a:lstStyle/>
          <a:p>
            <a:pPr algn="l">
              <a:lnSpc>
                <a:spcPct val="115000"/>
              </a:lnSpc>
            </a:pPr>
            <a:r>
              <a:rPr sz="1000" b="0" i="0">
                <a:solidFill>
                  <a:srgbClr val="410F37"/>
                </a:solidFill>
                <a:latin typeface="Inter"/>
              </a:rPr>
              <a:t>Rohingya dialogue continuing; FDFA head grant and joint workplan requested from Stimson.</a:t>
            </a:r>
          </a:p>
        </p:txBody>
      </p:sp>
      <p:sp>
        <p:nvSpPr>
          <p:cNvPr id="22" name="Rectangle 21"/>
          <p:cNvSpPr/>
          <p:nvPr/>
        </p:nvSpPr>
        <p:spPr>
          <a:xfrm>
            <a:off x="640080" y="3986783"/>
            <a:ext cx="10972800"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059935"/>
            <a:ext cx="4023360" cy="566928"/>
          </a:xfrm>
          <a:prstGeom prst="rect">
            <a:avLst/>
          </a:prstGeom>
          <a:noFill/>
        </p:spPr>
        <p:txBody>
          <a:bodyPr wrap="square" anchor="t" lIns="0" rIns="0" tIns="0" bIns="0">
            <a:spAutoFit/>
          </a:bodyPr>
          <a:lstStyle/>
          <a:p>
            <a:pPr algn="l">
              <a:lnSpc>
                <a:spcPct val="115000"/>
              </a:lnSpc>
            </a:pPr>
            <a:r>
              <a:rPr sz="1100" b="1" i="0">
                <a:solidFill>
                  <a:srgbClr val="410F37"/>
                </a:solidFill>
                <a:latin typeface="Fagun Bold"/>
              </a:rPr>
              <a:t>Accountability for business and human rights</a:t>
            </a:r>
          </a:p>
        </p:txBody>
      </p:sp>
      <p:sp>
        <p:nvSpPr>
          <p:cNvPr id="24" name="TextBox 23"/>
          <p:cNvSpPr txBox="1"/>
          <p:nvPr/>
        </p:nvSpPr>
        <p:spPr>
          <a:xfrm>
            <a:off x="4846320" y="4059935"/>
            <a:ext cx="2103120" cy="566928"/>
          </a:xfrm>
          <a:prstGeom prst="rect">
            <a:avLst/>
          </a:prstGeom>
          <a:noFill/>
        </p:spPr>
        <p:txBody>
          <a:bodyPr wrap="square" anchor="t" lIns="0" rIns="0" tIns="0" bIns="0">
            <a:spAutoFit/>
          </a:bodyPr>
          <a:lstStyle/>
          <a:p>
            <a:pPr algn="l">
              <a:lnSpc>
                <a:spcPct val="115000"/>
              </a:lnSpc>
            </a:pPr>
            <a:r>
              <a:rPr sz="1000" b="0" i="0">
                <a:solidFill>
                  <a:srgbClr val="410F37"/>
                </a:solidFill>
                <a:latin typeface="Inter"/>
              </a:rPr>
              <a:t>Core funding</a:t>
            </a:r>
          </a:p>
        </p:txBody>
      </p:sp>
      <p:sp>
        <p:nvSpPr>
          <p:cNvPr id="25" name="TextBox 24"/>
          <p:cNvSpPr txBox="1"/>
          <p:nvPr/>
        </p:nvSpPr>
        <p:spPr>
          <a:xfrm>
            <a:off x="6995160" y="4059935"/>
            <a:ext cx="4526280" cy="566928"/>
          </a:xfrm>
          <a:prstGeom prst="rect">
            <a:avLst/>
          </a:prstGeom>
          <a:noFill/>
        </p:spPr>
        <p:txBody>
          <a:bodyPr wrap="square" anchor="t" lIns="0" rIns="0" tIns="0" bIns="0">
            <a:spAutoFit/>
          </a:bodyPr>
          <a:lstStyle/>
          <a:p>
            <a:pPr algn="l">
              <a:lnSpc>
                <a:spcPct val="115000"/>
              </a:lnSpc>
            </a:pPr>
            <a:r>
              <a:rPr sz="1000" b="0" i="0">
                <a:solidFill>
                  <a:srgbClr val="410F37"/>
                </a:solidFill>
                <a:latin typeface="Inter"/>
              </a:rPr>
              <a:t>Meta response to our case; Amnesty × hūmānus UNGA side event (25 Sep); Adani coordination and investigation continuing.</a:t>
            </a:r>
          </a:p>
        </p:txBody>
      </p:sp>
      <p:sp>
        <p:nvSpPr>
          <p:cNvPr id="26" name="Rectangle 25"/>
          <p:cNvSpPr/>
          <p:nvPr/>
        </p:nvSpPr>
        <p:spPr>
          <a:xfrm>
            <a:off x="640080" y="4553711"/>
            <a:ext cx="10972800" cy="566928"/>
          </a:xfrm>
          <a:prstGeom prst="rect">
            <a:avLst/>
          </a:prstGeom>
          <a:solidFill>
            <a:srgbClr val="F7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4626863"/>
            <a:ext cx="4023360" cy="566928"/>
          </a:xfrm>
          <a:prstGeom prst="rect">
            <a:avLst/>
          </a:prstGeom>
          <a:noFill/>
        </p:spPr>
        <p:txBody>
          <a:bodyPr wrap="square" anchor="t" lIns="0" rIns="0" tIns="0" bIns="0">
            <a:spAutoFit/>
          </a:bodyPr>
          <a:lstStyle/>
          <a:p>
            <a:pPr algn="l">
              <a:lnSpc>
                <a:spcPct val="115000"/>
              </a:lnSpc>
            </a:pPr>
            <a:r>
              <a:rPr sz="1100" b="1" i="0">
                <a:solidFill>
                  <a:srgbClr val="410F37"/>
                </a:solidFill>
                <a:latin typeface="Fagun Bold"/>
              </a:rPr>
              <a:t>Public engagement</a:t>
            </a:r>
          </a:p>
        </p:txBody>
      </p:sp>
      <p:sp>
        <p:nvSpPr>
          <p:cNvPr id="28" name="TextBox 27"/>
          <p:cNvSpPr txBox="1"/>
          <p:nvPr/>
        </p:nvSpPr>
        <p:spPr>
          <a:xfrm>
            <a:off x="4846320" y="4626863"/>
            <a:ext cx="2103120" cy="566928"/>
          </a:xfrm>
          <a:prstGeom prst="rect">
            <a:avLst/>
          </a:prstGeom>
          <a:noFill/>
        </p:spPr>
        <p:txBody>
          <a:bodyPr wrap="square" anchor="t" lIns="0" rIns="0" tIns="0" bIns="0">
            <a:spAutoFit/>
          </a:bodyPr>
          <a:lstStyle/>
          <a:p>
            <a:pPr algn="l">
              <a:lnSpc>
                <a:spcPct val="115000"/>
              </a:lnSpc>
            </a:pPr>
            <a:r>
              <a:rPr sz="1000" b="0" i="0">
                <a:solidFill>
                  <a:srgbClr val="410F37"/>
                </a:solidFill>
                <a:latin typeface="Inter"/>
              </a:rPr>
              <a:t>Core funding</a:t>
            </a:r>
          </a:p>
        </p:txBody>
      </p:sp>
      <p:sp>
        <p:nvSpPr>
          <p:cNvPr id="29" name="TextBox 28"/>
          <p:cNvSpPr txBox="1"/>
          <p:nvPr/>
        </p:nvSpPr>
        <p:spPr>
          <a:xfrm>
            <a:off x="6995160" y="4626863"/>
            <a:ext cx="4526280" cy="566928"/>
          </a:xfrm>
          <a:prstGeom prst="rect">
            <a:avLst/>
          </a:prstGeom>
          <a:noFill/>
        </p:spPr>
        <p:txBody>
          <a:bodyPr wrap="square" anchor="t" lIns="0" rIns="0" tIns="0" bIns="0">
            <a:spAutoFit/>
          </a:bodyPr>
          <a:lstStyle/>
          <a:p>
            <a:pPr algn="l">
              <a:lnSpc>
                <a:spcPct val="115000"/>
              </a:lnSpc>
            </a:pPr>
            <a:r>
              <a:rPr sz="1000" b="0" i="0">
                <a:solidFill>
                  <a:srgbClr val="410F37"/>
                </a:solidFill>
                <a:latin typeface="Inter"/>
              </a:rPr>
              <a:t>Against the Tide swim (Small Islands Coalition, Seychelles, UNGA); Berkeley keynote (28 Sep); OSF partner retreat, Mexico.</a:t>
            </a:r>
          </a:p>
        </p:txBody>
      </p:sp>
      <p:sp>
        <p:nvSpPr>
          <p:cNvPr id="30" name="Rectangle 29"/>
          <p:cNvSpPr/>
          <p:nvPr/>
        </p:nvSpPr>
        <p:spPr>
          <a:xfrm>
            <a:off x="640080" y="5120639"/>
            <a:ext cx="10972800"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5193791"/>
            <a:ext cx="4023360" cy="566928"/>
          </a:xfrm>
          <a:prstGeom prst="rect">
            <a:avLst/>
          </a:prstGeom>
          <a:noFill/>
        </p:spPr>
        <p:txBody>
          <a:bodyPr wrap="square" anchor="t" lIns="0" rIns="0" tIns="0" bIns="0">
            <a:spAutoFit/>
          </a:bodyPr>
          <a:lstStyle/>
          <a:p>
            <a:pPr algn="l">
              <a:lnSpc>
                <a:spcPct val="115000"/>
              </a:lnSpc>
            </a:pPr>
            <a:r>
              <a:rPr sz="1100" b="1" i="0">
                <a:solidFill>
                  <a:srgbClr val="410F37"/>
                </a:solidFill>
                <a:latin typeface="Fagun Bold"/>
              </a:rPr>
              <a:t>Research — Rohingya analysis</a:t>
            </a:r>
          </a:p>
        </p:txBody>
      </p:sp>
      <p:sp>
        <p:nvSpPr>
          <p:cNvPr id="32" name="TextBox 31"/>
          <p:cNvSpPr txBox="1"/>
          <p:nvPr/>
        </p:nvSpPr>
        <p:spPr>
          <a:xfrm>
            <a:off x="4846320" y="5193791"/>
            <a:ext cx="2103120" cy="566928"/>
          </a:xfrm>
          <a:prstGeom prst="rect">
            <a:avLst/>
          </a:prstGeom>
          <a:noFill/>
        </p:spPr>
        <p:txBody>
          <a:bodyPr wrap="square" anchor="t" lIns="0" rIns="0" tIns="0" bIns="0">
            <a:spAutoFit/>
          </a:bodyPr>
          <a:lstStyle/>
          <a:p>
            <a:pPr algn="l">
              <a:lnSpc>
                <a:spcPct val="115000"/>
              </a:lnSpc>
            </a:pPr>
            <a:r>
              <a:rPr sz="1000" b="0" i="0">
                <a:solidFill>
                  <a:srgbClr val="E12D64"/>
                </a:solidFill>
                <a:latin typeface="Inter"/>
              </a:rPr>
              <a:t>[Eva to confirm]</a:t>
            </a:r>
          </a:p>
        </p:txBody>
      </p:sp>
      <p:sp>
        <p:nvSpPr>
          <p:cNvPr id="33" name="TextBox 32"/>
          <p:cNvSpPr txBox="1"/>
          <p:nvPr/>
        </p:nvSpPr>
        <p:spPr>
          <a:xfrm>
            <a:off x="6995160" y="5193791"/>
            <a:ext cx="4526280" cy="566928"/>
          </a:xfrm>
          <a:prstGeom prst="rect">
            <a:avLst/>
          </a:prstGeom>
          <a:noFill/>
        </p:spPr>
        <p:txBody>
          <a:bodyPr wrap="square" anchor="t" lIns="0" rIns="0" tIns="0" bIns="0">
            <a:spAutoFit/>
          </a:bodyPr>
          <a:lstStyle/>
          <a:p>
            <a:pPr algn="l">
              <a:lnSpc>
                <a:spcPct val="115000"/>
              </a:lnSpc>
            </a:pPr>
            <a:r>
              <a:rPr sz="1000" b="0" i="0">
                <a:solidFill>
                  <a:srgbClr val="410F37"/>
                </a:solidFill>
                <a:latin typeface="Inter"/>
              </a:rPr>
              <a:t>Sawyadullah's 10 analysis reports; website launching November 2026.</a:t>
            </a:r>
          </a:p>
        </p:txBody>
      </p:sp>
      <p:sp>
        <p:nvSpPr>
          <p:cNvPr id="34" name="TextBox 33"/>
          <p:cNvSpPr txBox="1"/>
          <p:nvPr/>
        </p:nvSpPr>
        <p:spPr>
          <a:xfrm>
            <a:off x="640080" y="6080760"/>
            <a:ext cx="10972800" cy="365760"/>
          </a:xfrm>
          <a:prstGeom prst="rect">
            <a:avLst/>
          </a:prstGeom>
          <a:noFill/>
        </p:spPr>
        <p:txBody>
          <a:bodyPr wrap="square" anchor="t" lIns="0" rIns="0" tIns="0" bIns="0">
            <a:spAutoFit/>
          </a:bodyPr>
          <a:lstStyle/>
          <a:p>
            <a:pPr algn="l">
              <a:lnSpc>
                <a:spcPct val="115000"/>
              </a:lnSpc>
            </a:pPr>
            <a:r>
              <a:rPr sz="1000" b="0" i="1">
                <a:solidFill>
                  <a:srgbClr val="410F37"/>
                </a:solidFill>
                <a:latin typeface="Inter"/>
              </a:rPr>
              <a:t>Women's Dialogue (SDC) grant ended 30 April 2026, as reported at Q2. Finance: see Stacy McGill's Q3 Board Finance Report and Forecast Report.</a:t>
            </a:r>
          </a:p>
        </p:txBody>
      </p:sp>
      <p:sp>
        <p:nvSpPr>
          <p:cNvPr id="35" name="TextBox 34"/>
          <p:cNvSpPr txBox="1"/>
          <p:nvPr/>
        </p:nvSpPr>
        <p:spPr>
          <a:xfrm>
            <a:off x="640080" y="6492240"/>
            <a:ext cx="7315200" cy="274320"/>
          </a:xfrm>
          <a:prstGeom prst="rect">
            <a:avLst/>
          </a:prstGeom>
          <a:noFill/>
        </p:spPr>
        <p:txBody>
          <a:bodyPr wrap="square" anchor="t" lIns="0" rIns="0" tIns="0" bIns="0">
            <a:spAutoFit/>
          </a:bodyPr>
          <a:lstStyle/>
          <a:p>
            <a:pPr algn="l">
              <a:lnSpc>
                <a:spcPct val="115000"/>
              </a:lnSpc>
            </a:pPr>
            <a:r>
              <a:rPr sz="900" b="0" i="0">
                <a:solidFill>
                  <a:srgbClr val="410F37"/>
                </a:solidFill>
                <a:latin typeface="Inter"/>
              </a:rPr>
              <a:t>hūmānus  ·  Q3 2026 Board Meeting  ·  Operations &amp; Impact Update  ·  DRAFT</a:t>
            </a:r>
          </a:p>
        </p:txBody>
      </p:sp>
      <p:sp>
        <p:nvSpPr>
          <p:cNvPr id="36" name="TextBox 35"/>
          <p:cNvSpPr txBox="1"/>
          <p:nvPr/>
        </p:nvSpPr>
        <p:spPr>
          <a:xfrm>
            <a:off x="10332720" y="6492240"/>
            <a:ext cx="1371600" cy="274320"/>
          </a:xfrm>
          <a:prstGeom prst="rect">
            <a:avLst/>
          </a:prstGeom>
          <a:noFill/>
        </p:spPr>
        <p:txBody>
          <a:bodyPr wrap="square" anchor="t" lIns="0" rIns="0" tIns="0" bIns="0">
            <a:spAutoFit/>
          </a:bodyPr>
          <a:lstStyle/>
          <a:p>
            <a:pPr algn="r">
              <a:lnSpc>
                <a:spcPct val="115000"/>
              </a:lnSpc>
            </a:pPr>
            <a:r>
              <a:rPr sz="900" b="0" i="0">
                <a:solidFill>
                  <a:srgbClr val="410F37"/>
                </a:solidFill>
                <a:latin typeface="Inter"/>
              </a:rPr>
              <a:t>3 / 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972800" cy="548640"/>
          </a:xfrm>
          <a:prstGeom prst="rect">
            <a:avLst/>
          </a:prstGeom>
          <a:noFill/>
        </p:spPr>
        <p:txBody>
          <a:bodyPr wrap="square" anchor="t" lIns="0" rIns="0" tIns="0" bIns="0">
            <a:spAutoFit/>
          </a:bodyPr>
          <a:lstStyle/>
          <a:p>
            <a:pPr algn="l">
              <a:lnSpc>
                <a:spcPct val="115000"/>
              </a:lnSpc>
            </a:pPr>
            <a:r>
              <a:rPr sz="2800" b="1" i="0">
                <a:solidFill>
                  <a:srgbClr val="410F37"/>
                </a:solidFill>
                <a:latin typeface="Fagun Bold"/>
              </a:rPr>
              <a:t>Rohingya in India — legal protection</a:t>
            </a:r>
          </a:p>
        </p:txBody>
      </p:sp>
      <p:sp>
        <p:nvSpPr>
          <p:cNvPr id="4" name="Rectangle 3"/>
          <p:cNvSpPr/>
          <p:nvPr/>
        </p:nvSpPr>
        <p:spPr>
          <a:xfrm>
            <a:off x="640080" y="1097280"/>
            <a:ext cx="548640" cy="54864"/>
          </a:xfrm>
          <a:prstGeom prst="rect">
            <a:avLst/>
          </a:prstGeom>
          <a:solidFill>
            <a:srgbClr val="E12D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972800" cy="457200"/>
          </a:xfrm>
          <a:prstGeom prst="rect">
            <a:avLst/>
          </a:prstGeom>
          <a:noFill/>
        </p:spPr>
        <p:txBody>
          <a:bodyPr wrap="square" anchor="t" lIns="0" rIns="0" tIns="0" bIns="0">
            <a:spAutoFit/>
          </a:bodyPr>
          <a:lstStyle/>
          <a:p>
            <a:pPr algn="l">
              <a:lnSpc>
                <a:spcPct val="115000"/>
              </a:lnSpc>
            </a:pPr>
            <a:r>
              <a:rPr sz="1300" b="0" i="1">
                <a:solidFill>
                  <a:srgbClr val="E12D64"/>
                </a:solidFill>
                <a:latin typeface="Inter"/>
              </a:rPr>
              <a:t>Core funded  ·  no project grant  ·  Lead: Arati Ranade, India Programme Manager</a:t>
            </a:r>
          </a:p>
        </p:txBody>
      </p:sp>
      <p:sp>
        <p:nvSpPr>
          <p:cNvPr id="19" name="TextBox 18"/>
          <p:cNvSpPr txBox="1"/>
          <p:nvPr/>
        </p:nvSpPr>
        <p:spPr>
          <a:xfrm>
            <a:off x="640080" y="6492240"/>
            <a:ext cx="7315200" cy="274320"/>
          </a:xfrm>
          <a:prstGeom prst="rect">
            <a:avLst/>
          </a:prstGeom>
          <a:noFill/>
        </p:spPr>
        <p:txBody>
          <a:bodyPr wrap="square" anchor="t" lIns="0" rIns="0" tIns="0" bIns="0">
            <a:spAutoFit/>
          </a:bodyPr>
          <a:lstStyle/>
          <a:p>
            <a:pPr algn="l">
              <a:lnSpc>
                <a:spcPct val="115000"/>
              </a:lnSpc>
            </a:pPr>
            <a:r>
              <a:rPr sz="900" b="0" i="0">
                <a:solidFill>
                  <a:srgbClr val="410F37"/>
                </a:solidFill>
                <a:latin typeface="Inter"/>
              </a:rPr>
              <a:t>hūmānus  ·  Q3 2026 Board Meeting  ·  Operations &amp; Impact Update  ·  DRAFT</a:t>
            </a:r>
          </a:p>
        </p:txBody>
      </p:sp>
      <p:sp>
        <p:nvSpPr>
          <p:cNvPr id="20" name="TextBox 19"/>
          <p:cNvSpPr txBox="1"/>
          <p:nvPr/>
        </p:nvSpPr>
        <p:spPr>
          <a:xfrm>
            <a:off x="10332720" y="6492240"/>
            <a:ext cx="1371600" cy="274320"/>
          </a:xfrm>
          <a:prstGeom prst="rect">
            <a:avLst/>
          </a:prstGeom>
          <a:noFill/>
        </p:spPr>
        <p:txBody>
          <a:bodyPr wrap="square" anchor="t" lIns="0" rIns="0" tIns="0" bIns="0">
            <a:spAutoFit/>
          </a:bodyPr>
          <a:lstStyle/>
          <a:p>
            <a:pPr algn="r">
              <a:lnSpc>
                <a:spcPct val="115000"/>
              </a:lnSpc>
            </a:pPr>
            <a:r>
              <a:rPr sz="900" b="0" i="0">
                <a:solidFill>
                  <a:srgbClr val="410F37"/>
                </a:solidFill>
                <a:latin typeface="Inter"/>
              </a:rPr>
              <a:t>4 / 13</a:t>
            </a:r>
          </a:p>
        </p:txBody>
      </p:sp>
      <p:sp>
        <p:nvSpPr>
          <p:cNvPr id="6" name="TextBox 5"/>
          <p:cNvSpPr txBox="1"/>
          <p:nvPr/>
        </p:nvSpPr>
        <p:spPr>
          <a:xfrm>
            <a:off x="640080" y="1874519"/>
            <a:ext cx="10972800" cy="457200"/>
          </a:xfrm>
          <a:prstGeom prst="rect">
            <a:avLst/>
          </a:prstGeom>
          <a:noFill/>
        </p:spPr>
        <p:txBody>
          <a:bodyPr wrap="square" anchor="t" lIns="0" rIns="0" tIns="0" bIns="0">
            <a:spAutoFit/>
          </a:bodyPr>
          <a:lstStyle/>
          <a:p>
            <a:pPr algn="l">
              <a:lnSpc>
                <a:spcPct val="115000"/>
              </a:lnSpc>
            </a:pPr>
            <a:r>
              <a:rPr sz="1500" b="0" i="0">
                <a:solidFill>
                  <a:srgbClr val="410F37"/>
                </a:solidFill>
                <a:latin typeface="Fagun Medium"/>
              </a:rPr>
              <a:t>What the strand is</a:t>
            </a:r>
          </a:p>
        </p:txBody>
      </p:sp>
      <p:sp>
        <p:nvSpPr>
          <p:cNvPr id="7" name="TextBox 6"/>
          <p:cNvSpPr txBox="1"/>
          <p:nvPr/>
        </p:nvSpPr>
        <p:spPr>
          <a:xfrm>
            <a:off x="640080" y="2285999"/>
            <a:ext cx="10972800" cy="426719"/>
          </a:xfrm>
          <a:prstGeom prst="rect">
            <a:avLst/>
          </a:prstGeom>
          <a:noFill/>
        </p:spPr>
        <p:txBody>
          <a:bodyPr wrap="square" anchor="t" lIns="0" rIns="0" tIns="0" bIns="0">
            <a:spAutoFit/>
          </a:bodyPr>
          <a:lstStyle/>
          <a:p>
            <a:pPr algn="l">
              <a:lnSpc>
                <a:spcPct val="115000"/>
              </a:lnSpc>
            </a:pPr>
            <a:r>
              <a:rPr sz="1200" b="0" i="0">
                <a:solidFill>
                  <a:srgbClr val="410F37"/>
                </a:solidFill>
                <a:latin typeface="Inter"/>
              </a:rPr>
              <a:t>Direct legal intervention for detained Rohingya refugees in India, building a cross-state network of lawyers and an evidentiary base on detention and deportation patterns. Funded from core — no donor restriction on case selection or strategy.</a:t>
            </a:r>
          </a:p>
        </p:txBody>
      </p:sp>
      <p:sp>
        <p:nvSpPr>
          <p:cNvPr id="6" name="TextBox 5"/>
          <p:cNvSpPr txBox="1"/>
          <p:nvPr/>
        </p:nvSpPr>
        <p:spPr>
          <a:xfrm>
            <a:off x="640080" y="2822718"/>
            <a:ext cx="10972800" cy="457200"/>
          </a:xfrm>
          <a:prstGeom prst="rect">
            <a:avLst/>
          </a:prstGeom>
          <a:noFill/>
        </p:spPr>
        <p:txBody>
          <a:bodyPr wrap="square" anchor="t" lIns="0" rIns="0" tIns="0" bIns="0">
            <a:spAutoFit/>
          </a:bodyPr>
          <a:lstStyle/>
          <a:p>
            <a:pPr algn="l">
              <a:lnSpc>
                <a:spcPct val="115000"/>
              </a:lnSpc>
            </a:pPr>
            <a:r>
              <a:rPr sz="1500" b="0" i="0">
                <a:solidFill>
                  <a:srgbClr val="410F37"/>
                </a:solidFill>
                <a:latin typeface="Fagun Medium"/>
              </a:rPr>
              <a:t>Since 29 June</a:t>
            </a:r>
          </a:p>
        </p:txBody>
      </p:sp>
      <p:sp>
        <p:nvSpPr>
          <p:cNvPr id="9" name="Rectangle 8"/>
          <p:cNvSpPr/>
          <p:nvPr/>
        </p:nvSpPr>
        <p:spPr>
          <a:xfrm>
            <a:off x="640080" y="3353070"/>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234198"/>
            <a:ext cx="10698480" cy="426719"/>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Delhi detention roundtable (5 July) — lawyers from across states convened over three panels to discuss detention litigation strategy.</a:t>
            </a:r>
          </a:p>
        </p:txBody>
      </p:sp>
      <p:sp>
        <p:nvSpPr>
          <p:cNvPr id="9" name="Rectangle 8"/>
          <p:cNvSpPr/>
          <p:nvPr/>
        </p:nvSpPr>
        <p:spPr>
          <a:xfrm>
            <a:off x="640080" y="3889789"/>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770917"/>
            <a:ext cx="10698480" cy="426719"/>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Right to Education — strategy note drafted on an education-rights route for detained minors, alongside the refugee route; raised with African states in Geneva (25 August).</a:t>
            </a:r>
          </a:p>
        </p:txBody>
      </p:sp>
      <p:sp>
        <p:nvSpPr>
          <p:cNvPr id="9" name="Rectangle 8"/>
          <p:cNvSpPr/>
          <p:nvPr/>
        </p:nvSpPr>
        <p:spPr>
          <a:xfrm>
            <a:off x="640080" y="4426508"/>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307636"/>
            <a:ext cx="10698480" cy="426719"/>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Litigation pipeline — habeas corpus petition in drafting; bail application being finalised for counsel's review; Right to Information petitioner being identified.</a:t>
            </a:r>
          </a:p>
        </p:txBody>
      </p:sp>
      <p:sp>
        <p:nvSpPr>
          <p:cNvPr id="9" name="Rectangle 8"/>
          <p:cNvSpPr/>
          <p:nvPr/>
        </p:nvSpPr>
        <p:spPr>
          <a:xfrm>
            <a:off x="640080" y="4963227"/>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844355"/>
            <a:ext cx="10698480" cy="426719"/>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Lawyer network — Jammu &amp; Kashmir leads in place; Rajasthan, Tripura and Hyderabad being assessed. Case-law report on Rohingya deportation in preparation.</a:t>
            </a:r>
          </a:p>
        </p:txBody>
      </p:sp>
      <p:sp>
        <p:nvSpPr>
          <p:cNvPr id="6" name="TextBox 5"/>
          <p:cNvSpPr txBox="1"/>
          <p:nvPr/>
        </p:nvSpPr>
        <p:spPr>
          <a:xfrm>
            <a:off x="640080" y="5381074"/>
            <a:ext cx="10972800" cy="457200"/>
          </a:xfrm>
          <a:prstGeom prst="rect">
            <a:avLst/>
          </a:prstGeom>
          <a:noFill/>
        </p:spPr>
        <p:txBody>
          <a:bodyPr wrap="square" anchor="t" lIns="0" rIns="0" tIns="0" bIns="0">
            <a:spAutoFit/>
          </a:bodyPr>
          <a:lstStyle/>
          <a:p>
            <a:pPr algn="l">
              <a:lnSpc>
                <a:spcPct val="115000"/>
              </a:lnSpc>
            </a:pPr>
            <a:r>
              <a:rPr sz="1500" b="0" i="0">
                <a:solidFill>
                  <a:srgbClr val="410F37"/>
                </a:solidFill>
                <a:latin typeface="Fagun Medium"/>
              </a:rPr>
              <a:t>Why this matters for the board</a:t>
            </a:r>
          </a:p>
        </p:txBody>
      </p:sp>
      <p:sp>
        <p:nvSpPr>
          <p:cNvPr id="7" name="TextBox 6"/>
          <p:cNvSpPr txBox="1"/>
          <p:nvPr/>
        </p:nvSpPr>
        <p:spPr>
          <a:xfrm>
            <a:off x="640080" y="5792554"/>
            <a:ext cx="10972800" cy="426719"/>
          </a:xfrm>
          <a:prstGeom prst="rect">
            <a:avLst/>
          </a:prstGeom>
          <a:noFill/>
        </p:spPr>
        <p:txBody>
          <a:bodyPr wrap="square" anchor="t" lIns="0" rIns="0" tIns="0" bIns="0">
            <a:spAutoFit/>
          </a:bodyPr>
          <a:lstStyle/>
          <a:p>
            <a:pPr algn="l">
              <a:lnSpc>
                <a:spcPct val="115000"/>
              </a:lnSpc>
            </a:pPr>
            <a:r>
              <a:rPr sz="1200" b="0" i="0">
                <a:solidFill>
                  <a:srgbClr val="410F37"/>
                </a:solidFill>
                <a:latin typeface="Inter"/>
              </a:rPr>
              <a:t>The retreat agreed to continue the lawyer-network and coordination approach and to take stock of the Rohingya work after six months, around March 2027 (slide 11). The ED will report the outcome to the board.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972800" cy="548640"/>
          </a:xfrm>
          <a:prstGeom prst="rect">
            <a:avLst/>
          </a:prstGeom>
          <a:noFill/>
        </p:spPr>
        <p:txBody>
          <a:bodyPr wrap="square" anchor="t" lIns="0" rIns="0" tIns="0" bIns="0">
            <a:spAutoFit/>
          </a:bodyPr>
          <a:lstStyle/>
          <a:p>
            <a:pPr algn="l">
              <a:lnSpc>
                <a:spcPct val="115000"/>
              </a:lnSpc>
            </a:pPr>
            <a:r>
              <a:rPr sz="2800" b="1" i="0">
                <a:solidFill>
                  <a:srgbClr val="410F37"/>
                </a:solidFill>
                <a:latin typeface="Fagun Bold"/>
              </a:rPr>
              <a:t>Bangladesh dialogue programme</a:t>
            </a:r>
          </a:p>
        </p:txBody>
      </p:sp>
      <p:sp>
        <p:nvSpPr>
          <p:cNvPr id="4" name="Rectangle 3"/>
          <p:cNvSpPr/>
          <p:nvPr/>
        </p:nvSpPr>
        <p:spPr>
          <a:xfrm>
            <a:off x="640080" y="1097280"/>
            <a:ext cx="548640" cy="54864"/>
          </a:xfrm>
          <a:prstGeom prst="rect">
            <a:avLst/>
          </a:prstGeom>
          <a:solidFill>
            <a:srgbClr val="E12D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972800" cy="457200"/>
          </a:xfrm>
          <a:prstGeom prst="rect">
            <a:avLst/>
          </a:prstGeom>
          <a:noFill/>
        </p:spPr>
        <p:txBody>
          <a:bodyPr wrap="square" anchor="t" lIns="0" rIns="0" tIns="0" bIns="0">
            <a:spAutoFit/>
          </a:bodyPr>
          <a:lstStyle/>
          <a:p>
            <a:pPr algn="l">
              <a:lnSpc>
                <a:spcPct val="115000"/>
              </a:lnSpc>
            </a:pPr>
            <a:r>
              <a:rPr sz="1300" b="0" i="1">
                <a:solidFill>
                  <a:srgbClr val="E12D64"/>
                </a:solidFill>
                <a:latin typeface="Inter"/>
              </a:rPr>
              <a:t>FCDO (UK)  ·  continuing programme</a:t>
            </a:r>
          </a:p>
        </p:txBody>
      </p:sp>
      <p:sp>
        <p:nvSpPr>
          <p:cNvPr id="19" name="TextBox 18"/>
          <p:cNvSpPr txBox="1"/>
          <p:nvPr/>
        </p:nvSpPr>
        <p:spPr>
          <a:xfrm>
            <a:off x="640080" y="6492240"/>
            <a:ext cx="7315200" cy="274320"/>
          </a:xfrm>
          <a:prstGeom prst="rect">
            <a:avLst/>
          </a:prstGeom>
          <a:noFill/>
        </p:spPr>
        <p:txBody>
          <a:bodyPr wrap="square" anchor="t" lIns="0" rIns="0" tIns="0" bIns="0">
            <a:spAutoFit/>
          </a:bodyPr>
          <a:lstStyle/>
          <a:p>
            <a:pPr algn="l">
              <a:lnSpc>
                <a:spcPct val="115000"/>
              </a:lnSpc>
            </a:pPr>
            <a:r>
              <a:rPr sz="900" b="0" i="0">
                <a:solidFill>
                  <a:srgbClr val="410F37"/>
                </a:solidFill>
                <a:latin typeface="Inter"/>
              </a:rPr>
              <a:t>hūmānus  ·  Q3 2026 Board Meeting  ·  Operations &amp; Impact Update  ·  DRAFT</a:t>
            </a:r>
          </a:p>
        </p:txBody>
      </p:sp>
      <p:sp>
        <p:nvSpPr>
          <p:cNvPr id="20" name="TextBox 19"/>
          <p:cNvSpPr txBox="1"/>
          <p:nvPr/>
        </p:nvSpPr>
        <p:spPr>
          <a:xfrm>
            <a:off x="10332720" y="6492240"/>
            <a:ext cx="1371600" cy="274320"/>
          </a:xfrm>
          <a:prstGeom prst="rect">
            <a:avLst/>
          </a:prstGeom>
          <a:noFill/>
        </p:spPr>
        <p:txBody>
          <a:bodyPr wrap="square" anchor="t" lIns="0" rIns="0" tIns="0" bIns="0">
            <a:spAutoFit/>
          </a:bodyPr>
          <a:lstStyle/>
          <a:p>
            <a:pPr algn="r">
              <a:lnSpc>
                <a:spcPct val="115000"/>
              </a:lnSpc>
            </a:pPr>
            <a:r>
              <a:rPr sz="900" b="0" i="0">
                <a:solidFill>
                  <a:srgbClr val="410F37"/>
                </a:solidFill>
                <a:latin typeface="Inter"/>
              </a:rPr>
              <a:t>5 / 13</a:t>
            </a:r>
          </a:p>
        </p:txBody>
      </p:sp>
      <p:sp>
        <p:nvSpPr>
          <p:cNvPr id="6" name="TextBox 5"/>
          <p:cNvSpPr txBox="1"/>
          <p:nvPr/>
        </p:nvSpPr>
        <p:spPr>
          <a:xfrm>
            <a:off x="640080" y="1874519"/>
            <a:ext cx="10972800" cy="457200"/>
          </a:xfrm>
          <a:prstGeom prst="rect">
            <a:avLst/>
          </a:prstGeom>
          <a:noFill/>
        </p:spPr>
        <p:txBody>
          <a:bodyPr wrap="square" anchor="t" lIns="0" rIns="0" tIns="0" bIns="0">
            <a:spAutoFit/>
          </a:bodyPr>
          <a:lstStyle/>
          <a:p>
            <a:pPr algn="l">
              <a:lnSpc>
                <a:spcPct val="115000"/>
              </a:lnSpc>
            </a:pPr>
            <a:r>
              <a:rPr sz="1500" b="0" i="0">
                <a:solidFill>
                  <a:srgbClr val="410F37"/>
                </a:solidFill>
                <a:latin typeface="Fagun Medium"/>
              </a:rPr>
              <a:t>What the funding supports</a:t>
            </a:r>
          </a:p>
        </p:txBody>
      </p:sp>
      <p:sp>
        <p:nvSpPr>
          <p:cNvPr id="7" name="TextBox 6"/>
          <p:cNvSpPr txBox="1"/>
          <p:nvPr/>
        </p:nvSpPr>
        <p:spPr>
          <a:xfrm>
            <a:off x="640080" y="2285999"/>
            <a:ext cx="10972800" cy="426719"/>
          </a:xfrm>
          <a:prstGeom prst="rect">
            <a:avLst/>
          </a:prstGeom>
          <a:noFill/>
        </p:spPr>
        <p:txBody>
          <a:bodyPr wrap="square" anchor="t" lIns="0" rIns="0" tIns="0" bIns="0">
            <a:spAutoFit/>
          </a:bodyPr>
          <a:lstStyle/>
          <a:p>
            <a:pPr algn="l">
              <a:lnSpc>
                <a:spcPct val="115000"/>
              </a:lnSpc>
            </a:pPr>
            <a:r>
              <a:rPr sz="1200" b="0" i="0">
                <a:solidFill>
                  <a:srgbClr val="410F37"/>
                </a:solidFill>
                <a:latin typeface="Inter"/>
              </a:rPr>
              <a:t>Sustained dialogue and engagement work with Rohingya leadership in Bangladesh, complementing the Swiss/Stimson Arakan partnership. Operates in a deficit / reimbursement model — hūmānus spends and is reimbursed in arrears.</a:t>
            </a:r>
          </a:p>
        </p:txBody>
      </p:sp>
      <p:sp>
        <p:nvSpPr>
          <p:cNvPr id="6" name="TextBox 5"/>
          <p:cNvSpPr txBox="1"/>
          <p:nvPr/>
        </p:nvSpPr>
        <p:spPr>
          <a:xfrm>
            <a:off x="640080" y="2872718"/>
            <a:ext cx="10972800" cy="457200"/>
          </a:xfrm>
          <a:prstGeom prst="rect">
            <a:avLst/>
          </a:prstGeom>
          <a:noFill/>
        </p:spPr>
        <p:txBody>
          <a:bodyPr wrap="square" anchor="t" lIns="0" rIns="0" tIns="0" bIns="0">
            <a:spAutoFit/>
          </a:bodyPr>
          <a:lstStyle/>
          <a:p>
            <a:pPr algn="l">
              <a:lnSpc>
                <a:spcPct val="115000"/>
              </a:lnSpc>
            </a:pPr>
            <a:r>
              <a:rPr sz="1500" b="0" i="0">
                <a:solidFill>
                  <a:srgbClr val="410F37"/>
                </a:solidFill>
                <a:latin typeface="Fagun Medium"/>
              </a:rPr>
              <a:t>Since 29 June</a:t>
            </a:r>
          </a:p>
        </p:txBody>
      </p:sp>
      <p:sp>
        <p:nvSpPr>
          <p:cNvPr id="9" name="Rectangle 8"/>
          <p:cNvSpPr/>
          <p:nvPr/>
        </p:nvSpPr>
        <p:spPr>
          <a:xfrm>
            <a:off x="640080" y="3403070"/>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284198"/>
            <a:ext cx="10698480" cy="231140"/>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Phase I delivery continuing.</a:t>
            </a:r>
          </a:p>
        </p:txBody>
      </p:sp>
      <p:sp>
        <p:nvSpPr>
          <p:cNvPr id="9" name="Rectangle 8"/>
          <p:cNvSpPr/>
          <p:nvPr/>
        </p:nvSpPr>
        <p:spPr>
          <a:xfrm>
            <a:off x="640080" y="3784210"/>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665338"/>
            <a:ext cx="10698480" cy="231140"/>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hūmānus inputs being prepared for the Stimson-led FCDO interim report covering June–October.</a:t>
            </a:r>
          </a:p>
        </p:txBody>
      </p:sp>
      <p:sp>
        <p:nvSpPr>
          <p:cNvPr id="9" name="Rectangle 8"/>
          <p:cNvSpPr/>
          <p:nvPr/>
        </p:nvSpPr>
        <p:spPr>
          <a:xfrm>
            <a:off x="640080" y="4165350"/>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046478"/>
            <a:ext cx="10698480" cy="231140"/>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June–October financial claim being prepared in GBP; Schedule 2 disbursement amounts being agreed and countersigned.</a:t>
            </a:r>
          </a:p>
        </p:txBody>
      </p:sp>
      <p:sp>
        <p:nvSpPr>
          <p:cNvPr id="9" name="Rectangle 8"/>
          <p:cNvSpPr/>
          <p:nvPr/>
        </p:nvSpPr>
        <p:spPr>
          <a:xfrm>
            <a:off x="640080" y="4546490"/>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427618"/>
            <a:ext cx="10698480" cy="462280"/>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Cash timing — Stacy McGill's Q3 report shows the FCDO Phase II claim as the next contracted receipt, indicatively November.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972800" cy="548640"/>
          </a:xfrm>
          <a:prstGeom prst="rect">
            <a:avLst/>
          </a:prstGeom>
          <a:noFill/>
        </p:spPr>
        <p:txBody>
          <a:bodyPr wrap="square" anchor="t" lIns="0" rIns="0" tIns="0" bIns="0">
            <a:spAutoFit/>
          </a:bodyPr>
          <a:lstStyle/>
          <a:p>
            <a:pPr algn="l">
              <a:lnSpc>
                <a:spcPct val="115000"/>
              </a:lnSpc>
            </a:pPr>
            <a:r>
              <a:rPr sz="2800" b="1" i="0">
                <a:solidFill>
                  <a:srgbClr val="410F37"/>
                </a:solidFill>
                <a:latin typeface="Fagun Bold"/>
              </a:rPr>
              <a:t>Towards a More Peaceful Arakan</a:t>
            </a:r>
          </a:p>
        </p:txBody>
      </p:sp>
      <p:sp>
        <p:nvSpPr>
          <p:cNvPr id="4" name="Rectangle 3"/>
          <p:cNvSpPr/>
          <p:nvPr/>
        </p:nvSpPr>
        <p:spPr>
          <a:xfrm>
            <a:off x="640080" y="1097280"/>
            <a:ext cx="548640" cy="54864"/>
          </a:xfrm>
          <a:prstGeom prst="rect">
            <a:avLst/>
          </a:prstGeom>
          <a:solidFill>
            <a:srgbClr val="E12D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972800" cy="457200"/>
          </a:xfrm>
          <a:prstGeom prst="rect">
            <a:avLst/>
          </a:prstGeom>
          <a:noFill/>
        </p:spPr>
        <p:txBody>
          <a:bodyPr wrap="square" anchor="t" lIns="0" rIns="0" tIns="0" bIns="0">
            <a:spAutoFit/>
          </a:bodyPr>
          <a:lstStyle/>
          <a:p>
            <a:pPr algn="l">
              <a:lnSpc>
                <a:spcPct val="115000"/>
              </a:lnSpc>
            </a:pPr>
            <a:r>
              <a:rPr sz="1300" b="0" i="1">
                <a:solidFill>
                  <a:srgbClr val="E12D64"/>
                </a:solidFill>
                <a:latin typeface="Inter"/>
              </a:rPr>
              <a:t>Swiss FDFA, via Stimson Center as prime  ·  hūmānus as implementing partner</a:t>
            </a:r>
          </a:p>
        </p:txBody>
      </p:sp>
      <p:sp>
        <p:nvSpPr>
          <p:cNvPr id="19" name="TextBox 18"/>
          <p:cNvSpPr txBox="1"/>
          <p:nvPr/>
        </p:nvSpPr>
        <p:spPr>
          <a:xfrm>
            <a:off x="640080" y="6492240"/>
            <a:ext cx="7315200" cy="274320"/>
          </a:xfrm>
          <a:prstGeom prst="rect">
            <a:avLst/>
          </a:prstGeom>
          <a:noFill/>
        </p:spPr>
        <p:txBody>
          <a:bodyPr wrap="square" anchor="t" lIns="0" rIns="0" tIns="0" bIns="0">
            <a:spAutoFit/>
          </a:bodyPr>
          <a:lstStyle/>
          <a:p>
            <a:pPr algn="l">
              <a:lnSpc>
                <a:spcPct val="115000"/>
              </a:lnSpc>
            </a:pPr>
            <a:r>
              <a:rPr sz="900" b="0" i="0">
                <a:solidFill>
                  <a:srgbClr val="410F37"/>
                </a:solidFill>
                <a:latin typeface="Inter"/>
              </a:rPr>
              <a:t>hūmānus  ·  Q3 2026 Board Meeting  ·  Operations &amp; Impact Update  ·  DRAFT</a:t>
            </a:r>
          </a:p>
        </p:txBody>
      </p:sp>
      <p:sp>
        <p:nvSpPr>
          <p:cNvPr id="20" name="TextBox 19"/>
          <p:cNvSpPr txBox="1"/>
          <p:nvPr/>
        </p:nvSpPr>
        <p:spPr>
          <a:xfrm>
            <a:off x="10332720" y="6492240"/>
            <a:ext cx="1371600" cy="274320"/>
          </a:xfrm>
          <a:prstGeom prst="rect">
            <a:avLst/>
          </a:prstGeom>
          <a:noFill/>
        </p:spPr>
        <p:txBody>
          <a:bodyPr wrap="square" anchor="t" lIns="0" rIns="0" tIns="0" bIns="0">
            <a:spAutoFit/>
          </a:bodyPr>
          <a:lstStyle/>
          <a:p>
            <a:pPr algn="r">
              <a:lnSpc>
                <a:spcPct val="115000"/>
              </a:lnSpc>
            </a:pPr>
            <a:r>
              <a:rPr sz="900" b="0" i="0">
                <a:solidFill>
                  <a:srgbClr val="410F37"/>
                </a:solidFill>
                <a:latin typeface="Inter"/>
              </a:rPr>
              <a:t>6 / 13</a:t>
            </a:r>
          </a:p>
        </p:txBody>
      </p:sp>
      <p:sp>
        <p:nvSpPr>
          <p:cNvPr id="6" name="TextBox 5"/>
          <p:cNvSpPr txBox="1"/>
          <p:nvPr/>
        </p:nvSpPr>
        <p:spPr>
          <a:xfrm>
            <a:off x="640080" y="1874519"/>
            <a:ext cx="10972800" cy="457200"/>
          </a:xfrm>
          <a:prstGeom prst="rect">
            <a:avLst/>
          </a:prstGeom>
          <a:noFill/>
        </p:spPr>
        <p:txBody>
          <a:bodyPr wrap="square" anchor="t" lIns="0" rIns="0" tIns="0" bIns="0">
            <a:spAutoFit/>
          </a:bodyPr>
          <a:lstStyle/>
          <a:p>
            <a:pPr algn="l">
              <a:lnSpc>
                <a:spcPct val="115000"/>
              </a:lnSpc>
            </a:pPr>
            <a:r>
              <a:rPr sz="1500" b="0" i="0">
                <a:solidFill>
                  <a:srgbClr val="410F37"/>
                </a:solidFill>
                <a:latin typeface="Fagun Medium"/>
              </a:rPr>
              <a:t>What the project is</a:t>
            </a:r>
          </a:p>
        </p:txBody>
      </p:sp>
      <p:sp>
        <p:nvSpPr>
          <p:cNvPr id="7" name="TextBox 6"/>
          <p:cNvSpPr txBox="1"/>
          <p:nvPr/>
        </p:nvSpPr>
        <p:spPr>
          <a:xfrm>
            <a:off x="640080" y="2285999"/>
            <a:ext cx="10972800" cy="426719"/>
          </a:xfrm>
          <a:prstGeom prst="rect">
            <a:avLst/>
          </a:prstGeom>
          <a:noFill/>
        </p:spPr>
        <p:txBody>
          <a:bodyPr wrap="square" anchor="t" lIns="0" rIns="0" tIns="0" bIns="0">
            <a:spAutoFit/>
          </a:bodyPr>
          <a:lstStyle/>
          <a:p>
            <a:pPr algn="l">
              <a:lnSpc>
                <a:spcPct val="115000"/>
              </a:lnSpc>
            </a:pPr>
            <a:r>
              <a:rPr sz="1200" b="0" i="0">
                <a:solidFill>
                  <a:srgbClr val="410F37"/>
                </a:solidFill>
                <a:latin typeface="Inter"/>
              </a:rPr>
              <a:t>An 18-month partnership (December 2025 – May 2027) to identify, create, and support trust-building opportunities among Rohingya, Arakanese, and Bangladesh stakeholders, combining bilateral engagement, capacity building, and facilitated dialogue.</a:t>
            </a:r>
          </a:p>
        </p:txBody>
      </p:sp>
      <p:sp>
        <p:nvSpPr>
          <p:cNvPr id="6" name="TextBox 5"/>
          <p:cNvSpPr txBox="1"/>
          <p:nvPr/>
        </p:nvSpPr>
        <p:spPr>
          <a:xfrm>
            <a:off x="640080" y="2872718"/>
            <a:ext cx="10972800" cy="457200"/>
          </a:xfrm>
          <a:prstGeom prst="rect">
            <a:avLst/>
          </a:prstGeom>
          <a:noFill/>
        </p:spPr>
        <p:txBody>
          <a:bodyPr wrap="square" anchor="t" lIns="0" rIns="0" tIns="0" bIns="0">
            <a:spAutoFit/>
          </a:bodyPr>
          <a:lstStyle/>
          <a:p>
            <a:pPr algn="l">
              <a:lnSpc>
                <a:spcPct val="115000"/>
              </a:lnSpc>
            </a:pPr>
            <a:r>
              <a:rPr sz="1500" b="0" i="0">
                <a:solidFill>
                  <a:srgbClr val="410F37"/>
                </a:solidFill>
                <a:latin typeface="Fagun Medium"/>
              </a:rPr>
              <a:t>Since 29 June</a:t>
            </a:r>
          </a:p>
        </p:txBody>
      </p:sp>
      <p:sp>
        <p:nvSpPr>
          <p:cNvPr id="9" name="Rectangle 8"/>
          <p:cNvSpPr/>
          <p:nvPr/>
        </p:nvSpPr>
        <p:spPr>
          <a:xfrm>
            <a:off x="640080" y="3403070"/>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284198"/>
            <a:ext cx="10698480" cy="231140"/>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Rohingya dialogue work continuing with Rohingya leadership.</a:t>
            </a:r>
          </a:p>
        </p:txBody>
      </p:sp>
      <p:sp>
        <p:nvSpPr>
          <p:cNvPr id="9" name="Rectangle 8"/>
          <p:cNvSpPr/>
          <p:nvPr/>
        </p:nvSpPr>
        <p:spPr>
          <a:xfrm>
            <a:off x="640080" y="3784210"/>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665338"/>
            <a:ext cx="10698480" cy="231140"/>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Request made to Stimson for the FDFA head grant and the approved joint workplan.</a:t>
            </a:r>
          </a:p>
        </p:txBody>
      </p:sp>
      <p:sp>
        <p:nvSpPr>
          <p:cNvPr id="9" name="Rectangle 8"/>
          <p:cNvSpPr/>
          <p:nvPr/>
        </p:nvSpPr>
        <p:spPr>
          <a:xfrm>
            <a:off x="640080" y="4165350"/>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046478"/>
            <a:ext cx="10698480" cy="231140"/>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Partner engagement — PHRD Myanmar partner discussion (16 July); Swiss Peace Partners Network, Geneva (6 August).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972800" cy="548640"/>
          </a:xfrm>
          <a:prstGeom prst="rect">
            <a:avLst/>
          </a:prstGeom>
          <a:noFill/>
        </p:spPr>
        <p:txBody>
          <a:bodyPr wrap="square" anchor="t" lIns="0" rIns="0" tIns="0" bIns="0">
            <a:spAutoFit/>
          </a:bodyPr>
          <a:lstStyle/>
          <a:p>
            <a:pPr algn="l">
              <a:lnSpc>
                <a:spcPct val="115000"/>
              </a:lnSpc>
            </a:pPr>
            <a:r>
              <a:rPr sz="2800" b="1" i="0">
                <a:solidFill>
                  <a:srgbClr val="410F37"/>
                </a:solidFill>
                <a:latin typeface="Fagun Bold"/>
              </a:rPr>
              <a:t>Accountability for business and human rights</a:t>
            </a:r>
          </a:p>
        </p:txBody>
      </p:sp>
      <p:sp>
        <p:nvSpPr>
          <p:cNvPr id="4" name="Rectangle 3"/>
          <p:cNvSpPr/>
          <p:nvPr/>
        </p:nvSpPr>
        <p:spPr>
          <a:xfrm>
            <a:off x="640080" y="1097280"/>
            <a:ext cx="548640" cy="54864"/>
          </a:xfrm>
          <a:prstGeom prst="rect">
            <a:avLst/>
          </a:prstGeom>
          <a:solidFill>
            <a:srgbClr val="E12D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972800" cy="457200"/>
          </a:xfrm>
          <a:prstGeom prst="rect">
            <a:avLst/>
          </a:prstGeom>
          <a:noFill/>
        </p:spPr>
        <p:txBody>
          <a:bodyPr wrap="square" anchor="t" lIns="0" rIns="0" tIns="0" bIns="0">
            <a:spAutoFit/>
          </a:bodyPr>
          <a:lstStyle/>
          <a:p>
            <a:pPr algn="l">
              <a:lnSpc>
                <a:spcPct val="115000"/>
              </a:lnSpc>
            </a:pPr>
            <a:r>
              <a:rPr sz="1300" b="0" i="1">
                <a:solidFill>
                  <a:srgbClr val="E12D64"/>
                </a:solidFill>
                <a:latin typeface="Inter"/>
              </a:rPr>
              <a:t>Core funded  ·  legal action, regulatory complaint and advocacy — confirmed as a core model at the retreat</a:t>
            </a:r>
          </a:p>
        </p:txBody>
      </p:sp>
      <p:sp>
        <p:nvSpPr>
          <p:cNvPr id="6" name="TextBox 5"/>
          <p:cNvSpPr txBox="1"/>
          <p:nvPr/>
        </p:nvSpPr>
        <p:spPr>
          <a:xfrm>
            <a:off x="640080" y="1874519"/>
            <a:ext cx="10972800" cy="457200"/>
          </a:xfrm>
          <a:prstGeom prst="rect">
            <a:avLst/>
          </a:prstGeom>
          <a:noFill/>
        </p:spPr>
        <p:txBody>
          <a:bodyPr wrap="square" anchor="t" lIns="0" rIns="0" tIns="0" bIns="0">
            <a:spAutoFit/>
          </a:bodyPr>
          <a:lstStyle/>
          <a:p>
            <a:pPr algn="l">
              <a:lnSpc>
                <a:spcPct val="115000"/>
              </a:lnSpc>
            </a:pPr>
            <a:r>
              <a:rPr sz="1500" b="0" i="0">
                <a:solidFill>
                  <a:srgbClr val="410F37"/>
                </a:solidFill>
                <a:latin typeface="Fagun Medium"/>
              </a:rPr>
              <a:t>THE FRAMEWORK</a:t>
            </a:r>
          </a:p>
        </p:txBody>
      </p:sp>
      <p:sp>
        <p:nvSpPr>
          <p:cNvPr id="7" name="TextBox 6"/>
          <p:cNvSpPr txBox="1"/>
          <p:nvPr/>
        </p:nvSpPr>
        <p:spPr>
          <a:xfrm>
            <a:off x="640080" y="2286000"/>
            <a:ext cx="10972800" cy="914400"/>
          </a:xfrm>
          <a:prstGeom prst="rect">
            <a:avLst/>
          </a:prstGeom>
          <a:noFill/>
        </p:spPr>
        <p:txBody>
          <a:bodyPr wrap="square" anchor="t" lIns="0" rIns="0" tIns="0" bIns="0">
            <a:spAutoFit/>
          </a:bodyPr>
          <a:lstStyle/>
          <a:p>
            <a:pPr algn="l">
              <a:lnSpc>
                <a:spcPct val="115000"/>
              </a:lnSpc>
            </a:pPr>
            <a:r>
              <a:rPr sz="1200" b="0" i="0">
                <a:solidFill>
                  <a:srgbClr val="410F37"/>
                </a:solidFill>
                <a:latin typeface="Inter"/>
              </a:rPr>
              <a:t>Bringing together our work that holds business actors accountable for contribution to, or benefit from, serious international crimes — across litigation, regulatory complaint, and investor-facing advocacy.</a:t>
            </a:r>
          </a:p>
        </p:txBody>
      </p:sp>
      <p:sp>
        <p:nvSpPr>
          <p:cNvPr id="8" name="TextBox 7"/>
          <p:cNvSpPr txBox="1"/>
          <p:nvPr/>
        </p:nvSpPr>
        <p:spPr>
          <a:xfrm>
            <a:off x="640080" y="3200400"/>
            <a:ext cx="10972800" cy="457200"/>
          </a:xfrm>
          <a:prstGeom prst="rect">
            <a:avLst/>
          </a:prstGeom>
          <a:noFill/>
        </p:spPr>
        <p:txBody>
          <a:bodyPr wrap="square" anchor="t" lIns="0" rIns="0" tIns="0" bIns="0">
            <a:spAutoFit/>
          </a:bodyPr>
          <a:lstStyle/>
          <a:p>
            <a:pPr algn="l">
              <a:lnSpc>
                <a:spcPct val="115000"/>
              </a:lnSpc>
            </a:pPr>
            <a:r>
              <a:rPr sz="1500" b="0" i="0">
                <a:solidFill>
                  <a:srgbClr val="410F37"/>
                </a:solidFill>
                <a:latin typeface="Fagun Medium"/>
              </a:rPr>
              <a:t>ACTIVE WORKSTREAMS</a:t>
            </a:r>
          </a:p>
        </p:txBody>
      </p:sp>
      <p:sp>
        <p:nvSpPr>
          <p:cNvPr id="9" name="TextBox 8"/>
          <p:cNvSpPr txBox="1"/>
          <p:nvPr/>
        </p:nvSpPr>
        <p:spPr>
          <a:xfrm>
            <a:off x="640080" y="3657600"/>
            <a:ext cx="5394960" cy="365760"/>
          </a:xfrm>
          <a:prstGeom prst="rect">
            <a:avLst/>
          </a:prstGeom>
          <a:noFill/>
        </p:spPr>
        <p:txBody>
          <a:bodyPr wrap="square" anchor="t" lIns="0" rIns="0" tIns="0" bIns="0">
            <a:spAutoFit/>
          </a:bodyPr>
          <a:lstStyle/>
          <a:p>
            <a:pPr algn="l">
              <a:lnSpc>
                <a:spcPct val="115000"/>
              </a:lnSpc>
            </a:pPr>
            <a:r>
              <a:rPr sz="1300" b="1" i="0">
                <a:solidFill>
                  <a:srgbClr val="410F37"/>
                </a:solidFill>
                <a:latin typeface="Fagun Bold"/>
              </a:rPr>
              <a:t>Meta / Facebook</a:t>
            </a:r>
          </a:p>
        </p:txBody>
      </p:sp>
      <p:sp>
        <p:nvSpPr>
          <p:cNvPr id="10" name="TextBox 9"/>
          <p:cNvSpPr txBox="1"/>
          <p:nvPr/>
        </p:nvSpPr>
        <p:spPr>
          <a:xfrm>
            <a:off x="640080" y="4023360"/>
            <a:ext cx="5394960" cy="1280160"/>
          </a:xfrm>
          <a:prstGeom prst="rect">
            <a:avLst/>
          </a:prstGeom>
          <a:noFill/>
        </p:spPr>
        <p:txBody>
          <a:bodyPr wrap="square" anchor="t" lIns="0" rIns="0" tIns="0" bIns="0">
            <a:spAutoFit/>
          </a:bodyPr>
          <a:lstStyle/>
          <a:p>
            <a:pPr algn="l">
              <a:lnSpc>
                <a:spcPct val="115000"/>
              </a:lnSpc>
            </a:pPr>
            <a:r>
              <a:rPr sz="1100" b="0" i="0">
                <a:solidFill>
                  <a:srgbClr val="410F37"/>
                </a:solidFill>
                <a:latin typeface="Inter"/>
              </a:rPr>
              <a:t>Meta has responded to our case, including a request for particulars. </a:t>
            </a:r>
            <a:r>
              <a:rPr sz="1100" b="0" i="0">
                <a:solidFill>
                  <a:srgbClr val="E12D64"/>
                </a:solidFill>
                <a:latin typeface="Inter"/>
              </a:rPr>
              <a:t>[Eva to confirm: source to be supplied]</a:t>
            </a:r>
            <a:r>
              <a:rPr sz="1100" b="0" i="0">
                <a:solidFill>
                  <a:srgbClr val="410F37"/>
                </a:solidFill>
                <a:latin typeface="Inter"/>
              </a:rPr>
              <a:t> Amnesty × hūmānus side event at UNGA (25 Sep); documentary narrative and video series in production.</a:t>
            </a:r>
          </a:p>
        </p:txBody>
      </p:sp>
      <p:sp>
        <p:nvSpPr>
          <p:cNvPr id="11" name="TextBox 10"/>
          <p:cNvSpPr txBox="1"/>
          <p:nvPr/>
        </p:nvSpPr>
        <p:spPr>
          <a:xfrm>
            <a:off x="6400800" y="3657600"/>
            <a:ext cx="5394960" cy="365760"/>
          </a:xfrm>
          <a:prstGeom prst="rect">
            <a:avLst/>
          </a:prstGeom>
          <a:noFill/>
        </p:spPr>
        <p:txBody>
          <a:bodyPr wrap="square" anchor="t" lIns="0" rIns="0" tIns="0" bIns="0">
            <a:spAutoFit/>
          </a:bodyPr>
          <a:lstStyle/>
          <a:p>
            <a:pPr algn="l">
              <a:lnSpc>
                <a:spcPct val="115000"/>
              </a:lnSpc>
            </a:pPr>
            <a:r>
              <a:rPr sz="1300" b="1" i="0">
                <a:solidFill>
                  <a:srgbClr val="410F37"/>
                </a:solidFill>
                <a:latin typeface="Fagun Bold"/>
              </a:rPr>
              <a:t>Adani</a:t>
            </a:r>
          </a:p>
        </p:txBody>
      </p:sp>
      <p:sp>
        <p:nvSpPr>
          <p:cNvPr id="12" name="TextBox 11"/>
          <p:cNvSpPr txBox="1"/>
          <p:nvPr/>
        </p:nvSpPr>
        <p:spPr>
          <a:xfrm>
            <a:off x="6400800" y="4023360"/>
            <a:ext cx="5394960" cy="1280160"/>
          </a:xfrm>
          <a:prstGeom prst="rect">
            <a:avLst/>
          </a:prstGeom>
          <a:noFill/>
        </p:spPr>
        <p:txBody>
          <a:bodyPr wrap="square" anchor="t" lIns="0" rIns="0" tIns="0" bIns="0">
            <a:spAutoFit/>
          </a:bodyPr>
          <a:lstStyle/>
          <a:p>
            <a:pPr algn="l">
              <a:lnSpc>
                <a:spcPct val="115000"/>
              </a:lnSpc>
            </a:pPr>
            <a:r>
              <a:rPr sz="1100" b="0" i="0">
                <a:solidFill>
                  <a:srgbClr val="410F37"/>
                </a:solidFill>
                <a:latin typeface="Inter"/>
              </a:rPr>
              <a:t>Coordination and investigation work continuing, including research on Australian super-fund exposure, fiduciary-duty case law, the OFAC civil probe and Adani Defence.</a:t>
            </a:r>
          </a:p>
        </p:txBody>
      </p:sp>
      <p:sp>
        <p:nvSpPr>
          <p:cNvPr id="13" name="TextBox 12"/>
          <p:cNvSpPr txBox="1"/>
          <p:nvPr/>
        </p:nvSpPr>
        <p:spPr>
          <a:xfrm>
            <a:off x="640080" y="5394960"/>
            <a:ext cx="5394960" cy="365760"/>
          </a:xfrm>
          <a:prstGeom prst="rect">
            <a:avLst/>
          </a:prstGeom>
          <a:noFill/>
        </p:spPr>
        <p:txBody>
          <a:bodyPr wrap="square" anchor="t" lIns="0" rIns="0" tIns="0" bIns="0">
            <a:spAutoFit/>
          </a:bodyPr>
          <a:lstStyle/>
          <a:p>
            <a:pPr algn="l">
              <a:lnSpc>
                <a:spcPct val="115000"/>
              </a:lnSpc>
            </a:pPr>
            <a:r>
              <a:rPr sz="1300" b="1" i="0">
                <a:solidFill>
                  <a:srgbClr val="410F37"/>
                </a:solidFill>
                <a:latin typeface="Fagun Bold"/>
              </a:rPr>
              <a:t>Other accountability work</a:t>
            </a:r>
          </a:p>
        </p:txBody>
      </p:sp>
      <p:sp>
        <p:nvSpPr>
          <p:cNvPr id="14" name="TextBox 13"/>
          <p:cNvSpPr txBox="1"/>
          <p:nvPr/>
        </p:nvSpPr>
        <p:spPr>
          <a:xfrm>
            <a:off x="640080" y="5760720"/>
            <a:ext cx="5394960" cy="731520"/>
          </a:xfrm>
          <a:prstGeom prst="rect">
            <a:avLst/>
          </a:prstGeom>
          <a:noFill/>
        </p:spPr>
        <p:txBody>
          <a:bodyPr wrap="square" anchor="t" lIns="0" rIns="0" tIns="0" bIns="0">
            <a:spAutoFit/>
          </a:bodyPr>
          <a:lstStyle/>
          <a:p>
            <a:pPr algn="l">
              <a:lnSpc>
                <a:spcPct val="115000"/>
              </a:lnSpc>
            </a:pPr>
            <a:r>
              <a:rPr sz="1100" b="0" i="0">
                <a:solidFill>
                  <a:srgbClr val="410F37"/>
                </a:solidFill>
                <a:latin typeface="Inter"/>
              </a:rPr>
              <a:t>US and UK greenwashing opinions (Reuben brothers / Escénica) in progress. CERD / ICJ brief concerning Australia in preparation.</a:t>
            </a:r>
          </a:p>
        </p:txBody>
      </p:sp>
      <p:sp>
        <p:nvSpPr>
          <p:cNvPr id="15" name="TextBox 14"/>
          <p:cNvSpPr txBox="1"/>
          <p:nvPr/>
        </p:nvSpPr>
        <p:spPr>
          <a:xfrm>
            <a:off x="6400800" y="5394960"/>
            <a:ext cx="5394960" cy="365760"/>
          </a:xfrm>
          <a:prstGeom prst="rect">
            <a:avLst/>
          </a:prstGeom>
          <a:noFill/>
        </p:spPr>
        <p:txBody>
          <a:bodyPr wrap="square" anchor="t" lIns="0" rIns="0" tIns="0" bIns="0">
            <a:spAutoFit/>
          </a:bodyPr>
          <a:lstStyle/>
          <a:p>
            <a:pPr algn="l">
              <a:lnSpc>
                <a:spcPct val="115000"/>
              </a:lnSpc>
            </a:pPr>
            <a:r>
              <a:rPr sz="1300" b="1" i="0">
                <a:solidFill>
                  <a:srgbClr val="410F37"/>
                </a:solidFill>
                <a:latin typeface="Fagun Bold"/>
              </a:rPr>
              <a:t>Note for the Board</a:t>
            </a:r>
          </a:p>
        </p:txBody>
      </p:sp>
      <p:sp>
        <p:nvSpPr>
          <p:cNvPr id="16" name="TextBox 15"/>
          <p:cNvSpPr txBox="1"/>
          <p:nvPr/>
        </p:nvSpPr>
        <p:spPr>
          <a:xfrm>
            <a:off x="6400800" y="5760720"/>
            <a:ext cx="5394960" cy="731520"/>
          </a:xfrm>
          <a:prstGeom prst="rect">
            <a:avLst/>
          </a:prstGeom>
          <a:noFill/>
        </p:spPr>
        <p:txBody>
          <a:bodyPr wrap="square" anchor="t" lIns="0" rIns="0" tIns="0" bIns="0">
            <a:spAutoFit/>
          </a:bodyPr>
          <a:lstStyle/>
          <a:p>
            <a:pPr algn="l">
              <a:lnSpc>
                <a:spcPct val="115000"/>
              </a:lnSpc>
            </a:pPr>
            <a:r>
              <a:rPr sz="1100" b="0" i="1">
                <a:solidFill>
                  <a:srgbClr val="410F37"/>
                </a:solidFill>
                <a:latin typeface="Inter"/>
              </a:rPr>
              <a:t>At Q2 we proposed a dedicated Adani paper for this meeting. Coordination and investigation work is continuing; the board is updated through this report.</a:t>
            </a:r>
          </a:p>
        </p:txBody>
      </p:sp>
      <p:sp>
        <p:nvSpPr>
          <p:cNvPr id="17" name="TextBox 16"/>
          <p:cNvSpPr txBox="1"/>
          <p:nvPr/>
        </p:nvSpPr>
        <p:spPr>
          <a:xfrm>
            <a:off x="640080" y="6492240"/>
            <a:ext cx="7315200" cy="274320"/>
          </a:xfrm>
          <a:prstGeom prst="rect">
            <a:avLst/>
          </a:prstGeom>
          <a:noFill/>
        </p:spPr>
        <p:txBody>
          <a:bodyPr wrap="square" anchor="t" lIns="0" rIns="0" tIns="0" bIns="0">
            <a:spAutoFit/>
          </a:bodyPr>
          <a:lstStyle/>
          <a:p>
            <a:pPr algn="l">
              <a:lnSpc>
                <a:spcPct val="115000"/>
              </a:lnSpc>
            </a:pPr>
            <a:r>
              <a:rPr sz="900" b="0" i="0">
                <a:solidFill>
                  <a:srgbClr val="410F37"/>
                </a:solidFill>
                <a:latin typeface="Inter"/>
              </a:rPr>
              <a:t>hūmānus  ·  Q3 2026 Board Meeting  ·  Operations &amp; Impact Update  ·  DRAFT</a:t>
            </a:r>
          </a:p>
        </p:txBody>
      </p:sp>
      <p:sp>
        <p:nvSpPr>
          <p:cNvPr id="18" name="TextBox 17"/>
          <p:cNvSpPr txBox="1"/>
          <p:nvPr/>
        </p:nvSpPr>
        <p:spPr>
          <a:xfrm>
            <a:off x="10332720" y="6492240"/>
            <a:ext cx="1371600" cy="274320"/>
          </a:xfrm>
          <a:prstGeom prst="rect">
            <a:avLst/>
          </a:prstGeom>
          <a:noFill/>
        </p:spPr>
        <p:txBody>
          <a:bodyPr wrap="square" anchor="t" lIns="0" rIns="0" tIns="0" bIns="0">
            <a:spAutoFit/>
          </a:bodyPr>
          <a:lstStyle/>
          <a:p>
            <a:pPr algn="r">
              <a:lnSpc>
                <a:spcPct val="115000"/>
              </a:lnSpc>
            </a:pPr>
            <a:r>
              <a:rPr sz="900" b="0" i="0">
                <a:solidFill>
                  <a:srgbClr val="410F37"/>
                </a:solidFill>
                <a:latin typeface="Inter"/>
              </a:rPr>
              <a:t>7 / 13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972800" cy="548640"/>
          </a:xfrm>
          <a:prstGeom prst="rect">
            <a:avLst/>
          </a:prstGeom>
          <a:noFill/>
        </p:spPr>
        <p:txBody>
          <a:bodyPr wrap="square" anchor="t" lIns="0" rIns="0" tIns="0" bIns="0">
            <a:spAutoFit/>
          </a:bodyPr>
          <a:lstStyle/>
          <a:p>
            <a:pPr algn="l">
              <a:lnSpc>
                <a:spcPct val="115000"/>
              </a:lnSpc>
            </a:pPr>
            <a:r>
              <a:rPr sz="2800" b="1" i="0">
                <a:solidFill>
                  <a:srgbClr val="410F37"/>
                </a:solidFill>
                <a:latin typeface="Fagun Bold"/>
              </a:rPr>
              <a:t>Public engagement</a:t>
            </a:r>
          </a:p>
        </p:txBody>
      </p:sp>
      <p:sp>
        <p:nvSpPr>
          <p:cNvPr id="4" name="Rectangle 3"/>
          <p:cNvSpPr/>
          <p:nvPr/>
        </p:nvSpPr>
        <p:spPr>
          <a:xfrm>
            <a:off x="640080" y="1097280"/>
            <a:ext cx="548640" cy="54864"/>
          </a:xfrm>
          <a:prstGeom prst="rect">
            <a:avLst/>
          </a:prstGeom>
          <a:solidFill>
            <a:srgbClr val="E12D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972800" cy="457200"/>
          </a:xfrm>
          <a:prstGeom prst="rect">
            <a:avLst/>
          </a:prstGeom>
          <a:noFill/>
        </p:spPr>
        <p:txBody>
          <a:bodyPr wrap="square" anchor="t" lIns="0" rIns="0" tIns="0" bIns="0">
            <a:spAutoFit/>
          </a:bodyPr>
          <a:lstStyle/>
          <a:p>
            <a:pPr algn="l">
              <a:lnSpc>
                <a:spcPct val="115000"/>
              </a:lnSpc>
            </a:pPr>
            <a:r>
              <a:rPr sz="1300" b="0" i="1">
                <a:solidFill>
                  <a:srgbClr val="E12D64"/>
                </a:solidFill>
                <a:latin typeface="Inter"/>
              </a:rPr>
              <a:t>Core funded  ·  Against the Tide, speaking and donor relations</a:t>
            </a:r>
          </a:p>
        </p:txBody>
      </p:sp>
      <p:sp>
        <p:nvSpPr>
          <p:cNvPr id="19" name="TextBox 18"/>
          <p:cNvSpPr txBox="1"/>
          <p:nvPr/>
        </p:nvSpPr>
        <p:spPr>
          <a:xfrm>
            <a:off x="640080" y="6492240"/>
            <a:ext cx="7315200" cy="274320"/>
          </a:xfrm>
          <a:prstGeom prst="rect">
            <a:avLst/>
          </a:prstGeom>
          <a:noFill/>
        </p:spPr>
        <p:txBody>
          <a:bodyPr wrap="square" anchor="t" lIns="0" rIns="0" tIns="0" bIns="0">
            <a:spAutoFit/>
          </a:bodyPr>
          <a:lstStyle/>
          <a:p>
            <a:pPr algn="l">
              <a:lnSpc>
                <a:spcPct val="115000"/>
              </a:lnSpc>
            </a:pPr>
            <a:r>
              <a:rPr sz="900" b="0" i="0">
                <a:solidFill>
                  <a:srgbClr val="410F37"/>
                </a:solidFill>
                <a:latin typeface="Inter"/>
              </a:rPr>
              <a:t>hūmānus  ·  Q3 2026 Board Meeting  ·  Operations &amp; Impact Update  ·  DRAFT</a:t>
            </a:r>
          </a:p>
        </p:txBody>
      </p:sp>
      <p:sp>
        <p:nvSpPr>
          <p:cNvPr id="20" name="TextBox 19"/>
          <p:cNvSpPr txBox="1"/>
          <p:nvPr/>
        </p:nvSpPr>
        <p:spPr>
          <a:xfrm>
            <a:off x="10332720" y="6492240"/>
            <a:ext cx="1371600" cy="274320"/>
          </a:xfrm>
          <a:prstGeom prst="rect">
            <a:avLst/>
          </a:prstGeom>
          <a:noFill/>
        </p:spPr>
        <p:txBody>
          <a:bodyPr wrap="square" anchor="t" lIns="0" rIns="0" tIns="0" bIns="0">
            <a:spAutoFit/>
          </a:bodyPr>
          <a:lstStyle/>
          <a:p>
            <a:pPr algn="r">
              <a:lnSpc>
                <a:spcPct val="115000"/>
              </a:lnSpc>
            </a:pPr>
            <a:r>
              <a:rPr sz="900" b="0" i="0">
                <a:solidFill>
                  <a:srgbClr val="410F37"/>
                </a:solidFill>
                <a:latin typeface="Inter"/>
              </a:rPr>
              <a:t>8 / 13</a:t>
            </a:r>
          </a:p>
        </p:txBody>
      </p:sp>
      <p:sp>
        <p:nvSpPr>
          <p:cNvPr id="6" name="TextBox 5"/>
          <p:cNvSpPr txBox="1"/>
          <p:nvPr/>
        </p:nvSpPr>
        <p:spPr>
          <a:xfrm>
            <a:off x="640080" y="1874519"/>
            <a:ext cx="10972800" cy="457200"/>
          </a:xfrm>
          <a:prstGeom prst="rect">
            <a:avLst/>
          </a:prstGeom>
          <a:noFill/>
        </p:spPr>
        <p:txBody>
          <a:bodyPr wrap="square" anchor="t" lIns="0" rIns="0" tIns="0" bIns="0">
            <a:spAutoFit/>
          </a:bodyPr>
          <a:lstStyle/>
          <a:p>
            <a:pPr algn="l">
              <a:lnSpc>
                <a:spcPct val="115000"/>
              </a:lnSpc>
            </a:pPr>
            <a:r>
              <a:rPr sz="1500" b="0" i="0">
                <a:solidFill>
                  <a:srgbClr val="410F37"/>
                </a:solidFill>
                <a:latin typeface="Fagun Medium"/>
              </a:rPr>
              <a:t>Against the Tide</a:t>
            </a:r>
          </a:p>
        </p:txBody>
      </p:sp>
      <p:sp>
        <p:nvSpPr>
          <p:cNvPr id="9" name="Rectangle 8"/>
          <p:cNvSpPr/>
          <p:nvPr/>
        </p:nvSpPr>
        <p:spPr>
          <a:xfrm>
            <a:off x="640080" y="2404871"/>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285999"/>
            <a:ext cx="10698480" cy="462280"/>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Eva Buzo Swim × Small Islands Coalition (28 August); Islands Swim: Seychelles (15 September); small-islands press, social and documentary session at UNGA (25 September).</a:t>
            </a:r>
          </a:p>
        </p:txBody>
      </p:sp>
      <p:sp>
        <p:nvSpPr>
          <p:cNvPr id="6" name="TextBox 5"/>
          <p:cNvSpPr txBox="1"/>
          <p:nvPr/>
        </p:nvSpPr>
        <p:spPr>
          <a:xfrm>
            <a:off x="640080" y="2898279"/>
            <a:ext cx="10972800" cy="457200"/>
          </a:xfrm>
          <a:prstGeom prst="rect">
            <a:avLst/>
          </a:prstGeom>
          <a:noFill/>
        </p:spPr>
        <p:txBody>
          <a:bodyPr wrap="square" anchor="t" lIns="0" rIns="0" tIns="0" bIns="0">
            <a:spAutoFit/>
          </a:bodyPr>
          <a:lstStyle/>
          <a:p>
            <a:pPr algn="l">
              <a:lnSpc>
                <a:spcPct val="115000"/>
              </a:lnSpc>
            </a:pPr>
            <a:r>
              <a:rPr sz="1500" b="0" i="0">
                <a:solidFill>
                  <a:srgbClr val="410F37"/>
                </a:solidFill>
                <a:latin typeface="Fagun Medium"/>
              </a:rPr>
              <a:t>Speaking</a:t>
            </a:r>
          </a:p>
        </p:txBody>
      </p:sp>
      <p:sp>
        <p:nvSpPr>
          <p:cNvPr id="9" name="Rectangle 8"/>
          <p:cNvSpPr/>
          <p:nvPr/>
        </p:nvSpPr>
        <p:spPr>
          <a:xfrm>
            <a:off x="640080" y="3428631"/>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309759"/>
            <a:ext cx="10698480" cy="462280"/>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Berkeley (28 September) — keynote, Human Rights for Victims of Conflict in a Fragmenting World; session with Berkeley IIS clinic students on conflict monitoring.</a:t>
            </a:r>
          </a:p>
        </p:txBody>
      </p:sp>
      <p:sp>
        <p:nvSpPr>
          <p:cNvPr id="6" name="TextBox 5"/>
          <p:cNvSpPr txBox="1"/>
          <p:nvPr/>
        </p:nvSpPr>
        <p:spPr>
          <a:xfrm>
            <a:off x="640080" y="3922039"/>
            <a:ext cx="10972800" cy="457200"/>
          </a:xfrm>
          <a:prstGeom prst="rect">
            <a:avLst/>
          </a:prstGeom>
          <a:noFill/>
        </p:spPr>
        <p:txBody>
          <a:bodyPr wrap="square" anchor="t" lIns="0" rIns="0" tIns="0" bIns="0">
            <a:spAutoFit/>
          </a:bodyPr>
          <a:lstStyle/>
          <a:p>
            <a:pPr algn="l">
              <a:lnSpc>
                <a:spcPct val="115000"/>
              </a:lnSpc>
            </a:pPr>
            <a:r>
              <a:rPr sz="1500" b="0" i="0">
                <a:solidFill>
                  <a:srgbClr val="410F37"/>
                </a:solidFill>
                <a:latin typeface="Fagun Medium"/>
              </a:rPr>
              <a:t>Donor relations</a:t>
            </a:r>
          </a:p>
        </p:txBody>
      </p:sp>
      <p:sp>
        <p:nvSpPr>
          <p:cNvPr id="9" name="Rectangle 8"/>
          <p:cNvSpPr/>
          <p:nvPr/>
        </p:nvSpPr>
        <p:spPr>
          <a:xfrm>
            <a:off x="640080" y="4452391"/>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333519"/>
            <a:ext cx="10698480" cy="462280"/>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OSF partner retreat, Mexico — Finding Each Other on Shifting Ground, bringing together around 100 OSF partners; good connections made. Preceded by online pre-gathering sessions in July.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972800" cy="548640"/>
          </a:xfrm>
          <a:prstGeom prst="rect">
            <a:avLst/>
          </a:prstGeom>
          <a:noFill/>
        </p:spPr>
        <p:txBody>
          <a:bodyPr wrap="square" anchor="t" lIns="0" rIns="0" tIns="0" bIns="0">
            <a:spAutoFit/>
          </a:bodyPr>
          <a:lstStyle/>
          <a:p>
            <a:pPr algn="l">
              <a:lnSpc>
                <a:spcPct val="115000"/>
              </a:lnSpc>
            </a:pPr>
            <a:r>
              <a:rPr sz="2800" b="1" i="0">
                <a:solidFill>
                  <a:srgbClr val="410F37"/>
                </a:solidFill>
                <a:latin typeface="Fagun Bold"/>
              </a:rPr>
              <a:t>Further activities</a:t>
            </a:r>
          </a:p>
        </p:txBody>
      </p:sp>
      <p:sp>
        <p:nvSpPr>
          <p:cNvPr id="4" name="Rectangle 3"/>
          <p:cNvSpPr/>
          <p:nvPr/>
        </p:nvSpPr>
        <p:spPr>
          <a:xfrm>
            <a:off x="640080" y="1097280"/>
            <a:ext cx="548640" cy="54864"/>
          </a:xfrm>
          <a:prstGeom prst="rect">
            <a:avLst/>
          </a:prstGeom>
          <a:solidFill>
            <a:srgbClr val="E12D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972800" cy="457200"/>
          </a:xfrm>
          <a:prstGeom prst="rect">
            <a:avLst/>
          </a:prstGeom>
          <a:noFill/>
        </p:spPr>
        <p:txBody>
          <a:bodyPr wrap="square" anchor="t" lIns="0" rIns="0" tIns="0" bIns="0">
            <a:spAutoFit/>
          </a:bodyPr>
          <a:lstStyle/>
          <a:p>
            <a:pPr algn="l">
              <a:lnSpc>
                <a:spcPct val="115000"/>
              </a:lnSpc>
            </a:pPr>
            <a:r>
              <a:rPr sz="1300" b="0" i="1">
                <a:solidFill>
                  <a:srgbClr val="E12D64"/>
                </a:solidFill>
                <a:latin typeface="Inter"/>
              </a:rPr>
              <a:t>Advisory work outside our funded programmes</a:t>
            </a:r>
          </a:p>
        </p:txBody>
      </p:sp>
      <p:sp>
        <p:nvSpPr>
          <p:cNvPr id="19" name="TextBox 18"/>
          <p:cNvSpPr txBox="1"/>
          <p:nvPr/>
        </p:nvSpPr>
        <p:spPr>
          <a:xfrm>
            <a:off x="640080" y="6492240"/>
            <a:ext cx="7315200" cy="274320"/>
          </a:xfrm>
          <a:prstGeom prst="rect">
            <a:avLst/>
          </a:prstGeom>
          <a:noFill/>
        </p:spPr>
        <p:txBody>
          <a:bodyPr wrap="square" anchor="t" lIns="0" rIns="0" tIns="0" bIns="0">
            <a:spAutoFit/>
          </a:bodyPr>
          <a:lstStyle/>
          <a:p>
            <a:pPr algn="l">
              <a:lnSpc>
                <a:spcPct val="115000"/>
              </a:lnSpc>
            </a:pPr>
            <a:r>
              <a:rPr sz="900" b="0" i="0">
                <a:solidFill>
                  <a:srgbClr val="410F37"/>
                </a:solidFill>
                <a:latin typeface="Inter"/>
              </a:rPr>
              <a:t>hūmānus  ·  Q3 2026 Board Meeting  ·  Operations &amp; Impact Update  ·  DRAFT</a:t>
            </a:r>
          </a:p>
        </p:txBody>
      </p:sp>
      <p:sp>
        <p:nvSpPr>
          <p:cNvPr id="20" name="TextBox 19"/>
          <p:cNvSpPr txBox="1"/>
          <p:nvPr/>
        </p:nvSpPr>
        <p:spPr>
          <a:xfrm>
            <a:off x="10332720" y="6492240"/>
            <a:ext cx="1371600" cy="274320"/>
          </a:xfrm>
          <a:prstGeom prst="rect">
            <a:avLst/>
          </a:prstGeom>
          <a:noFill/>
        </p:spPr>
        <p:txBody>
          <a:bodyPr wrap="square" anchor="t" lIns="0" rIns="0" tIns="0" bIns="0">
            <a:spAutoFit/>
          </a:bodyPr>
          <a:lstStyle/>
          <a:p>
            <a:pPr algn="r">
              <a:lnSpc>
                <a:spcPct val="115000"/>
              </a:lnSpc>
            </a:pPr>
            <a:r>
              <a:rPr sz="900" b="0" i="0">
                <a:solidFill>
                  <a:srgbClr val="410F37"/>
                </a:solidFill>
                <a:latin typeface="Inter"/>
              </a:rPr>
              <a:t>9 / 13</a:t>
            </a:r>
          </a:p>
        </p:txBody>
      </p:sp>
      <p:sp>
        <p:nvSpPr>
          <p:cNvPr id="6" name="TextBox 5"/>
          <p:cNvSpPr txBox="1"/>
          <p:nvPr/>
        </p:nvSpPr>
        <p:spPr>
          <a:xfrm>
            <a:off x="640080" y="1874519"/>
            <a:ext cx="10972800" cy="457200"/>
          </a:xfrm>
          <a:prstGeom prst="rect">
            <a:avLst/>
          </a:prstGeom>
          <a:noFill/>
        </p:spPr>
        <p:txBody>
          <a:bodyPr wrap="square" anchor="t" lIns="0" rIns="0" tIns="0" bIns="0">
            <a:spAutoFit/>
          </a:bodyPr>
          <a:lstStyle/>
          <a:p>
            <a:pPr algn="l">
              <a:lnSpc>
                <a:spcPct val="115000"/>
              </a:lnSpc>
            </a:pPr>
            <a:r>
              <a:rPr sz="1500" b="0" i="0">
                <a:solidFill>
                  <a:srgbClr val="410F37"/>
                </a:solidFill>
                <a:latin typeface="Fagun Medium"/>
              </a:rPr>
              <a:t>Since 29 June</a:t>
            </a:r>
          </a:p>
        </p:txBody>
      </p:sp>
      <p:sp>
        <p:nvSpPr>
          <p:cNvPr id="9" name="Rectangle 8"/>
          <p:cNvSpPr/>
          <p:nvPr/>
        </p:nvSpPr>
        <p:spPr>
          <a:xfrm>
            <a:off x="640080" y="2404871"/>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285999"/>
            <a:ext cx="10698480" cy="462280"/>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Australian war crimes, victim participation — advice to two sets of clients in Australia on victim participation in prosecutions of alleged war crimes committed in Afghanistan.</a:t>
            </a:r>
          </a:p>
        </p:txBody>
      </p:sp>
      <p:sp>
        <p:nvSpPr>
          <p:cNvPr id="9" name="Rectangle 8"/>
          <p:cNvSpPr/>
          <p:nvPr/>
        </p:nvSpPr>
        <p:spPr>
          <a:xfrm>
            <a:off x="640080" y="3017151"/>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898279"/>
            <a:ext cx="10698480" cy="693419"/>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Caste-based discrimination — advice on a complaint to the Australian Human Rights Commission against a New South Wales local council, concerning discrimination against Dalit, Bahujan and Adivasi communities. Referred via Salil Shetty; instructed September 2026.</a:t>
            </a:r>
          </a:p>
        </p:txBody>
      </p:sp>
      <p:sp>
        <p:nvSpPr>
          <p:cNvPr id="6" name="TextBox 5"/>
          <p:cNvSpPr txBox="1"/>
          <p:nvPr/>
        </p:nvSpPr>
        <p:spPr>
          <a:xfrm>
            <a:off x="640080" y="3741698"/>
            <a:ext cx="10972800" cy="457200"/>
          </a:xfrm>
          <a:prstGeom prst="rect">
            <a:avLst/>
          </a:prstGeom>
          <a:noFill/>
        </p:spPr>
        <p:txBody>
          <a:bodyPr wrap="square" anchor="t" lIns="0" rIns="0" tIns="0" bIns="0">
            <a:spAutoFit/>
          </a:bodyPr>
          <a:lstStyle/>
          <a:p>
            <a:pPr algn="l">
              <a:lnSpc>
                <a:spcPct val="115000"/>
              </a:lnSpc>
            </a:pPr>
            <a:r>
              <a:rPr sz="1500" b="0" i="0">
                <a:solidFill>
                  <a:srgbClr val="410F37"/>
                </a:solidFill>
                <a:latin typeface="Fagun Medium"/>
              </a:rPr>
              <a:t>Why this matters for the board</a:t>
            </a:r>
          </a:p>
        </p:txBody>
      </p:sp>
      <p:sp>
        <p:nvSpPr>
          <p:cNvPr id="7" name="TextBox 6"/>
          <p:cNvSpPr txBox="1"/>
          <p:nvPr/>
        </p:nvSpPr>
        <p:spPr>
          <a:xfrm>
            <a:off x="640080" y="4153178"/>
            <a:ext cx="10972800" cy="426719"/>
          </a:xfrm>
          <a:prstGeom prst="rect">
            <a:avLst/>
          </a:prstGeom>
          <a:noFill/>
        </p:spPr>
        <p:txBody>
          <a:bodyPr wrap="square" anchor="t" lIns="0" rIns="0" tIns="0" bIns="0">
            <a:spAutoFit/>
          </a:bodyPr>
          <a:lstStyle/>
          <a:p>
            <a:pPr algn="l">
              <a:lnSpc>
                <a:spcPct val="115000"/>
              </a:lnSpc>
            </a:pPr>
            <a:r>
              <a:rPr sz="1200" b="0" i="0">
                <a:solidFill>
                  <a:srgbClr val="410F37"/>
                </a:solidFill>
                <a:latin typeface="Inter"/>
              </a:rPr>
              <a:t>Both matters fall within the broadened human rights violations framing agreed at the retreat (slide 11). They are confidential client matters, so details are held by the ED and are not set out in this paper.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972800" cy="548640"/>
          </a:xfrm>
          <a:prstGeom prst="rect">
            <a:avLst/>
          </a:prstGeom>
          <a:noFill/>
        </p:spPr>
        <p:txBody>
          <a:bodyPr wrap="square" anchor="t" lIns="0" rIns="0" tIns="0" bIns="0">
            <a:spAutoFit/>
          </a:bodyPr>
          <a:lstStyle/>
          <a:p>
            <a:pPr algn="l">
              <a:lnSpc>
                <a:spcPct val="115000"/>
              </a:lnSpc>
            </a:pPr>
            <a:r>
              <a:rPr sz="2800" b="1" i="0">
                <a:solidFill>
                  <a:srgbClr val="410F37"/>
                </a:solidFill>
                <a:latin typeface="Fagun Bold"/>
              </a:rPr>
              <a:t>Research — Rohingya analysis</a:t>
            </a:r>
          </a:p>
        </p:txBody>
      </p:sp>
      <p:sp>
        <p:nvSpPr>
          <p:cNvPr id="4" name="Rectangle 3"/>
          <p:cNvSpPr/>
          <p:nvPr/>
        </p:nvSpPr>
        <p:spPr>
          <a:xfrm>
            <a:off x="640080" y="1097280"/>
            <a:ext cx="548640" cy="54864"/>
          </a:xfrm>
          <a:prstGeom prst="rect">
            <a:avLst/>
          </a:prstGeom>
          <a:solidFill>
            <a:srgbClr val="E12D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972800" cy="457200"/>
          </a:xfrm>
          <a:prstGeom prst="rect">
            <a:avLst/>
          </a:prstGeom>
          <a:noFill/>
        </p:spPr>
        <p:txBody>
          <a:bodyPr wrap="square" anchor="t" lIns="0" rIns="0" tIns="0" bIns="0">
            <a:spAutoFit/>
          </a:bodyPr>
          <a:lstStyle/>
          <a:p>
            <a:pPr algn="l">
              <a:lnSpc>
                <a:spcPct val="115000"/>
              </a:lnSpc>
            </a:pPr>
            <a:r>
              <a:rPr sz="1300" b="0" i="1">
                <a:solidFill>
                  <a:srgbClr val="E12D64"/>
                </a:solidFill>
                <a:latin typeface="Inter"/>
              </a:rPr>
              <a:t>Sawyadullah  ·  supporting dialogue activities and Rohingya leadership</a:t>
            </a:r>
          </a:p>
        </p:txBody>
      </p:sp>
      <p:sp>
        <p:nvSpPr>
          <p:cNvPr id="19" name="TextBox 18"/>
          <p:cNvSpPr txBox="1"/>
          <p:nvPr/>
        </p:nvSpPr>
        <p:spPr>
          <a:xfrm>
            <a:off x="640080" y="6492240"/>
            <a:ext cx="7315200" cy="274320"/>
          </a:xfrm>
          <a:prstGeom prst="rect">
            <a:avLst/>
          </a:prstGeom>
          <a:noFill/>
        </p:spPr>
        <p:txBody>
          <a:bodyPr wrap="square" anchor="t" lIns="0" rIns="0" tIns="0" bIns="0">
            <a:spAutoFit/>
          </a:bodyPr>
          <a:lstStyle/>
          <a:p>
            <a:pPr algn="l">
              <a:lnSpc>
                <a:spcPct val="115000"/>
              </a:lnSpc>
            </a:pPr>
            <a:r>
              <a:rPr sz="900" b="0" i="0">
                <a:solidFill>
                  <a:srgbClr val="410F37"/>
                </a:solidFill>
                <a:latin typeface="Inter"/>
              </a:rPr>
              <a:t>hūmānus  ·  Q3 2026 Board Meeting  ·  Operations &amp; Impact Update  ·  DRAFT</a:t>
            </a:r>
          </a:p>
        </p:txBody>
      </p:sp>
      <p:sp>
        <p:nvSpPr>
          <p:cNvPr id="20" name="TextBox 19"/>
          <p:cNvSpPr txBox="1"/>
          <p:nvPr/>
        </p:nvSpPr>
        <p:spPr>
          <a:xfrm>
            <a:off x="10332720" y="6492240"/>
            <a:ext cx="1371600" cy="274320"/>
          </a:xfrm>
          <a:prstGeom prst="rect">
            <a:avLst/>
          </a:prstGeom>
          <a:noFill/>
        </p:spPr>
        <p:txBody>
          <a:bodyPr wrap="square" anchor="t" lIns="0" rIns="0" tIns="0" bIns="0">
            <a:spAutoFit/>
          </a:bodyPr>
          <a:lstStyle/>
          <a:p>
            <a:pPr algn="r">
              <a:lnSpc>
                <a:spcPct val="115000"/>
              </a:lnSpc>
            </a:pPr>
            <a:r>
              <a:rPr sz="900" b="0" i="0">
                <a:solidFill>
                  <a:srgbClr val="410F37"/>
                </a:solidFill>
                <a:latin typeface="Inter"/>
              </a:rPr>
              <a:t>10 / 13</a:t>
            </a:r>
          </a:p>
        </p:txBody>
      </p:sp>
      <p:sp>
        <p:nvSpPr>
          <p:cNvPr id="6" name="TextBox 5"/>
          <p:cNvSpPr txBox="1"/>
          <p:nvPr/>
        </p:nvSpPr>
        <p:spPr>
          <a:xfrm>
            <a:off x="640080" y="1874519"/>
            <a:ext cx="10972800" cy="457200"/>
          </a:xfrm>
          <a:prstGeom prst="rect">
            <a:avLst/>
          </a:prstGeom>
          <a:noFill/>
        </p:spPr>
        <p:txBody>
          <a:bodyPr wrap="square" anchor="t" lIns="0" rIns="0" tIns="0" bIns="0">
            <a:spAutoFit/>
          </a:bodyPr>
          <a:lstStyle/>
          <a:p>
            <a:pPr algn="l">
              <a:lnSpc>
                <a:spcPct val="115000"/>
              </a:lnSpc>
            </a:pPr>
            <a:r>
              <a:rPr sz="1500" b="0" i="0">
                <a:solidFill>
                  <a:srgbClr val="410F37"/>
                </a:solidFill>
                <a:latin typeface="Fagun Medium"/>
              </a:rPr>
              <a:t>What the strand is</a:t>
            </a:r>
          </a:p>
        </p:txBody>
      </p:sp>
      <p:sp>
        <p:nvSpPr>
          <p:cNvPr id="7" name="TextBox 6"/>
          <p:cNvSpPr txBox="1"/>
          <p:nvPr/>
        </p:nvSpPr>
        <p:spPr>
          <a:xfrm>
            <a:off x="640080" y="2285999"/>
            <a:ext cx="10972800" cy="426719"/>
          </a:xfrm>
          <a:prstGeom prst="rect">
            <a:avLst/>
          </a:prstGeom>
          <a:noFill/>
        </p:spPr>
        <p:txBody>
          <a:bodyPr wrap="square" anchor="t" lIns="0" rIns="0" tIns="0" bIns="0">
            <a:spAutoFit/>
          </a:bodyPr>
          <a:lstStyle/>
          <a:p>
            <a:pPr algn="l">
              <a:lnSpc>
                <a:spcPct val="115000"/>
              </a:lnSpc>
            </a:pPr>
            <a:r>
              <a:rPr sz="1200" b="0" i="0">
                <a:solidFill>
                  <a:srgbClr val="410F37"/>
                </a:solidFill>
                <a:latin typeface="Inter"/>
              </a:rPr>
              <a:t>Ten analysis reports by Sawyadullah on Rohingya relationships with the United States, China, Bangladesh, India and Pakistan — to aid our dialogue activities and support Rohingya leadership.</a:t>
            </a:r>
          </a:p>
        </p:txBody>
      </p:sp>
      <p:sp>
        <p:nvSpPr>
          <p:cNvPr id="6" name="TextBox 5"/>
          <p:cNvSpPr txBox="1"/>
          <p:nvPr/>
        </p:nvSpPr>
        <p:spPr>
          <a:xfrm>
            <a:off x="640080" y="2872718"/>
            <a:ext cx="10972800" cy="457200"/>
          </a:xfrm>
          <a:prstGeom prst="rect">
            <a:avLst/>
          </a:prstGeom>
          <a:noFill/>
        </p:spPr>
        <p:txBody>
          <a:bodyPr wrap="square" anchor="t" lIns="0" rIns="0" tIns="0" bIns="0">
            <a:spAutoFit/>
          </a:bodyPr>
          <a:lstStyle/>
          <a:p>
            <a:pPr algn="l">
              <a:lnSpc>
                <a:spcPct val="115000"/>
              </a:lnSpc>
            </a:pPr>
            <a:r>
              <a:rPr sz="1500" b="0" i="0">
                <a:solidFill>
                  <a:srgbClr val="410F37"/>
                </a:solidFill>
                <a:latin typeface="Fagun Medium"/>
              </a:rPr>
              <a:t>Since 29 June</a:t>
            </a:r>
          </a:p>
        </p:txBody>
      </p:sp>
      <p:sp>
        <p:nvSpPr>
          <p:cNvPr id="9" name="Rectangle 8"/>
          <p:cNvSpPr/>
          <p:nvPr/>
        </p:nvSpPr>
        <p:spPr>
          <a:xfrm>
            <a:off x="640080" y="3403070"/>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284198"/>
            <a:ext cx="10698480" cy="231140"/>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Website to host the work in development, launching November 2026.</a:t>
            </a:r>
          </a:p>
        </p:txBody>
      </p:sp>
      <p:sp>
        <p:nvSpPr>
          <p:cNvPr id="9" name="Rectangle 8"/>
          <p:cNvSpPr/>
          <p:nvPr/>
        </p:nvSpPr>
        <p:spPr>
          <a:xfrm>
            <a:off x="640080" y="3784210"/>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665338"/>
            <a:ext cx="10698480" cy="231140"/>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A workshop on the content will be run in the Rohingya language.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972800" cy="548640"/>
          </a:xfrm>
          <a:prstGeom prst="rect">
            <a:avLst/>
          </a:prstGeom>
          <a:noFill/>
        </p:spPr>
        <p:txBody>
          <a:bodyPr wrap="square" anchor="t" lIns="0" rIns="0" tIns="0" bIns="0">
            <a:spAutoFit/>
          </a:bodyPr>
          <a:lstStyle/>
          <a:p>
            <a:pPr algn="l">
              <a:lnSpc>
                <a:spcPct val="115000"/>
              </a:lnSpc>
            </a:pPr>
            <a:r>
              <a:rPr sz="2800" b="1" i="0">
                <a:solidFill>
                  <a:srgbClr val="410F37"/>
                </a:solidFill>
                <a:latin typeface="Fagun Bold"/>
              </a:rPr>
              <a:t>Strategy retreat — what we decided</a:t>
            </a:r>
          </a:p>
        </p:txBody>
      </p:sp>
      <p:sp>
        <p:nvSpPr>
          <p:cNvPr id="4" name="Rectangle 3"/>
          <p:cNvSpPr/>
          <p:nvPr/>
        </p:nvSpPr>
        <p:spPr>
          <a:xfrm>
            <a:off x="640080" y="1097280"/>
            <a:ext cx="548640" cy="54864"/>
          </a:xfrm>
          <a:prstGeom prst="rect">
            <a:avLst/>
          </a:prstGeom>
          <a:solidFill>
            <a:srgbClr val="E12D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972800" cy="457200"/>
          </a:xfrm>
          <a:prstGeom prst="rect">
            <a:avLst/>
          </a:prstGeom>
          <a:noFill/>
        </p:spPr>
        <p:txBody>
          <a:bodyPr wrap="square" anchor="t" lIns="0" rIns="0" tIns="0" bIns="0">
            <a:spAutoFit/>
          </a:bodyPr>
          <a:lstStyle/>
          <a:p>
            <a:pPr algn="l">
              <a:lnSpc>
                <a:spcPct val="115000"/>
              </a:lnSpc>
            </a:pPr>
            <a:r>
              <a:rPr sz="1300" b="0" i="1">
                <a:solidFill>
                  <a:srgbClr val="E12D64"/>
                </a:solidFill>
                <a:latin typeface="Inter"/>
              </a:rPr>
              <a:t>Team retreat, September 2026  ·  strategy, impact and organisational focus</a:t>
            </a:r>
          </a:p>
        </p:txBody>
      </p:sp>
      <p:sp>
        <p:nvSpPr>
          <p:cNvPr id="19" name="TextBox 18"/>
          <p:cNvSpPr txBox="1"/>
          <p:nvPr/>
        </p:nvSpPr>
        <p:spPr>
          <a:xfrm>
            <a:off x="640080" y="6492240"/>
            <a:ext cx="7315200" cy="274320"/>
          </a:xfrm>
          <a:prstGeom prst="rect">
            <a:avLst/>
          </a:prstGeom>
          <a:noFill/>
        </p:spPr>
        <p:txBody>
          <a:bodyPr wrap="square" anchor="t" lIns="0" rIns="0" tIns="0" bIns="0">
            <a:spAutoFit/>
          </a:bodyPr>
          <a:lstStyle/>
          <a:p>
            <a:pPr algn="l">
              <a:lnSpc>
                <a:spcPct val="115000"/>
              </a:lnSpc>
            </a:pPr>
            <a:r>
              <a:rPr sz="900" b="0" i="0">
                <a:solidFill>
                  <a:srgbClr val="410F37"/>
                </a:solidFill>
                <a:latin typeface="Inter"/>
              </a:rPr>
              <a:t>hūmānus  ·  Q3 2026 Board Meeting  ·  Operations &amp; Impact Update  ·  DRAFT</a:t>
            </a:r>
          </a:p>
        </p:txBody>
      </p:sp>
      <p:sp>
        <p:nvSpPr>
          <p:cNvPr id="20" name="TextBox 19"/>
          <p:cNvSpPr txBox="1"/>
          <p:nvPr/>
        </p:nvSpPr>
        <p:spPr>
          <a:xfrm>
            <a:off x="10332720" y="6492240"/>
            <a:ext cx="1371600" cy="274320"/>
          </a:xfrm>
          <a:prstGeom prst="rect">
            <a:avLst/>
          </a:prstGeom>
          <a:noFill/>
        </p:spPr>
        <p:txBody>
          <a:bodyPr wrap="square" anchor="t" lIns="0" rIns="0" tIns="0" bIns="0">
            <a:spAutoFit/>
          </a:bodyPr>
          <a:lstStyle/>
          <a:p>
            <a:pPr algn="r">
              <a:lnSpc>
                <a:spcPct val="115000"/>
              </a:lnSpc>
            </a:pPr>
            <a:r>
              <a:rPr sz="900" b="0" i="0">
                <a:solidFill>
                  <a:srgbClr val="410F37"/>
                </a:solidFill>
                <a:latin typeface="Inter"/>
              </a:rPr>
              <a:t>11 / 13</a:t>
            </a:r>
          </a:p>
        </p:txBody>
      </p:sp>
      <p:sp>
        <p:nvSpPr>
          <p:cNvPr id="6" name="TextBox 5"/>
          <p:cNvSpPr txBox="1"/>
          <p:nvPr/>
        </p:nvSpPr>
        <p:spPr>
          <a:xfrm>
            <a:off x="640080" y="1874519"/>
            <a:ext cx="10972800" cy="457200"/>
          </a:xfrm>
          <a:prstGeom prst="rect">
            <a:avLst/>
          </a:prstGeom>
          <a:noFill/>
        </p:spPr>
        <p:txBody>
          <a:bodyPr wrap="square" anchor="t" lIns="0" rIns="0" tIns="0" bIns="0">
            <a:spAutoFit/>
          </a:bodyPr>
          <a:lstStyle/>
          <a:p>
            <a:pPr algn="l">
              <a:lnSpc>
                <a:spcPct val="115000"/>
              </a:lnSpc>
            </a:pPr>
            <a:r>
              <a:rPr sz="1500" b="0" i="0">
                <a:solidFill>
                  <a:srgbClr val="410F37"/>
                </a:solidFill>
                <a:latin typeface="Fagun Medium"/>
              </a:rPr>
              <a:t>Strategy and impact</a:t>
            </a:r>
          </a:p>
        </p:txBody>
      </p:sp>
      <p:sp>
        <p:nvSpPr>
          <p:cNvPr id="9" name="Rectangle 8"/>
          <p:cNvSpPr/>
          <p:nvPr/>
        </p:nvSpPr>
        <p:spPr>
          <a:xfrm>
            <a:off x="640080" y="2404871"/>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285999"/>
            <a:ext cx="10698480" cy="213359"/>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Plan from what clients need — an outcomes ladder linking litigation, mediation and community engagement to meaningful results.</a:t>
            </a:r>
          </a:p>
        </p:txBody>
      </p:sp>
      <p:sp>
        <p:nvSpPr>
          <p:cNvPr id="9" name="Rectangle 8"/>
          <p:cNvSpPr/>
          <p:nvPr/>
        </p:nvSpPr>
        <p:spPr>
          <a:xfrm>
            <a:off x="640080" y="2728230"/>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609358"/>
            <a:ext cx="10698480" cy="426719"/>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Broaden the framing from serious international crimes to human rights violations; stay people-focused and prioritise systemic change.</a:t>
            </a:r>
          </a:p>
        </p:txBody>
      </p:sp>
      <p:sp>
        <p:nvSpPr>
          <p:cNvPr id="9" name="Rectangle 8"/>
          <p:cNvSpPr/>
          <p:nvPr/>
        </p:nvSpPr>
        <p:spPr>
          <a:xfrm>
            <a:off x="640080" y="3264949"/>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146077"/>
            <a:ext cx="10698480" cy="426719"/>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Corporate accountability — legal action, regulatory complaints and advocacy — adopted as a core model, including Adani and Facebook.</a:t>
            </a:r>
          </a:p>
        </p:txBody>
      </p:sp>
      <p:sp>
        <p:nvSpPr>
          <p:cNvPr id="9" name="Rectangle 8"/>
          <p:cNvSpPr/>
          <p:nvPr/>
        </p:nvSpPr>
        <p:spPr>
          <a:xfrm>
            <a:off x="640080" y="3801668"/>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682796"/>
            <a:ext cx="10698480" cy="213359"/>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Rohingya — continue the lawyer-network and coordination approach, and take stock of progress after six months.</a:t>
            </a:r>
          </a:p>
        </p:txBody>
      </p:sp>
      <p:sp>
        <p:nvSpPr>
          <p:cNvPr id="6" name="TextBox 5"/>
          <p:cNvSpPr txBox="1"/>
          <p:nvPr/>
        </p:nvSpPr>
        <p:spPr>
          <a:xfrm>
            <a:off x="640080" y="4006155"/>
            <a:ext cx="10972800" cy="457200"/>
          </a:xfrm>
          <a:prstGeom prst="rect">
            <a:avLst/>
          </a:prstGeom>
          <a:noFill/>
        </p:spPr>
        <p:txBody>
          <a:bodyPr wrap="square" anchor="t" lIns="0" rIns="0" tIns="0" bIns="0">
            <a:spAutoFit/>
          </a:bodyPr>
          <a:lstStyle/>
          <a:p>
            <a:pPr algn="l">
              <a:lnSpc>
                <a:spcPct val="115000"/>
              </a:lnSpc>
            </a:pPr>
            <a:r>
              <a:rPr sz="1500" b="0" i="0">
                <a:solidFill>
                  <a:srgbClr val="410F37"/>
                </a:solidFill>
                <a:latin typeface="Fagun Medium"/>
              </a:rPr>
              <a:t>Priorities</a:t>
            </a:r>
          </a:p>
        </p:txBody>
      </p:sp>
      <p:sp>
        <p:nvSpPr>
          <p:cNvPr id="9" name="Rectangle 8"/>
          <p:cNvSpPr/>
          <p:nvPr/>
        </p:nvSpPr>
        <p:spPr>
          <a:xfrm>
            <a:off x="640080" y="4536507"/>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417635"/>
            <a:ext cx="10698480" cy="213359"/>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Keep excellence, rigour and clear accountability central; new geographies only where needs-driven.</a:t>
            </a:r>
          </a:p>
        </p:txBody>
      </p:sp>
      <p:sp>
        <p:nvSpPr>
          <p:cNvPr id="9" name="Rectangle 8"/>
          <p:cNvSpPr/>
          <p:nvPr/>
        </p:nvSpPr>
        <p:spPr>
          <a:xfrm>
            <a:off x="640080" y="4859866"/>
            <a:ext cx="109728" cy="109728"/>
          </a:xfrm>
          <a:prstGeom prst="rect">
            <a:avLst/>
          </a:prstGeom>
          <a:solidFill>
            <a:srgbClr val="96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740994"/>
            <a:ext cx="10698480" cy="213359"/>
          </a:xfrm>
          <a:prstGeom prst="rect">
            <a:avLst/>
          </a:prstGeom>
          <a:noFill/>
        </p:spPr>
        <p:txBody>
          <a:bodyPr wrap="square" anchor="t" lIns="0" rIns="0" tIns="0" bIns="0">
            <a:spAutoFit/>
          </a:bodyPr>
          <a:lstStyle/>
          <a:p>
            <a:pPr algn="l">
              <a:lnSpc>
                <a:spcPct val="125000"/>
              </a:lnSpc>
            </a:pPr>
            <a:r>
              <a:rPr sz="1300" b="0" i="0">
                <a:solidFill>
                  <a:srgbClr val="410F37"/>
                </a:solidFill>
                <a:latin typeface="Inter"/>
              </a:rPr>
              <a:t>Tell the organisation's story well and show impact to clients and funders; consider dedicated fundraising capacity.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972800" cy="548640"/>
          </a:xfrm>
          <a:prstGeom prst="rect">
            <a:avLst/>
          </a:prstGeom>
          <a:noFill/>
        </p:spPr>
        <p:txBody>
          <a:bodyPr wrap="square" anchor="t" lIns="0" rIns="0" tIns="0" bIns="0">
            <a:spAutoFit/>
          </a:bodyPr>
          <a:lstStyle/>
          <a:p>
            <a:pPr algn="l">
              <a:lnSpc>
                <a:spcPct val="115000"/>
              </a:lnSpc>
            </a:pPr>
            <a:r>
              <a:rPr sz="2800" b="1" i="0">
                <a:solidFill>
                  <a:srgbClr val="410F37"/>
                </a:solidFill>
                <a:latin typeface="Fagun Bold"/>
              </a:rPr>
              <a:t>Strategic outlook and watch-items</a:t>
            </a:r>
          </a:p>
        </p:txBody>
      </p:sp>
      <p:sp>
        <p:nvSpPr>
          <p:cNvPr id="4" name="Rectangle 3"/>
          <p:cNvSpPr/>
          <p:nvPr/>
        </p:nvSpPr>
        <p:spPr>
          <a:xfrm>
            <a:off x="640080" y="1097280"/>
            <a:ext cx="548640" cy="54864"/>
          </a:xfrm>
          <a:prstGeom prst="rect">
            <a:avLst/>
          </a:prstGeom>
          <a:solidFill>
            <a:srgbClr val="E12D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972800" cy="457200"/>
          </a:xfrm>
          <a:prstGeom prst="rect">
            <a:avLst/>
          </a:prstGeom>
          <a:noFill/>
        </p:spPr>
        <p:txBody>
          <a:bodyPr wrap="square" anchor="t" lIns="0" rIns="0" tIns="0" bIns="0">
            <a:spAutoFit/>
          </a:bodyPr>
          <a:lstStyle/>
          <a:p>
            <a:pPr algn="l">
              <a:lnSpc>
                <a:spcPct val="115000"/>
              </a:lnSpc>
            </a:pPr>
            <a:r>
              <a:rPr sz="1300" b="0" i="1">
                <a:solidFill>
                  <a:srgbClr val="E12D64"/>
                </a:solidFill>
                <a:latin typeface="Inter"/>
              </a:rPr>
              <a:t>Things to keep in view between now and the February 2027 meeting.</a:t>
            </a:r>
          </a:p>
        </p:txBody>
      </p:sp>
      <p:sp>
        <p:nvSpPr>
          <p:cNvPr id="6" name="Rectangle 5"/>
          <p:cNvSpPr/>
          <p:nvPr/>
        </p:nvSpPr>
        <p:spPr>
          <a:xfrm>
            <a:off x="640080" y="1737360"/>
            <a:ext cx="137160" cy="685800"/>
          </a:xfrm>
          <a:prstGeom prst="rect">
            <a:avLst/>
          </a:prstGeom>
          <a:solidFill>
            <a:srgbClr val="E12D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37360"/>
            <a:ext cx="10698480" cy="320040"/>
          </a:xfrm>
          <a:prstGeom prst="rect">
            <a:avLst/>
          </a:prstGeom>
          <a:noFill/>
        </p:spPr>
        <p:txBody>
          <a:bodyPr wrap="square" anchor="t" lIns="0" rIns="0" tIns="0" bIns="0">
            <a:spAutoFit/>
          </a:bodyPr>
          <a:lstStyle/>
          <a:p>
            <a:pPr algn="l">
              <a:lnSpc>
                <a:spcPct val="115000"/>
              </a:lnSpc>
            </a:pPr>
            <a:r>
              <a:rPr sz="1200" b="1" i="0">
                <a:solidFill>
                  <a:srgbClr val="410F37"/>
                </a:solidFill>
                <a:latin typeface="Fagun Bold"/>
              </a:rPr>
              <a:t>Cash position</a:t>
            </a:r>
          </a:p>
        </p:txBody>
      </p:sp>
      <p:sp>
        <p:nvSpPr>
          <p:cNvPr id="8" name="TextBox 7"/>
          <p:cNvSpPr txBox="1"/>
          <p:nvPr/>
        </p:nvSpPr>
        <p:spPr>
          <a:xfrm>
            <a:off x="914400" y="2011680"/>
            <a:ext cx="10698480" cy="457200"/>
          </a:xfrm>
          <a:prstGeom prst="rect">
            <a:avLst/>
          </a:prstGeom>
          <a:noFill/>
        </p:spPr>
        <p:txBody>
          <a:bodyPr wrap="square" anchor="t" lIns="0" rIns="0" tIns="0" bIns="0">
            <a:spAutoFit/>
          </a:bodyPr>
          <a:lstStyle/>
          <a:p>
            <a:pPr algn="l">
              <a:lnSpc>
                <a:spcPct val="115000"/>
              </a:lnSpc>
            </a:pPr>
            <a:r>
              <a:rPr sz="1000" b="0" i="0">
                <a:solidFill>
                  <a:srgbClr val="410F37"/>
                </a:solidFill>
                <a:latin typeface="Inter"/>
              </a:rPr>
              <a:t>Cash USD 33,679 at 30 September; no contracted receipts until the FCDO Phase II claim (indicatively November) and OSF Year 3 (January 2027). Per Stacy McGill's Q3 Board Finance Report.</a:t>
            </a:r>
          </a:p>
        </p:txBody>
      </p:sp>
      <p:sp>
        <p:nvSpPr>
          <p:cNvPr id="9" name="Rectangle 8"/>
          <p:cNvSpPr/>
          <p:nvPr/>
        </p:nvSpPr>
        <p:spPr>
          <a:xfrm>
            <a:off x="640080" y="2487168"/>
            <a:ext cx="137160" cy="685800"/>
          </a:xfrm>
          <a:prstGeom prst="rect">
            <a:avLst/>
          </a:prstGeom>
          <a:solidFill>
            <a:srgbClr val="E12D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487168"/>
            <a:ext cx="10698480" cy="320040"/>
          </a:xfrm>
          <a:prstGeom prst="rect">
            <a:avLst/>
          </a:prstGeom>
          <a:noFill/>
        </p:spPr>
        <p:txBody>
          <a:bodyPr wrap="square" anchor="t" lIns="0" rIns="0" tIns="0" bIns="0">
            <a:spAutoFit/>
          </a:bodyPr>
          <a:lstStyle/>
          <a:p>
            <a:pPr algn="l">
              <a:lnSpc>
                <a:spcPct val="115000"/>
              </a:lnSpc>
            </a:pPr>
            <a:r>
              <a:rPr sz="1200" b="1" i="0">
                <a:solidFill>
                  <a:srgbClr val="410F37"/>
                </a:solidFill>
                <a:latin typeface="Fagun Bold"/>
              </a:rPr>
              <a:t>Strategic framing</a:t>
            </a:r>
          </a:p>
        </p:txBody>
      </p:sp>
      <p:sp>
        <p:nvSpPr>
          <p:cNvPr id="11" name="TextBox 10"/>
          <p:cNvSpPr txBox="1"/>
          <p:nvPr/>
        </p:nvSpPr>
        <p:spPr>
          <a:xfrm>
            <a:off x="914400" y="2761488"/>
            <a:ext cx="10698480" cy="457200"/>
          </a:xfrm>
          <a:prstGeom prst="rect">
            <a:avLst/>
          </a:prstGeom>
          <a:noFill/>
        </p:spPr>
        <p:txBody>
          <a:bodyPr wrap="square" anchor="t" lIns="0" rIns="0" tIns="0" bIns="0">
            <a:spAutoFit/>
          </a:bodyPr>
          <a:lstStyle/>
          <a:p>
            <a:pPr algn="l">
              <a:lnSpc>
                <a:spcPct val="115000"/>
              </a:lnSpc>
            </a:pPr>
            <a:r>
              <a:rPr sz="1000" b="0" i="0">
                <a:solidFill>
                  <a:srgbClr val="410F37"/>
                </a:solidFill>
                <a:latin typeface="Inter"/>
              </a:rPr>
              <a:t>The retreat broadened the framing of the board-approved 2024–29 strategy from serious international crimes to human rights violations — brought to the board for discussion.</a:t>
            </a:r>
          </a:p>
        </p:txBody>
      </p:sp>
      <p:sp>
        <p:nvSpPr>
          <p:cNvPr id="12" name="Rectangle 11"/>
          <p:cNvSpPr/>
          <p:nvPr/>
        </p:nvSpPr>
        <p:spPr>
          <a:xfrm>
            <a:off x="640080" y="3236976"/>
            <a:ext cx="137160" cy="685800"/>
          </a:xfrm>
          <a:prstGeom prst="rect">
            <a:avLst/>
          </a:prstGeom>
          <a:solidFill>
            <a:srgbClr val="E12D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236976"/>
            <a:ext cx="10698480" cy="320040"/>
          </a:xfrm>
          <a:prstGeom prst="rect">
            <a:avLst/>
          </a:prstGeom>
          <a:noFill/>
        </p:spPr>
        <p:txBody>
          <a:bodyPr wrap="square" anchor="t" lIns="0" rIns="0" tIns="0" bIns="0">
            <a:spAutoFit/>
          </a:bodyPr>
          <a:lstStyle/>
          <a:p>
            <a:pPr algn="l">
              <a:lnSpc>
                <a:spcPct val="115000"/>
              </a:lnSpc>
            </a:pPr>
            <a:r>
              <a:rPr sz="1200" b="1" i="0">
                <a:solidFill>
                  <a:srgbClr val="410F37"/>
                </a:solidFill>
                <a:latin typeface="Fagun Bold"/>
              </a:rPr>
              <a:t>Rohingya work</a:t>
            </a:r>
          </a:p>
        </p:txBody>
      </p:sp>
      <p:sp>
        <p:nvSpPr>
          <p:cNvPr id="14" name="TextBox 13"/>
          <p:cNvSpPr txBox="1"/>
          <p:nvPr/>
        </p:nvSpPr>
        <p:spPr>
          <a:xfrm>
            <a:off x="914400" y="3511296"/>
            <a:ext cx="10698480" cy="457200"/>
          </a:xfrm>
          <a:prstGeom prst="rect">
            <a:avLst/>
          </a:prstGeom>
          <a:noFill/>
        </p:spPr>
        <p:txBody>
          <a:bodyPr wrap="square" anchor="t" lIns="0" rIns="0" tIns="0" bIns="0">
            <a:spAutoFit/>
          </a:bodyPr>
          <a:lstStyle/>
          <a:p>
            <a:pPr algn="l">
              <a:lnSpc>
                <a:spcPct val="115000"/>
              </a:lnSpc>
            </a:pPr>
            <a:r>
              <a:rPr sz="1000" b="0" i="0">
                <a:solidFill>
                  <a:srgbClr val="410F37"/>
                </a:solidFill>
                <a:latin typeface="Inter"/>
              </a:rPr>
              <a:t>Progress to be taken stock of around March 2027, between board meetings; the ED will report the outcome to the board.</a:t>
            </a:r>
          </a:p>
        </p:txBody>
      </p:sp>
      <p:sp>
        <p:nvSpPr>
          <p:cNvPr id="15" name="Rectangle 14"/>
          <p:cNvSpPr/>
          <p:nvPr/>
        </p:nvSpPr>
        <p:spPr>
          <a:xfrm>
            <a:off x="640080" y="3986784"/>
            <a:ext cx="137160" cy="685800"/>
          </a:xfrm>
          <a:prstGeom prst="rect">
            <a:avLst/>
          </a:prstGeom>
          <a:solidFill>
            <a:srgbClr val="E12D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986784"/>
            <a:ext cx="10698480" cy="320040"/>
          </a:xfrm>
          <a:prstGeom prst="rect">
            <a:avLst/>
          </a:prstGeom>
          <a:noFill/>
        </p:spPr>
        <p:txBody>
          <a:bodyPr wrap="square" anchor="t" lIns="0" rIns="0" tIns="0" bIns="0">
            <a:spAutoFit/>
          </a:bodyPr>
          <a:lstStyle/>
          <a:p>
            <a:pPr algn="l">
              <a:lnSpc>
                <a:spcPct val="115000"/>
              </a:lnSpc>
            </a:pPr>
            <a:r>
              <a:rPr sz="1200" b="1" i="0">
                <a:solidFill>
                  <a:srgbClr val="410F37"/>
                </a:solidFill>
                <a:latin typeface="Fagun Bold"/>
              </a:rPr>
              <a:t>Fundraising and post-OSF horizon</a:t>
            </a:r>
          </a:p>
        </p:txBody>
      </p:sp>
      <p:sp>
        <p:nvSpPr>
          <p:cNvPr id="17" name="TextBox 16"/>
          <p:cNvSpPr txBox="1"/>
          <p:nvPr/>
        </p:nvSpPr>
        <p:spPr>
          <a:xfrm>
            <a:off x="914400" y="4261104"/>
            <a:ext cx="10698480" cy="457200"/>
          </a:xfrm>
          <a:prstGeom prst="rect">
            <a:avLst/>
          </a:prstGeom>
          <a:noFill/>
        </p:spPr>
        <p:txBody>
          <a:bodyPr wrap="square" anchor="t" lIns="0" rIns="0" tIns="0" bIns="0">
            <a:spAutoFit/>
          </a:bodyPr>
          <a:lstStyle/>
          <a:p>
            <a:pPr algn="l">
              <a:lnSpc>
                <a:spcPct val="115000"/>
              </a:lnSpc>
            </a:pPr>
            <a:r>
              <a:rPr sz="1000" b="0" i="0">
                <a:solidFill>
                  <a:srgbClr val="410F37"/>
                </a:solidFill>
                <a:latin typeface="Inter"/>
              </a:rPr>
              <a:t>Dedicated fundraising capacity under consideration — continues the Q2 item 6 discussion on matching ambition to fundraising.</a:t>
            </a:r>
          </a:p>
        </p:txBody>
      </p:sp>
      <p:sp>
        <p:nvSpPr>
          <p:cNvPr id="18" name="Rectangle 17"/>
          <p:cNvSpPr/>
          <p:nvPr/>
        </p:nvSpPr>
        <p:spPr>
          <a:xfrm>
            <a:off x="640080" y="4736592"/>
            <a:ext cx="137160" cy="685800"/>
          </a:xfrm>
          <a:prstGeom prst="rect">
            <a:avLst/>
          </a:prstGeom>
          <a:solidFill>
            <a:srgbClr val="E12D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736592"/>
            <a:ext cx="10698480" cy="320040"/>
          </a:xfrm>
          <a:prstGeom prst="rect">
            <a:avLst/>
          </a:prstGeom>
          <a:noFill/>
        </p:spPr>
        <p:txBody>
          <a:bodyPr wrap="square" anchor="t" lIns="0" rIns="0" tIns="0" bIns="0">
            <a:spAutoFit/>
          </a:bodyPr>
          <a:lstStyle/>
          <a:p>
            <a:pPr algn="l">
              <a:lnSpc>
                <a:spcPct val="115000"/>
              </a:lnSpc>
            </a:pPr>
            <a:r>
              <a:rPr sz="1200" b="1" i="0">
                <a:solidFill>
                  <a:srgbClr val="410F37"/>
                </a:solidFill>
                <a:latin typeface="Fagun Bold"/>
              </a:rPr>
              <a:t>Governance and entity</a:t>
            </a:r>
          </a:p>
        </p:txBody>
      </p:sp>
      <p:sp>
        <p:nvSpPr>
          <p:cNvPr id="20" name="TextBox 19"/>
          <p:cNvSpPr txBox="1"/>
          <p:nvPr/>
        </p:nvSpPr>
        <p:spPr>
          <a:xfrm>
            <a:off x="914400" y="5010912"/>
            <a:ext cx="10698480" cy="457200"/>
          </a:xfrm>
          <a:prstGeom prst="rect">
            <a:avLst/>
          </a:prstGeom>
          <a:noFill/>
        </p:spPr>
        <p:txBody>
          <a:bodyPr wrap="square" anchor="t" lIns="0" rIns="0" tIns="0" bIns="0">
            <a:spAutoFit/>
          </a:bodyPr>
          <a:lstStyle/>
          <a:p>
            <a:pPr algn="l">
              <a:lnSpc>
                <a:spcPct val="115000"/>
              </a:lnSpc>
            </a:pPr>
            <a:r>
              <a:rPr sz="1000" b="0" i="0">
                <a:solidFill>
                  <a:srgbClr val="410F37"/>
                </a:solidFill>
                <a:latin typeface="Inter"/>
              </a:rPr>
              <a:t>Legal name change VAI → hūmānus notified to OSF grant contacts; staff contract renewals in progress. Finance detail in Stacy McGill's papers.</a:t>
            </a:r>
          </a:p>
        </p:txBody>
      </p:sp>
      <p:sp>
        <p:nvSpPr>
          <p:cNvPr id="24" name="TextBox 23"/>
          <p:cNvSpPr txBox="1"/>
          <p:nvPr/>
        </p:nvSpPr>
        <p:spPr>
          <a:xfrm>
            <a:off x="640080" y="6492240"/>
            <a:ext cx="7315200" cy="274320"/>
          </a:xfrm>
          <a:prstGeom prst="rect">
            <a:avLst/>
          </a:prstGeom>
          <a:noFill/>
        </p:spPr>
        <p:txBody>
          <a:bodyPr wrap="square" anchor="t" lIns="0" rIns="0" tIns="0" bIns="0">
            <a:spAutoFit/>
          </a:bodyPr>
          <a:lstStyle/>
          <a:p>
            <a:pPr algn="l">
              <a:lnSpc>
                <a:spcPct val="115000"/>
              </a:lnSpc>
            </a:pPr>
            <a:r>
              <a:rPr sz="900" b="0" i="0">
                <a:solidFill>
                  <a:srgbClr val="410F37"/>
                </a:solidFill>
                <a:latin typeface="Inter"/>
              </a:rPr>
              <a:t>hūmānus  ·  Q3 2026 Board Meeting  ·  Operations &amp; Impact Update  ·  DRAFT</a:t>
            </a:r>
          </a:p>
        </p:txBody>
      </p:sp>
      <p:sp>
        <p:nvSpPr>
          <p:cNvPr id="25" name="TextBox 24"/>
          <p:cNvSpPr txBox="1"/>
          <p:nvPr/>
        </p:nvSpPr>
        <p:spPr>
          <a:xfrm>
            <a:off x="10332720" y="6492240"/>
            <a:ext cx="1371600" cy="274320"/>
          </a:xfrm>
          <a:prstGeom prst="rect">
            <a:avLst/>
          </a:prstGeom>
          <a:noFill/>
        </p:spPr>
        <p:txBody>
          <a:bodyPr wrap="square" anchor="t" lIns="0" rIns="0" tIns="0" bIns="0">
            <a:spAutoFit/>
          </a:bodyPr>
          <a:lstStyle/>
          <a:p>
            <a:pPr algn="r">
              <a:lnSpc>
                <a:spcPct val="115000"/>
              </a:lnSpc>
            </a:pPr>
            <a:r>
              <a:rPr sz="900" b="0" i="0">
                <a:solidFill>
                  <a:srgbClr val="410F37"/>
                </a:solidFill>
                <a:latin typeface="Inter"/>
              </a:rPr>
              <a:t>12 / 13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410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3291840"/>
            <a:ext cx="12191695" cy="457200"/>
          </a:xfrm>
          <a:prstGeom prst="rect">
            <a:avLst/>
          </a:prstGeom>
          <a:noFill/>
        </p:spPr>
        <p:txBody>
          <a:bodyPr wrap="square" anchor="t" lIns="0" rIns="0" tIns="0" bIns="0">
            <a:spAutoFit/>
          </a:bodyPr>
          <a:lstStyle/>
          <a:p>
            <a:pPr algn="ctr">
              <a:lnSpc>
                <a:spcPct val="115000"/>
              </a:lnSpc>
            </a:pPr>
            <a:r>
              <a:rPr sz="2200" b="0" i="0">
                <a:solidFill>
                  <a:srgbClr val="FFFFFF"/>
                </a:solidFill>
                <a:latin typeface="Fagun Black"/>
              </a:rPr>
              <a:t>Humanising justice</a:t>
            </a:r>
          </a:p>
        </p:txBody>
      </p:sp>
      <p:sp>
        <p:nvSpPr>
          <p:cNvPr id="5" name="TextBox 4"/>
          <p:cNvSpPr txBox="1"/>
          <p:nvPr/>
        </p:nvSpPr>
        <p:spPr>
          <a:xfrm>
            <a:off x="0" y="3749039"/>
            <a:ext cx="12191695" cy="365760"/>
          </a:xfrm>
          <a:prstGeom prst="rect">
            <a:avLst/>
          </a:prstGeom>
          <a:noFill/>
        </p:spPr>
        <p:txBody>
          <a:bodyPr wrap="square" anchor="t" lIns="0" rIns="0" tIns="0" bIns="0">
            <a:spAutoFit/>
          </a:bodyPr>
          <a:lstStyle/>
          <a:p>
            <a:pPr algn="ctr">
              <a:lnSpc>
                <a:spcPct val="115000"/>
              </a:lnSpc>
            </a:pPr>
            <a:r>
              <a:rPr sz="1100" b="0" i="0">
                <a:solidFill>
                  <a:srgbClr val="96FF14"/>
                </a:solidFill>
                <a:latin typeface="Fagun Medium"/>
              </a:rPr>
              <a:t>ACCOUNTABILITY  ·  COMMUNITY  ·  EVIDENCE</a:t>
            </a:r>
          </a:p>
        </p:txBody>
      </p:sp>
      <p:sp>
        <p:nvSpPr>
          <p:cNvPr id="6" name="TextBox 5"/>
          <p:cNvSpPr txBox="1"/>
          <p:nvPr/>
        </p:nvSpPr>
        <p:spPr>
          <a:xfrm>
            <a:off x="0" y="4937760"/>
            <a:ext cx="12191695" cy="365760"/>
          </a:xfrm>
          <a:prstGeom prst="rect">
            <a:avLst/>
          </a:prstGeom>
          <a:noFill/>
        </p:spPr>
        <p:txBody>
          <a:bodyPr wrap="square" anchor="t" lIns="0" rIns="0" tIns="0" bIns="0">
            <a:spAutoFit/>
          </a:bodyPr>
          <a:lstStyle/>
          <a:p>
            <a:pPr algn="ctr">
              <a:lnSpc>
                <a:spcPct val="115000"/>
              </a:lnSpc>
            </a:pPr>
            <a:r>
              <a:rPr sz="1200" b="0" i="0">
                <a:solidFill>
                  <a:srgbClr val="FFFFFF"/>
                </a:solidFill>
                <a:latin typeface="Inter"/>
              </a:rPr>
              <a:t>www.humanus.co  ·  hello@humanus.co</a:t>
            </a:r>
          </a:p>
        </p:txBody>
      </p:sp>
      <p:sp>
        <p:nvSpPr>
          <p:cNvPr id="7" name="TextBox 6"/>
          <p:cNvSpPr txBox="1"/>
          <p:nvPr/>
        </p:nvSpPr>
        <p:spPr>
          <a:xfrm>
            <a:off x="0" y="6446520"/>
            <a:ext cx="12191695" cy="274320"/>
          </a:xfrm>
          <a:prstGeom prst="rect">
            <a:avLst/>
          </a:prstGeom>
          <a:noFill/>
        </p:spPr>
        <p:txBody>
          <a:bodyPr wrap="square" anchor="t" lIns="0" rIns="0" tIns="0" bIns="0">
            <a:spAutoFit/>
          </a:bodyPr>
          <a:lstStyle/>
          <a:p>
            <a:pPr algn="ctr">
              <a:lnSpc>
                <a:spcPct val="115000"/>
              </a:lnSpc>
            </a:pPr>
            <a:r>
              <a:rPr sz="1000" b="0" i="1">
                <a:solidFill>
                  <a:srgbClr val="96FF14"/>
                </a:solidFill>
                <a:latin typeface="Inter"/>
              </a:rPr>
              <a:t>Q3 2026 Board Meeting  ·  Operations &amp; Impact Update  ·  Sponsor: Eva Buzo (ED)  ·  DRAFT</a:t>
            </a:r>
          </a:p>
        </p:txBody>
      </p:sp>
      <p:pic>
        <p:nvPicPr>
          <p:cNvPr id="8" name="Picture 7" descr="humanus_logo_master_bold.png"/>
          <p:cNvPicPr>
            <a:picLocks noChangeAspect="1"/>
          </p:cNvPicPr>
          <p:nvPr/>
        </p:nvPicPr>
        <p:blipFill>
          <a:blip r:embed="rId2"/>
          <a:stretch>
            <a:fillRect/>
          </a:stretch>
        </p:blipFill>
        <p:spPr>
          <a:xfrm>
            <a:off x="1341086" y="1011143"/>
            <a:ext cx="9509522" cy="328123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