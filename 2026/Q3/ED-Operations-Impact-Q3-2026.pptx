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_d9m1Zl0Pro?si=I3CIYQGk4J4UphfQ" TargetMode="Externa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10F3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534095" y="0"/>
            <a:ext cx="3657600" cy="6858000"/>
          </a:xfrm>
          <a:prstGeom prst="rect">
            <a:avLst/>
          </a:prstGeom>
        </p:spPr>
      </p:pic>
      <p:pic>
        <p:nvPicPr>
          <p:cNvPr id="3" name="Picture 2" descr="humanus_logo_master_bold.png"/>
          <p:cNvPicPr>
            <a:picLocks noChangeAspect="1"/>
          </p:cNvPicPr>
          <p:nvPr/>
        </p:nvPicPr>
        <p:blipFill>
          <a:blip r:embed="rId3"/>
          <a:stretch>
            <a:fillRect/>
          </a:stretch>
        </p:blipFill>
        <p:spPr>
          <a:xfrm>
            <a:off x="228591" y="640071"/>
            <a:ext cx="5852160" cy="2019272"/>
          </a:xfrm>
          <a:prstGeom prst="rect">
            <a:avLst/>
          </a:prstGeom>
        </p:spPr>
      </p:pic>
      <p:sp>
        <p:nvSpPr>
          <p:cNvPr id="4" name="TextBox 3"/>
          <p:cNvSpPr txBox="1"/>
          <p:nvPr/>
        </p:nvSpPr>
        <p:spPr>
          <a:xfrm>
            <a:off x="822960" y="2585974"/>
            <a:ext cx="7162495" cy="914400"/>
          </a:xfrm>
          <a:prstGeom prst="rect">
            <a:avLst/>
          </a:prstGeom>
          <a:noFill/>
        </p:spPr>
        <p:txBody>
          <a:bodyPr wrap="square" lIns="0" rIns="0" tIns="0" bIns="0" anchor="t">
            <a:spAutoFit/>
          </a:bodyPr>
          <a:lstStyle/>
          <a:p>
            <a:pPr algn="l">
              <a:spcBef>
                <a:spcPts val="0"/>
              </a:spcBef>
              <a:spcAft>
                <a:spcPts val="400"/>
              </a:spcAft>
            </a:pPr>
            <a:r>
              <a:rPr sz="2000" b="0" i="0">
                <a:solidFill>
                  <a:srgbClr val="96FF14"/>
                </a:solidFill>
                <a:latin typeface="Fagun Medium"/>
                <a:ea typeface="Fagun Medium"/>
                <a:cs typeface="Fagun Medium"/>
              </a:rPr>
              <a:t>update since 29 June  ·  Q3 2026 Board Meeting</a:t>
            </a:r>
          </a:p>
          <a:p>
            <a:pPr algn="l">
              <a:spcBef>
                <a:spcPts val="0"/>
              </a:spcBef>
              <a:spcAft>
                <a:spcPts val="0"/>
              </a:spcAft>
            </a:pPr>
            <a:r>
              <a:rPr sz="1600" b="0" i="0">
                <a:solidFill>
                  <a:srgbClr val="96FF14"/>
                </a:solidFill>
                <a:latin typeface="Fagun"/>
                <a:ea typeface="Fagun"/>
                <a:cs typeface="Fagun"/>
              </a:rPr>
              <a:t>29 October 2026</a:t>
            </a:r>
          </a:p>
        </p:txBody>
      </p:sp>
      <p:sp>
        <p:nvSpPr>
          <p:cNvPr id="5" name="TextBox 4"/>
          <p:cNvSpPr txBox="1"/>
          <p:nvPr/>
        </p:nvSpPr>
        <p:spPr>
          <a:xfrm>
            <a:off x="822960" y="4343400"/>
            <a:ext cx="7162495" cy="914400"/>
          </a:xfrm>
          <a:prstGeom prst="rect">
            <a:avLst/>
          </a:prstGeom>
          <a:noFill/>
        </p:spPr>
        <p:txBody>
          <a:bodyPr wrap="square" lIns="0" rIns="0" tIns="0" bIns="0" anchor="t">
            <a:spAutoFit/>
          </a:bodyPr>
          <a:lstStyle/>
          <a:p>
            <a:pPr algn="l">
              <a:spcBef>
                <a:spcPts val="0"/>
              </a:spcBef>
              <a:spcAft>
                <a:spcPts val="600"/>
              </a:spcAft>
            </a:pPr>
            <a:r>
              <a:rPr sz="3000" b="0" i="0">
                <a:solidFill>
                  <a:srgbClr val="E12D64"/>
                </a:solidFill>
                <a:latin typeface="Fagun Black"/>
                <a:ea typeface="Fagun Black"/>
                <a:cs typeface="Fagun Black"/>
              </a:rPr>
              <a:t>Humanising Justice</a:t>
            </a:r>
          </a:p>
          <a:p>
            <a:pPr algn="l">
              <a:spcBef>
                <a:spcPts val="0"/>
              </a:spcBef>
              <a:spcAft>
                <a:spcPts val="0"/>
              </a:spcAft>
            </a:pPr>
            <a:r>
              <a:rPr sz="1200" b="0" i="0">
                <a:solidFill>
                  <a:srgbClr val="96FF14"/>
                </a:solidFill>
                <a:latin typeface="Fagun Medium"/>
                <a:ea typeface="Fagun Medium"/>
                <a:cs typeface="Fagun Medium"/>
              </a:rPr>
              <a:t>ACCOUNTABILITY  ·  COMMUNITY  ·  EVIDENCE</a:t>
            </a:r>
          </a:p>
        </p:txBody>
      </p:sp>
      <p:sp>
        <p:nvSpPr>
          <p:cNvPr id="6" name="TextBox 5"/>
          <p:cNvSpPr txBox="1"/>
          <p:nvPr/>
        </p:nvSpPr>
        <p:spPr>
          <a:xfrm>
            <a:off x="822960" y="6172200"/>
            <a:ext cx="7345375" cy="365760"/>
          </a:xfrm>
          <a:prstGeom prst="rect">
            <a:avLst/>
          </a:prstGeom>
          <a:noFill/>
        </p:spPr>
        <p:txBody>
          <a:bodyPr wrap="square" lIns="0" rIns="0" tIns="0" bIns="0" anchor="t">
            <a:spAutoFit/>
          </a:bodyPr>
          <a:lstStyle/>
          <a:p>
            <a:pPr algn="l">
              <a:spcBef>
                <a:spcPts val="0"/>
              </a:spcBef>
              <a:spcAft>
                <a:spcPts val="0"/>
              </a:spcAft>
            </a:pPr>
            <a:r>
              <a:rPr sz="1000" b="0" i="1">
                <a:solidFill>
                  <a:srgbClr val="96FF14"/>
                </a:solidFill>
                <a:latin typeface="Fagun"/>
                <a:ea typeface="Fagun"/>
                <a:cs typeface="Fagun"/>
              </a:rPr>
              <a:t>Sponsor: Eva Buzo, Executive Director  ·  Agenda item TBC  ·  15 minutes  ·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Three goals guide everything we do</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Our 2024–29 strategy frames the year.</a:t>
            </a:r>
          </a:p>
        </p:txBody>
      </p:sp>
      <p:sp>
        <p:nvSpPr>
          <p:cNvPr id="4" name="Goal 1"/>
          <p:cNvSpPr/>
          <p:nvPr/>
        </p:nvSpPr>
        <p:spPr>
          <a:xfrm>
            <a:off x="640080" y="1874519"/>
            <a:ext cx="3454298" cy="3337560"/>
          </a:xfrm>
          <a:prstGeom prst="rect">
            <a:avLst/>
          </a:prstGeom>
          <a:solidFill>
            <a:srgbClr val="410F37"/>
          </a:solidFill>
          <a:ln>
            <a:noFill/>
          </a:ln>
          <a:effectLst/>
        </p:spPr>
        <p:txBody>
          <a:bodyPr rtlCol="0" anchor="ctr"/>
          <a:lstStyle/>
          <a:p>
            <a:pPr algn="ctr"/>
          </a:p>
        </p:txBody>
      </p:sp>
      <p:sp>
        <p:nvSpPr>
          <p:cNvPr id="5" name="TextBox 4"/>
          <p:cNvSpPr txBox="1"/>
          <p:nvPr/>
        </p:nvSpPr>
        <p:spPr>
          <a:xfrm>
            <a:off x="960119" y="2148839"/>
            <a:ext cx="2814218" cy="1097280"/>
          </a:xfrm>
          <a:prstGeom prst="rect">
            <a:avLst/>
          </a:prstGeom>
          <a:noFill/>
        </p:spPr>
        <p:txBody>
          <a:bodyPr wrap="square" lIns="0" rIns="0" tIns="0" bIns="0" anchor="t">
            <a:spAutoFit/>
          </a:bodyPr>
          <a:lstStyle/>
          <a:p>
            <a:pPr algn="l">
              <a:spcBef>
                <a:spcPts val="0"/>
              </a:spcBef>
              <a:spcAft>
                <a:spcPts val="0"/>
              </a:spcAft>
            </a:pPr>
            <a:r>
              <a:rPr sz="7200" b="0" i="0">
                <a:solidFill>
                  <a:srgbClr val="96FF14"/>
                </a:solidFill>
                <a:latin typeface="Fagun Black"/>
                <a:ea typeface="Fagun Black"/>
                <a:cs typeface="Fagun Black"/>
              </a:rPr>
              <a:t>1</a:t>
            </a:r>
          </a:p>
        </p:txBody>
      </p:sp>
      <p:sp>
        <p:nvSpPr>
          <p:cNvPr id="6" name="TextBox 5"/>
          <p:cNvSpPr txBox="1"/>
          <p:nvPr/>
        </p:nvSpPr>
        <p:spPr>
          <a:xfrm>
            <a:off x="960119" y="3383279"/>
            <a:ext cx="2814218" cy="1645920"/>
          </a:xfrm>
          <a:prstGeom prst="rect">
            <a:avLst/>
          </a:prstGeom>
          <a:noFill/>
        </p:spPr>
        <p:txBody>
          <a:bodyPr wrap="square" lIns="0" rIns="0" tIns="0" bIns="0" anchor="t">
            <a:spAutoFit/>
          </a:bodyPr>
          <a:lstStyle/>
          <a:p>
            <a:pPr algn="l">
              <a:lnSpc>
                <a:spcPct val="110000"/>
              </a:lnSpc>
              <a:spcBef>
                <a:spcPts val="0"/>
              </a:spcBef>
              <a:spcAft>
                <a:spcPts val="0"/>
              </a:spcAft>
            </a:pPr>
            <a:r>
              <a:rPr sz="1800" b="0" i="0">
                <a:solidFill>
                  <a:srgbClr val="96FF14"/>
                </a:solidFill>
                <a:latin typeface="Fagun Medium"/>
                <a:ea typeface="Fagun Medium"/>
                <a:cs typeface="Fagun Medium"/>
              </a:rPr>
              <a:t>Victims secure outcomes in line with their own conception of justice.</a:t>
            </a:r>
          </a:p>
        </p:txBody>
      </p:sp>
      <p:sp>
        <p:nvSpPr>
          <p:cNvPr id="7" name="Goal 2"/>
          <p:cNvSpPr/>
          <p:nvPr/>
        </p:nvSpPr>
        <p:spPr>
          <a:xfrm>
            <a:off x="4368698" y="1874519"/>
            <a:ext cx="3454298" cy="3337560"/>
          </a:xfrm>
          <a:prstGeom prst="rect">
            <a:avLst/>
          </a:prstGeom>
          <a:solidFill>
            <a:srgbClr val="410F37"/>
          </a:solidFill>
          <a:ln>
            <a:noFill/>
          </a:ln>
          <a:effectLst/>
        </p:spPr>
        <p:txBody>
          <a:bodyPr rtlCol="0" anchor="ctr"/>
          <a:lstStyle/>
          <a:p>
            <a:pPr algn="ctr"/>
          </a:p>
        </p:txBody>
      </p:sp>
      <p:sp>
        <p:nvSpPr>
          <p:cNvPr id="8" name="TextBox 7"/>
          <p:cNvSpPr txBox="1"/>
          <p:nvPr/>
        </p:nvSpPr>
        <p:spPr>
          <a:xfrm>
            <a:off x="4688738" y="2148839"/>
            <a:ext cx="2814218" cy="1097280"/>
          </a:xfrm>
          <a:prstGeom prst="rect">
            <a:avLst/>
          </a:prstGeom>
          <a:noFill/>
        </p:spPr>
        <p:txBody>
          <a:bodyPr wrap="square" lIns="0" rIns="0" tIns="0" bIns="0" anchor="t">
            <a:spAutoFit/>
          </a:bodyPr>
          <a:lstStyle/>
          <a:p>
            <a:pPr algn="l">
              <a:spcBef>
                <a:spcPts val="0"/>
              </a:spcBef>
              <a:spcAft>
                <a:spcPts val="0"/>
              </a:spcAft>
            </a:pPr>
            <a:r>
              <a:rPr sz="7200" b="0" i="0">
                <a:solidFill>
                  <a:srgbClr val="96FF14"/>
                </a:solidFill>
                <a:latin typeface="Fagun Black"/>
                <a:ea typeface="Fagun Black"/>
                <a:cs typeface="Fagun Black"/>
              </a:rPr>
              <a:t>2</a:t>
            </a:r>
          </a:p>
        </p:txBody>
      </p:sp>
      <p:sp>
        <p:nvSpPr>
          <p:cNvPr id="9" name="TextBox 8"/>
          <p:cNvSpPr txBox="1"/>
          <p:nvPr/>
        </p:nvSpPr>
        <p:spPr>
          <a:xfrm>
            <a:off x="4688738" y="3383279"/>
            <a:ext cx="2814218" cy="1645920"/>
          </a:xfrm>
          <a:prstGeom prst="rect">
            <a:avLst/>
          </a:prstGeom>
          <a:noFill/>
        </p:spPr>
        <p:txBody>
          <a:bodyPr wrap="square" lIns="0" rIns="0" tIns="0" bIns="0" anchor="t">
            <a:spAutoFit/>
          </a:bodyPr>
          <a:lstStyle/>
          <a:p>
            <a:pPr algn="l">
              <a:lnSpc>
                <a:spcPct val="110000"/>
              </a:lnSpc>
              <a:spcBef>
                <a:spcPts val="0"/>
              </a:spcBef>
              <a:spcAft>
                <a:spcPts val="0"/>
              </a:spcAft>
            </a:pPr>
            <a:r>
              <a:rPr sz="1800" b="0" i="0">
                <a:solidFill>
                  <a:srgbClr val="96FF14"/>
                </a:solidFill>
                <a:latin typeface="Fagun Medium"/>
                <a:ea typeface="Fagun Medium"/>
                <a:cs typeface="Fagun Medium"/>
              </a:rPr>
              <a:t>Victims are empowered by the process of pursuing justice — not just by its results.</a:t>
            </a:r>
          </a:p>
        </p:txBody>
      </p:sp>
      <p:sp>
        <p:nvSpPr>
          <p:cNvPr id="10" name="Goal 3"/>
          <p:cNvSpPr/>
          <p:nvPr/>
        </p:nvSpPr>
        <p:spPr>
          <a:xfrm>
            <a:off x="8097316" y="1874519"/>
            <a:ext cx="3454298" cy="3337560"/>
          </a:xfrm>
          <a:prstGeom prst="rect">
            <a:avLst/>
          </a:prstGeom>
          <a:solidFill>
            <a:srgbClr val="410F37"/>
          </a:solidFill>
          <a:ln>
            <a:noFill/>
          </a:ln>
          <a:effectLst/>
        </p:spPr>
        <p:txBody>
          <a:bodyPr rtlCol="0" anchor="ctr"/>
          <a:lstStyle/>
          <a:p>
            <a:pPr algn="ctr"/>
          </a:p>
        </p:txBody>
      </p:sp>
      <p:sp>
        <p:nvSpPr>
          <p:cNvPr id="11" name="TextBox 10"/>
          <p:cNvSpPr txBox="1"/>
          <p:nvPr/>
        </p:nvSpPr>
        <p:spPr>
          <a:xfrm>
            <a:off x="8417356" y="2148839"/>
            <a:ext cx="2814218" cy="1097280"/>
          </a:xfrm>
          <a:prstGeom prst="rect">
            <a:avLst/>
          </a:prstGeom>
          <a:noFill/>
        </p:spPr>
        <p:txBody>
          <a:bodyPr wrap="square" lIns="0" rIns="0" tIns="0" bIns="0" anchor="t">
            <a:spAutoFit/>
          </a:bodyPr>
          <a:lstStyle/>
          <a:p>
            <a:pPr algn="l">
              <a:spcBef>
                <a:spcPts val="0"/>
              </a:spcBef>
              <a:spcAft>
                <a:spcPts val="0"/>
              </a:spcAft>
            </a:pPr>
            <a:r>
              <a:rPr sz="7200" b="0" i="0">
                <a:solidFill>
                  <a:srgbClr val="96FF14"/>
                </a:solidFill>
                <a:latin typeface="Fagun Black"/>
                <a:ea typeface="Fagun Black"/>
                <a:cs typeface="Fagun Black"/>
              </a:rPr>
              <a:t>3</a:t>
            </a:r>
          </a:p>
        </p:txBody>
      </p:sp>
      <p:sp>
        <p:nvSpPr>
          <p:cNvPr id="12" name="TextBox 11"/>
          <p:cNvSpPr txBox="1"/>
          <p:nvPr/>
        </p:nvSpPr>
        <p:spPr>
          <a:xfrm>
            <a:off x="8417356" y="3383279"/>
            <a:ext cx="2814218" cy="1645920"/>
          </a:xfrm>
          <a:prstGeom prst="rect">
            <a:avLst/>
          </a:prstGeom>
          <a:noFill/>
        </p:spPr>
        <p:txBody>
          <a:bodyPr wrap="square" lIns="0" rIns="0" tIns="0" bIns="0" anchor="t">
            <a:spAutoFit/>
          </a:bodyPr>
          <a:lstStyle/>
          <a:p>
            <a:pPr algn="l">
              <a:lnSpc>
                <a:spcPct val="110000"/>
              </a:lnSpc>
              <a:spcBef>
                <a:spcPts val="0"/>
              </a:spcBef>
              <a:spcAft>
                <a:spcPts val="0"/>
              </a:spcAft>
            </a:pPr>
            <a:r>
              <a:rPr sz="1800" b="0" i="0">
                <a:solidFill>
                  <a:srgbClr val="96FF14"/>
                </a:solidFill>
                <a:latin typeface="Fagun Medium"/>
                <a:ea typeface="Fagun Medium"/>
                <a:cs typeface="Fagun Medium"/>
              </a:rPr>
              <a:t>Justice processes are transformed to put victims at the centre.</a:t>
            </a:r>
          </a:p>
        </p:txBody>
      </p:sp>
      <p:sp>
        <p:nvSpPr>
          <p:cNvPr id="13" name="TextBox 12"/>
          <p:cNvSpPr txBox="1"/>
          <p:nvPr/>
        </p:nvSpPr>
        <p:spPr>
          <a:xfrm>
            <a:off x="640080" y="5577840"/>
            <a:ext cx="10911535" cy="45720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The September retreat broadened our framing from serious international crimes to human rights violations (slide 9).</a:t>
            </a:r>
          </a:p>
        </p:txBody>
      </p:sp>
      <p:sp>
        <p:nvSpPr>
          <p:cNvPr id="14"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15"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Where the work has sat since June</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29 June – 12 October 2026, by funded programme and other significant strands.</a:t>
            </a:r>
          </a:p>
        </p:txBody>
      </p:sp>
      <p:graphicFrame>
        <p:nvGraphicFramePr>
          <p:cNvPr id="4" name="Programme table"/>
          <p:cNvGraphicFramePr>
            <a:graphicFrameLocks noGrp="1"/>
          </p:cNvGraphicFramePr>
          <p:nvPr/>
        </p:nvGraphicFramePr>
        <p:xfrm>
          <a:off x="640080" y="1874519"/>
          <a:ext cx="10911535" cy="3429000"/>
        </p:xfrm>
        <a:graphic>
          <a:graphicData uri="http://schemas.openxmlformats.org/drawingml/2006/table">
            <a:tbl>
              <a:tblPr firstRow="0" bandRow="0"/>
              <a:tblGrid>
                <a:gridCol w="6035040"/>
                <a:gridCol w="4876495"/>
              </a:tblGrid>
              <a:tr h="548640">
                <a:tc>
                  <a:txBody>
                    <a:bodyPr wrap="square"/>
                    <a:lstStyle/>
                    <a:p>
                      <a:pPr algn="l">
                        <a:spcBef>
                          <a:spcPts val="0"/>
                        </a:spcBef>
                        <a:spcAft>
                          <a:spcPts val="0"/>
                        </a:spcAft>
                      </a:pPr>
                      <a:r>
                        <a:rPr sz="1400" b="0" i="0">
                          <a:solidFill>
                            <a:srgbClr val="96FF14"/>
                          </a:solidFill>
                          <a:latin typeface="Fagun Bold"/>
                          <a:ea typeface="Fagun Bold"/>
                          <a:cs typeface="Fagun Bold"/>
                        </a:rPr>
                        <a:t>Programme / strand</a:t>
                      </a:r>
                    </a:p>
                  </a:txBody>
                  <a:tcPr marL="182880" marR="182880" marT="73152" marB="73152" anchor="ctr">
                    <a:lnL w="0">
                      <a:noFill/>
                    </a:lnL>
                    <a:lnR w="0">
                      <a:noFill/>
                    </a:lnR>
                    <a:lnT w="0">
                      <a:noFill/>
                    </a:lnT>
                    <a:lnB w="12700">
                      <a:solidFill>
                        <a:srgbClr val="410F37"/>
                      </a:solidFill>
                    </a:lnB>
                    <a:solidFill>
                      <a:srgbClr val="410F37"/>
                    </a:solidFill>
                  </a:tcPr>
                </a:tc>
                <a:tc>
                  <a:txBody>
                    <a:bodyPr wrap="square"/>
                    <a:lstStyle/>
                    <a:p>
                      <a:pPr algn="l">
                        <a:spcBef>
                          <a:spcPts val="0"/>
                        </a:spcBef>
                        <a:spcAft>
                          <a:spcPts val="0"/>
                        </a:spcAft>
                      </a:pPr>
                      <a:r>
                        <a:rPr sz="1400" b="0" i="0">
                          <a:solidFill>
                            <a:srgbClr val="96FF14"/>
                          </a:solidFill>
                          <a:latin typeface="Fagun Bold"/>
                          <a:ea typeface="Fagun Bold"/>
                          <a:cs typeface="Fagun Bold"/>
                        </a:rPr>
                        <a:t>Funder</a:t>
                      </a:r>
                    </a:p>
                  </a:txBody>
                  <a:tcPr marL="182880" marR="182880" marT="73152" marB="73152" anchor="ctr">
                    <a:lnL w="0">
                      <a:noFill/>
                    </a:lnL>
                    <a:lnR w="0">
                      <a:noFill/>
                    </a:lnR>
                    <a:lnT w="0">
                      <a:noFill/>
                    </a:lnT>
                    <a:lnB w="12700">
                      <a:solidFill>
                        <a:srgbClr val="410F37"/>
                      </a:solidFill>
                    </a:lnB>
                    <a:solidFill>
                      <a:srgbClr val="410F37"/>
                    </a:solidFill>
                  </a:tcPr>
                </a:tc>
              </a:tr>
              <a:tr h="960120">
                <a:tc>
                  <a:txBody>
                    <a:bodyPr wrap="square"/>
                    <a:lstStyle/>
                    <a:p>
                      <a:pPr algn="l">
                        <a:spcBef>
                          <a:spcPts val="0"/>
                        </a:spcBef>
                        <a:spcAft>
                          <a:spcPts val="0"/>
                        </a:spcAft>
                      </a:pPr>
                      <a:r>
                        <a:rPr sz="2000" b="0" i="0">
                          <a:solidFill>
                            <a:srgbClr val="410F37"/>
                          </a:solidFill>
                          <a:latin typeface="Fagun Medium"/>
                          <a:ea typeface="Fagun Medium"/>
                          <a:cs typeface="Fagun Medium"/>
                        </a:rPr>
                        <a:t>Rohingya in India — legal protection</a:t>
                      </a:r>
                    </a:p>
                  </a:txBody>
                  <a:tcPr marL="182880" marR="182880" marT="73152" marB="73152" anchor="ctr">
                    <a:lnL w="0">
                      <a:noFill/>
                    </a:lnL>
                    <a:lnR w="0">
                      <a:noFill/>
                    </a:lnR>
                    <a:lnT w="0">
                      <a:noFill/>
                    </a:lnT>
                    <a:lnB w="12700">
                      <a:solidFill>
                        <a:srgbClr val="410F37"/>
                      </a:solidFill>
                    </a:lnB>
                    <a:noFill/>
                  </a:tcPr>
                </a:tc>
                <a:tc>
                  <a:txBody>
                    <a:bodyPr wrap="square"/>
                    <a:lstStyle/>
                    <a:p>
                      <a:pPr algn="l">
                        <a:spcBef>
                          <a:spcPts val="0"/>
                        </a:spcBef>
                        <a:spcAft>
                          <a:spcPts val="0"/>
                        </a:spcAft>
                      </a:pPr>
                      <a:r>
                        <a:rPr sz="1600" b="0" i="0">
                          <a:solidFill>
                            <a:srgbClr val="410F37"/>
                          </a:solidFill>
                          <a:latin typeface="Fagun"/>
                          <a:ea typeface="Fagun"/>
                          <a:cs typeface="Fagun"/>
                        </a:rPr>
                        <a:t>Core funding</a:t>
                      </a:r>
                    </a:p>
                  </a:txBody>
                  <a:tcPr marL="182880" marR="182880" marT="73152" marB="73152" anchor="ctr">
                    <a:lnL w="0">
                      <a:noFill/>
                    </a:lnL>
                    <a:lnR w="0">
                      <a:noFill/>
                    </a:lnR>
                    <a:lnT w="0">
                      <a:noFill/>
                    </a:lnT>
                    <a:lnB w="12700">
                      <a:solidFill>
                        <a:srgbClr val="410F37"/>
                      </a:solidFill>
                    </a:lnB>
                    <a:noFill/>
                  </a:tcPr>
                </a:tc>
              </a:tr>
              <a:tr h="960120">
                <a:tc>
                  <a:txBody>
                    <a:bodyPr wrap="square"/>
                    <a:lstStyle/>
                    <a:p>
                      <a:pPr algn="l">
                        <a:spcBef>
                          <a:spcPts val="0"/>
                        </a:spcBef>
                        <a:spcAft>
                          <a:spcPts val="0"/>
                        </a:spcAft>
                      </a:pPr>
                      <a:r>
                        <a:rPr sz="2000" b="0" i="0">
                          <a:solidFill>
                            <a:srgbClr val="410F37"/>
                          </a:solidFill>
                          <a:latin typeface="Fagun Medium"/>
                          <a:ea typeface="Fagun Medium"/>
                          <a:cs typeface="Fagun Medium"/>
                        </a:rPr>
                        <a:t>Rohingya dialogue — Bangladesh and Arakan</a:t>
                      </a:r>
                    </a:p>
                  </a:txBody>
                  <a:tcPr marL="182880" marR="182880" marT="73152" marB="73152" anchor="ctr">
                    <a:lnL w="0">
                      <a:noFill/>
                    </a:lnL>
                    <a:lnR w="0">
                      <a:noFill/>
                    </a:lnR>
                    <a:lnT w="0">
                      <a:noFill/>
                    </a:lnT>
                    <a:lnB w="12700">
                      <a:solidFill>
                        <a:srgbClr val="410F37"/>
                      </a:solidFill>
                    </a:lnB>
                    <a:noFill/>
                  </a:tcPr>
                </a:tc>
                <a:tc>
                  <a:txBody>
                    <a:bodyPr wrap="square"/>
                    <a:lstStyle/>
                    <a:p>
                      <a:pPr algn="l">
                        <a:spcBef>
                          <a:spcPts val="0"/>
                        </a:spcBef>
                        <a:spcAft>
                          <a:spcPts val="0"/>
                        </a:spcAft>
                      </a:pPr>
                      <a:r>
                        <a:rPr sz="1600" b="0" i="0">
                          <a:solidFill>
                            <a:srgbClr val="410F37"/>
                          </a:solidFill>
                          <a:latin typeface="Fagun"/>
                          <a:ea typeface="Fagun"/>
                          <a:cs typeface="Fagun"/>
                        </a:rPr>
                        <a:t>FCDO (UK) and Swiss FDFA, via Stimson Center</a:t>
                      </a:r>
                    </a:p>
                  </a:txBody>
                  <a:tcPr marL="182880" marR="182880" marT="73152" marB="73152" anchor="ctr">
                    <a:lnL w="0">
                      <a:noFill/>
                    </a:lnL>
                    <a:lnR w="0">
                      <a:noFill/>
                    </a:lnR>
                    <a:lnT w="0">
                      <a:noFill/>
                    </a:lnT>
                    <a:lnB w="12700">
                      <a:solidFill>
                        <a:srgbClr val="410F37"/>
                      </a:solidFill>
                    </a:lnB>
                    <a:noFill/>
                  </a:tcPr>
                </a:tc>
              </a:tr>
              <a:tr h="960120">
                <a:tc>
                  <a:txBody>
                    <a:bodyPr wrap="square"/>
                    <a:lstStyle/>
                    <a:p>
                      <a:pPr algn="l">
                        <a:spcBef>
                          <a:spcPts val="0"/>
                        </a:spcBef>
                        <a:spcAft>
                          <a:spcPts val="0"/>
                        </a:spcAft>
                      </a:pPr>
                      <a:r>
                        <a:rPr sz="2000" b="0" i="0">
                          <a:solidFill>
                            <a:srgbClr val="410F37"/>
                          </a:solidFill>
                          <a:latin typeface="Fagun Medium"/>
                          <a:ea typeface="Fagun Medium"/>
                          <a:cs typeface="Fagun Medium"/>
                        </a:rPr>
                        <a:t>Accountability for business and human rights</a:t>
                      </a:r>
                    </a:p>
                  </a:txBody>
                  <a:tcPr marL="182880" marR="182880" marT="73152" marB="73152" anchor="ctr">
                    <a:lnL w="0">
                      <a:noFill/>
                    </a:lnL>
                    <a:lnR w="0">
                      <a:noFill/>
                    </a:lnR>
                    <a:lnT w="0">
                      <a:noFill/>
                    </a:lnT>
                    <a:lnB w="12700">
                      <a:solidFill>
                        <a:srgbClr val="410F37"/>
                      </a:solidFill>
                    </a:lnB>
                    <a:noFill/>
                  </a:tcPr>
                </a:tc>
                <a:tc>
                  <a:txBody>
                    <a:bodyPr wrap="square"/>
                    <a:lstStyle/>
                    <a:p>
                      <a:pPr algn="l">
                        <a:spcBef>
                          <a:spcPts val="0"/>
                        </a:spcBef>
                        <a:spcAft>
                          <a:spcPts val="0"/>
                        </a:spcAft>
                      </a:pPr>
                      <a:r>
                        <a:rPr sz="1600" b="0" i="0">
                          <a:solidFill>
                            <a:srgbClr val="410F37"/>
                          </a:solidFill>
                          <a:latin typeface="Fagun"/>
                          <a:ea typeface="Fagun"/>
                          <a:cs typeface="Fagun"/>
                        </a:rPr>
                        <a:t>Core funding</a:t>
                      </a:r>
                    </a:p>
                  </a:txBody>
                  <a:tcPr marL="182880" marR="182880" marT="73152" marB="73152" anchor="ctr">
                    <a:lnL w="0">
                      <a:noFill/>
                    </a:lnL>
                    <a:lnR w="0">
                      <a:noFill/>
                    </a:lnR>
                    <a:lnT w="0">
                      <a:noFill/>
                    </a:lnT>
                    <a:lnB w="12700">
                      <a:solidFill>
                        <a:srgbClr val="410F37"/>
                      </a:solidFill>
                    </a:lnB>
                    <a:noFill/>
                  </a:tcPr>
                </a:tc>
              </a:tr>
            </a:tbl>
          </a:graphicData>
        </a:graphic>
      </p:graphicFrame>
      <p:sp>
        <p:nvSpPr>
          <p:cNvPr id="5"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6"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Rohingya in India — legal protection</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Core funded  ·  no project grant  ·  Lead: Arati Ranade, India Programme Manager</a:t>
            </a:r>
          </a:p>
        </p:txBody>
      </p:sp>
      <p:sp>
        <p:nvSpPr>
          <p:cNvPr id="4" name="Body"/>
          <p:cNvSpPr txBox="1"/>
          <p:nvPr/>
        </p:nvSpPr>
        <p:spPr>
          <a:xfrm>
            <a:off x="640080" y="1874519"/>
            <a:ext cx="6659575" cy="438912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What the strand is</a:t>
            </a:r>
          </a:p>
          <a:p>
            <a:pPr algn="l">
              <a:lnSpc>
                <a:spcPct val="105000"/>
              </a:lnSpc>
              <a:spcBef>
                <a:spcPts val="0"/>
              </a:spcBef>
              <a:spcAft>
                <a:spcPts val="400"/>
              </a:spcAft>
            </a:pPr>
            <a:r>
              <a:rPr sz="1400" b="0" i="0">
                <a:solidFill>
                  <a:srgbClr val="410F37"/>
                </a:solidFill>
                <a:latin typeface="Fagun"/>
                <a:ea typeface="Fagun"/>
                <a:cs typeface="Fagun"/>
              </a:rPr>
              <a:t>Direct legal intervention for detained Rohingya refugees in India, building a cross-state network of lawyers and an evidentiary base on detention and deportation patterns. Funded from core — no donor restriction on case selection or strategy.</a:t>
            </a:r>
          </a:p>
          <a:p>
            <a:pPr algn="l">
              <a:spcBef>
                <a:spcPts val="1400"/>
              </a:spcBef>
              <a:spcAft>
                <a:spcPts val="600"/>
              </a:spcAft>
            </a:pPr>
            <a:r>
              <a:rPr sz="1400" b="0" i="0" cap="all">
                <a:solidFill>
                  <a:srgbClr val="E12D64"/>
                </a:solidFill>
                <a:latin typeface="Fagun Bold"/>
                <a:ea typeface="Fagun Bold"/>
                <a:cs typeface="Fagun Bold"/>
              </a:rPr>
              <a:t>Since 29 June</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Delhi detention roundtable (5 July)</a:t>
            </a:r>
            <a:r>
              <a:rPr sz="1400" b="0" i="0">
                <a:solidFill>
                  <a:srgbClr val="410F37"/>
                </a:solidFill>
                <a:latin typeface="Fagun"/>
                <a:ea typeface="Fagun"/>
                <a:cs typeface="Fagun"/>
              </a:rPr>
              <a:t> — lawyers from across states convened over three panels to discuss detention litigation strategy.</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Right to Education</a:t>
            </a:r>
            <a:r>
              <a:rPr sz="1400" b="0" i="0">
                <a:solidFill>
                  <a:srgbClr val="410F37"/>
                </a:solidFill>
                <a:latin typeface="Fagun"/>
                <a:ea typeface="Fagun"/>
                <a:cs typeface="Fagun"/>
              </a:rPr>
              <a:t> — strategy note drafted on an education-rights route for detained minors, alongside the refugee route; raised with African states in Geneva (25 August).</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Litigation pipeline</a:t>
            </a:r>
            <a:r>
              <a:rPr sz="1400" b="0" i="0">
                <a:solidFill>
                  <a:srgbClr val="410F37"/>
                </a:solidFill>
                <a:latin typeface="Fagun"/>
                <a:ea typeface="Fagun"/>
                <a:cs typeface="Fagun"/>
              </a:rPr>
              <a:t> — habeas corpus petition in drafting; bail application being finalised for counsel's review; Right to Information petitioner being identified.</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Lawyer network</a:t>
            </a:r>
            <a:r>
              <a:rPr sz="1400" b="0" i="0">
                <a:solidFill>
                  <a:srgbClr val="410F37"/>
                </a:solidFill>
                <a:latin typeface="Fagun"/>
                <a:ea typeface="Fagun"/>
                <a:cs typeface="Fagun"/>
              </a:rPr>
              <a:t> — West Bengal, Uttar Pradesh and Delhi lawyers in place. Case-law report on Rohingya deportation in preparation.</a:t>
            </a:r>
          </a:p>
        </p:txBody>
      </p:sp>
      <p:pic>
        <p:nvPicPr>
          <p:cNvPr id="5" name="Picture 4" descr="delhi-detention-roundtable.jpg"/>
          <p:cNvPicPr>
            <a:picLocks noChangeAspect="1"/>
          </p:cNvPicPr>
          <p:nvPr/>
        </p:nvPicPr>
        <p:blipFill>
          <a:blip r:embed="rId2"/>
          <a:stretch>
            <a:fillRect/>
          </a:stretch>
        </p:blipFill>
        <p:spPr>
          <a:xfrm>
            <a:off x="7711135" y="1920239"/>
            <a:ext cx="3840480" cy="2880360"/>
          </a:xfrm>
          <a:prstGeom prst="rect">
            <a:avLst/>
          </a:prstGeom>
        </p:spPr>
      </p:pic>
      <p:sp>
        <p:nvSpPr>
          <p:cNvPr id="6" name="Caption"/>
          <p:cNvSpPr txBox="1"/>
          <p:nvPr/>
        </p:nvSpPr>
        <p:spPr>
          <a:xfrm>
            <a:off x="7711135" y="4892040"/>
            <a:ext cx="3840480" cy="274320"/>
          </a:xfrm>
          <a:prstGeom prst="rect">
            <a:avLst/>
          </a:prstGeom>
          <a:noFill/>
        </p:spPr>
        <p:txBody>
          <a:bodyPr wrap="square" lIns="0" rIns="0" tIns="0" bIns="0" anchor="t">
            <a:spAutoFit/>
          </a:bodyPr>
          <a:lstStyle/>
          <a:p>
            <a:pPr algn="l">
              <a:spcBef>
                <a:spcPts val="0"/>
              </a:spcBef>
              <a:spcAft>
                <a:spcPts val="0"/>
              </a:spcAft>
            </a:pPr>
            <a:r>
              <a:rPr sz="1000" b="0" i="1">
                <a:solidFill>
                  <a:srgbClr val="410F37"/>
                </a:solidFill>
                <a:latin typeface="Fagun"/>
                <a:ea typeface="Fagun"/>
                <a:cs typeface="Fagun"/>
              </a:rPr>
              <a:t>Delhi, July 2026</a:t>
            </a:r>
          </a:p>
        </p:txBody>
      </p:sp>
      <p:sp>
        <p:nvSpPr>
          <p:cNvPr id="7"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8"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Rohingya dialogue — Bangladesh and Arakan</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FCDO (UK) and Swiss FDFA, via Stimson Center as prime  ·  hūmānus as implementing partner</a:t>
            </a:r>
          </a:p>
        </p:txBody>
      </p:sp>
      <p:sp>
        <p:nvSpPr>
          <p:cNvPr id="4" name="TextBox 3"/>
          <p:cNvSpPr txBox="1"/>
          <p:nvPr/>
        </p:nvSpPr>
        <p:spPr>
          <a:xfrm>
            <a:off x="640080" y="1874519"/>
            <a:ext cx="5029200" cy="420624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What the project is</a:t>
            </a:r>
          </a:p>
          <a:p>
            <a:pPr algn="l">
              <a:lnSpc>
                <a:spcPct val="110000"/>
              </a:lnSpc>
              <a:spcBef>
                <a:spcPts val="0"/>
              </a:spcBef>
              <a:spcAft>
                <a:spcPts val="0"/>
              </a:spcAft>
            </a:pPr>
            <a:r>
              <a:rPr sz="1600" b="0" i="0">
                <a:solidFill>
                  <a:srgbClr val="410F37"/>
                </a:solidFill>
                <a:latin typeface="Fagun"/>
                <a:ea typeface="Fagun"/>
                <a:cs typeface="Fagun"/>
              </a:rPr>
              <a:t>Sustained dialogue and engagement with Rohingya leadership, building trust among Rohingya, Arakanese and Bangladesh stakeholders through bilateral engagement, capacity building and facilitated dialogue. FCDO and Swiss FDFA funding support the same project; both reimburse in arrears.</a:t>
            </a:r>
          </a:p>
        </p:txBody>
      </p:sp>
      <p:sp>
        <p:nvSpPr>
          <p:cNvPr id="5" name="Since 29 June panel"/>
          <p:cNvSpPr/>
          <p:nvPr/>
        </p:nvSpPr>
        <p:spPr>
          <a:xfrm>
            <a:off x="6080760" y="1874519"/>
            <a:ext cx="5470855" cy="4160520"/>
          </a:xfrm>
          <a:prstGeom prst="rect">
            <a:avLst/>
          </a:prstGeom>
          <a:solidFill>
            <a:srgbClr val="410F37"/>
          </a:solidFill>
          <a:ln>
            <a:noFill/>
          </a:ln>
          <a:effectLst/>
        </p:spPr>
        <p:txBody>
          <a:bodyPr rtlCol="0" anchor="ctr"/>
          <a:lstStyle/>
          <a:p>
            <a:pPr algn="ctr"/>
          </a:p>
        </p:txBody>
      </p:sp>
      <p:sp>
        <p:nvSpPr>
          <p:cNvPr id="6" name="TextBox 5"/>
          <p:cNvSpPr txBox="1"/>
          <p:nvPr/>
        </p:nvSpPr>
        <p:spPr>
          <a:xfrm>
            <a:off x="6492240" y="2240279"/>
            <a:ext cx="4647895" cy="3474720"/>
          </a:xfrm>
          <a:prstGeom prst="rect">
            <a:avLst/>
          </a:prstGeom>
          <a:noFill/>
        </p:spPr>
        <p:txBody>
          <a:bodyPr wrap="square" lIns="0" rIns="0" tIns="0" bIns="0" anchor="t">
            <a:spAutoFit/>
          </a:bodyPr>
          <a:lstStyle/>
          <a:p>
            <a:pPr algn="l">
              <a:spcBef>
                <a:spcPts val="0"/>
              </a:spcBef>
              <a:spcAft>
                <a:spcPts val="600"/>
              </a:spcAft>
            </a:pPr>
            <a:r>
              <a:rPr sz="1400" b="0" i="0" cap="all">
                <a:solidFill>
                  <a:srgbClr val="96FF14"/>
                </a:solidFill>
                <a:latin typeface="Fagun Bold"/>
                <a:ea typeface="Fagun Bold"/>
                <a:cs typeface="Fagun Bold"/>
              </a:rPr>
              <a:t>Since 29 June</a:t>
            </a:r>
          </a:p>
          <a:p>
            <a:pPr algn="l">
              <a:lnSpc>
                <a:spcPct val="110000"/>
              </a:lnSpc>
              <a:spcBef>
                <a:spcPts val="600"/>
              </a:spcBef>
              <a:spcAft>
                <a:spcPts val="0"/>
              </a:spcAft>
            </a:pPr>
            <a:r>
              <a:rPr sz="2000" b="0" i="0">
                <a:solidFill>
                  <a:srgbClr val="96FF14"/>
                </a:solidFill>
                <a:latin typeface="Fagun Bold"/>
                <a:ea typeface="Fagun Bold"/>
                <a:cs typeface="Fagun Bold"/>
              </a:rPr>
              <a:t>Analysis</a:t>
            </a:r>
            <a:r>
              <a:rPr sz="2000" b="0" i="0">
                <a:solidFill>
                  <a:srgbClr val="96FF14"/>
                </a:solidFill>
                <a:latin typeface="Fagun Medium"/>
                <a:ea typeface="Fagun Medium"/>
                <a:cs typeface="Fagun Medium"/>
              </a:rPr>
              <a:t> — ten reports by Sawyadullah on Rohingya relationships with the United States, China, Bangladesh, India and Pakistan, to aid the dialogue and support Rohingya leadership. Website launching November 2026; a workshop on the content will be run in the Rohingya language.</a:t>
            </a:r>
          </a:p>
        </p:txBody>
      </p:sp>
      <p:sp>
        <p:nvSpPr>
          <p:cNvPr id="7"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8"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Accountability for business and human rights</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Core funded  ·  legal action, regulatory complaint and advocacy — confirmed as a core model at the retreat</a:t>
            </a:r>
          </a:p>
        </p:txBody>
      </p:sp>
      <p:sp>
        <p:nvSpPr>
          <p:cNvPr id="4" name="TextBox 3"/>
          <p:cNvSpPr txBox="1"/>
          <p:nvPr/>
        </p:nvSpPr>
        <p:spPr>
          <a:xfrm>
            <a:off x="640080" y="1874519"/>
            <a:ext cx="10911535" cy="109728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THE FRAMEWORK</a:t>
            </a:r>
          </a:p>
          <a:p>
            <a:pPr algn="l">
              <a:lnSpc>
                <a:spcPct val="105000"/>
              </a:lnSpc>
              <a:spcBef>
                <a:spcPts val="0"/>
              </a:spcBef>
              <a:spcAft>
                <a:spcPts val="0"/>
              </a:spcAft>
            </a:pPr>
            <a:r>
              <a:rPr sz="1600" b="0" i="0">
                <a:solidFill>
                  <a:srgbClr val="410F37"/>
                </a:solidFill>
                <a:latin typeface="Fagun"/>
                <a:ea typeface="Fagun"/>
                <a:cs typeface="Fagun"/>
              </a:rPr>
              <a:t>Bringing together our work that holds business actors accountable for contribution to, or benefit from, serious international crimes — across litigation, regulatory complaint, and investor-facing advocacy.</a:t>
            </a:r>
          </a:p>
        </p:txBody>
      </p:sp>
      <p:sp>
        <p:nvSpPr>
          <p:cNvPr id="5" name="TextBox 4"/>
          <p:cNvSpPr txBox="1"/>
          <p:nvPr/>
        </p:nvSpPr>
        <p:spPr>
          <a:xfrm>
            <a:off x="640080" y="3200400"/>
            <a:ext cx="10911535" cy="32004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ACTIVE WORKSTREAMS</a:t>
            </a:r>
          </a:p>
        </p:txBody>
      </p:sp>
      <p:sp>
        <p:nvSpPr>
          <p:cNvPr id="6" name="Meta / Facebook"/>
          <p:cNvSpPr/>
          <p:nvPr/>
        </p:nvSpPr>
        <p:spPr>
          <a:xfrm>
            <a:off x="640080" y="3657600"/>
            <a:ext cx="3454298" cy="2468880"/>
          </a:xfrm>
          <a:prstGeom prst="rect">
            <a:avLst/>
          </a:prstGeom>
          <a:noFill/>
          <a:ln w="15875">
            <a:solidFill>
              <a:srgbClr val="410F37"/>
            </a:solidFill>
          </a:ln>
          <a:effectLst/>
        </p:spPr>
        <p:txBody>
          <a:bodyPr rtlCol="0" anchor="ctr"/>
          <a:lstStyle/>
          <a:p>
            <a:pPr algn="ctr"/>
          </a:p>
        </p:txBody>
      </p:sp>
      <p:sp>
        <p:nvSpPr>
          <p:cNvPr id="7" name="TextBox 6"/>
          <p:cNvSpPr txBox="1"/>
          <p:nvPr/>
        </p:nvSpPr>
        <p:spPr>
          <a:xfrm>
            <a:off x="914400" y="3913632"/>
            <a:ext cx="2905658" cy="2011680"/>
          </a:xfrm>
          <a:prstGeom prst="rect">
            <a:avLst/>
          </a:prstGeom>
          <a:noFill/>
        </p:spPr>
        <p:txBody>
          <a:bodyPr wrap="square" lIns="0" rIns="0" tIns="0" bIns="0" anchor="t">
            <a:spAutoFit/>
          </a:bodyPr>
          <a:lstStyle/>
          <a:p>
            <a:pPr algn="l">
              <a:spcBef>
                <a:spcPts val="0"/>
              </a:spcBef>
              <a:spcAft>
                <a:spcPts val="800"/>
              </a:spcAft>
            </a:pPr>
            <a:r>
              <a:rPr sz="1800" b="0" i="0">
                <a:solidFill>
                  <a:srgbClr val="410F37"/>
                </a:solidFill>
                <a:latin typeface="Fagun Bold"/>
                <a:ea typeface="Fagun Bold"/>
                <a:cs typeface="Fagun Bold"/>
              </a:rPr>
              <a:t>Meta / Facebook</a:t>
            </a:r>
          </a:p>
          <a:p>
            <a:pPr algn="l">
              <a:lnSpc>
                <a:spcPct val="105000"/>
              </a:lnSpc>
              <a:spcBef>
                <a:spcPts val="0"/>
              </a:spcBef>
              <a:spcAft>
                <a:spcPts val="600"/>
              </a:spcAft>
            </a:pPr>
            <a:r>
              <a:rPr sz="1400" b="0" i="0">
                <a:solidFill>
                  <a:srgbClr val="410F37"/>
                </a:solidFill>
                <a:latin typeface="Fagun"/>
                <a:ea typeface="Fagun"/>
                <a:cs typeface="Fagun"/>
              </a:rPr>
              <a:t>Meta has responded to our case, including a request for particulars.</a:t>
            </a:r>
          </a:p>
          <a:p>
            <a:pPr algn="l">
              <a:lnSpc>
                <a:spcPct val="105000"/>
              </a:lnSpc>
              <a:spcBef>
                <a:spcPts val="0"/>
              </a:spcBef>
              <a:spcAft>
                <a:spcPts val="600"/>
              </a:spcAft>
            </a:pPr>
            <a:r>
              <a:rPr sz="1400" b="0" i="0">
                <a:solidFill>
                  <a:srgbClr val="410F37"/>
                </a:solidFill>
                <a:latin typeface="Fagun"/>
                <a:ea typeface="Fagun"/>
                <a:cs typeface="Fagun"/>
              </a:rPr>
              <a:t>Documentary narrative and video series in production with Amnesty International</a:t>
            </a:r>
          </a:p>
        </p:txBody>
      </p:sp>
      <p:sp>
        <p:nvSpPr>
          <p:cNvPr id="8" name="Adani"/>
          <p:cNvSpPr/>
          <p:nvPr/>
        </p:nvSpPr>
        <p:spPr>
          <a:xfrm>
            <a:off x="4368698" y="3657600"/>
            <a:ext cx="3454298" cy="2468880"/>
          </a:xfrm>
          <a:prstGeom prst="rect">
            <a:avLst/>
          </a:prstGeom>
          <a:noFill/>
          <a:ln w="15875">
            <a:solidFill>
              <a:srgbClr val="410F37"/>
            </a:solidFill>
          </a:ln>
          <a:effectLst/>
        </p:spPr>
        <p:txBody>
          <a:bodyPr rtlCol="0" anchor="ctr"/>
          <a:lstStyle/>
          <a:p>
            <a:pPr algn="ctr"/>
          </a:p>
        </p:txBody>
      </p:sp>
      <p:sp>
        <p:nvSpPr>
          <p:cNvPr id="9" name="TextBox 8"/>
          <p:cNvSpPr txBox="1"/>
          <p:nvPr/>
        </p:nvSpPr>
        <p:spPr>
          <a:xfrm>
            <a:off x="4643018" y="3913632"/>
            <a:ext cx="2905658" cy="2011680"/>
          </a:xfrm>
          <a:prstGeom prst="rect">
            <a:avLst/>
          </a:prstGeom>
          <a:noFill/>
        </p:spPr>
        <p:txBody>
          <a:bodyPr wrap="square" lIns="0" rIns="0" tIns="0" bIns="0" anchor="t">
            <a:spAutoFit/>
          </a:bodyPr>
          <a:lstStyle/>
          <a:p>
            <a:pPr algn="l">
              <a:spcBef>
                <a:spcPts val="0"/>
              </a:spcBef>
              <a:spcAft>
                <a:spcPts val="800"/>
              </a:spcAft>
            </a:pPr>
            <a:r>
              <a:rPr sz="1800" b="0" i="0">
                <a:solidFill>
                  <a:srgbClr val="410F37"/>
                </a:solidFill>
                <a:latin typeface="Fagun Bold"/>
                <a:ea typeface="Fagun Bold"/>
                <a:cs typeface="Fagun Bold"/>
              </a:rPr>
              <a:t>Adani</a:t>
            </a:r>
          </a:p>
          <a:p>
            <a:pPr algn="l">
              <a:lnSpc>
                <a:spcPct val="105000"/>
              </a:lnSpc>
              <a:spcBef>
                <a:spcPts val="0"/>
              </a:spcBef>
              <a:spcAft>
                <a:spcPts val="600"/>
              </a:spcAft>
            </a:pPr>
            <a:r>
              <a:rPr sz="1400" b="0" i="0">
                <a:solidFill>
                  <a:srgbClr val="410F37"/>
                </a:solidFill>
                <a:latin typeface="Fagun"/>
                <a:ea typeface="Fagun"/>
                <a:cs typeface="Fagun"/>
              </a:rPr>
              <a:t>Coordination and investigation work continuing, including research on Australian super-fund exposure, fiduciary-duty case law, the OFAC civil probe and Adani Defence.</a:t>
            </a:r>
          </a:p>
        </p:txBody>
      </p:sp>
      <p:sp>
        <p:nvSpPr>
          <p:cNvPr id="10" name="Against the Tide Campaign"/>
          <p:cNvSpPr/>
          <p:nvPr/>
        </p:nvSpPr>
        <p:spPr>
          <a:xfrm>
            <a:off x="8097316" y="3657600"/>
            <a:ext cx="3454298" cy="2468880"/>
          </a:xfrm>
          <a:prstGeom prst="rect">
            <a:avLst/>
          </a:prstGeom>
          <a:noFill/>
          <a:ln w="15875">
            <a:solidFill>
              <a:srgbClr val="410F37"/>
            </a:solidFill>
          </a:ln>
          <a:effectLst/>
        </p:spPr>
        <p:txBody>
          <a:bodyPr rtlCol="0" anchor="ctr"/>
          <a:lstStyle/>
          <a:p>
            <a:pPr algn="ctr"/>
          </a:p>
        </p:txBody>
      </p:sp>
      <p:sp>
        <p:nvSpPr>
          <p:cNvPr id="11" name="TextBox 10"/>
          <p:cNvSpPr txBox="1"/>
          <p:nvPr/>
        </p:nvSpPr>
        <p:spPr>
          <a:xfrm>
            <a:off x="8371636" y="3913632"/>
            <a:ext cx="2905658" cy="2011680"/>
          </a:xfrm>
          <a:prstGeom prst="rect">
            <a:avLst/>
          </a:prstGeom>
          <a:noFill/>
        </p:spPr>
        <p:txBody>
          <a:bodyPr wrap="square" lIns="0" rIns="0" tIns="0" bIns="0" anchor="t">
            <a:spAutoFit/>
          </a:bodyPr>
          <a:lstStyle/>
          <a:p>
            <a:pPr algn="l">
              <a:spcBef>
                <a:spcPts val="0"/>
              </a:spcBef>
              <a:spcAft>
                <a:spcPts val="800"/>
              </a:spcAft>
            </a:pPr>
            <a:r>
              <a:rPr sz="1800" b="0" i="0">
                <a:solidFill>
                  <a:srgbClr val="410F37"/>
                </a:solidFill>
                <a:latin typeface="Fagun Bold"/>
                <a:ea typeface="Fagun Bold"/>
                <a:cs typeface="Fagun Bold"/>
              </a:rPr>
              <a:t>Against the Tide Campaign</a:t>
            </a:r>
          </a:p>
          <a:p>
            <a:pPr algn="l">
              <a:lnSpc>
                <a:spcPct val="105000"/>
              </a:lnSpc>
              <a:spcBef>
                <a:spcPts val="0"/>
              </a:spcBef>
              <a:spcAft>
                <a:spcPts val="600"/>
              </a:spcAft>
            </a:pPr>
            <a:r>
              <a:rPr sz="1400" b="0" i="0">
                <a:solidFill>
                  <a:srgbClr val="410F37"/>
                </a:solidFill>
                <a:latin typeface="Fagun"/>
                <a:ea typeface="Fagun"/>
                <a:cs typeface="Fagun"/>
              </a:rPr>
              <a:t>Supporting activists in Puerto Rico, Jamaica and Seychelles to fight development of luxury resorts in environmentally sensitive protected areas.</a:t>
            </a:r>
          </a:p>
        </p:txBody>
      </p:sp>
      <p:sp>
        <p:nvSpPr>
          <p:cNvPr id="12"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13"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Public engagement</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Core funded  ·  Against the Tide, speaking, advocacy and donor relations</a:t>
            </a:r>
          </a:p>
        </p:txBody>
      </p:sp>
      <p:sp>
        <p:nvSpPr>
          <p:cNvPr id="4" name="Body"/>
          <p:cNvSpPr txBox="1"/>
          <p:nvPr/>
        </p:nvSpPr>
        <p:spPr>
          <a:xfrm>
            <a:off x="640080" y="1874519"/>
            <a:ext cx="5745175" cy="438912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Speaking and advocacy</a:t>
            </a:r>
          </a:p>
          <a:p>
            <a:pPr algn="l" marL="219456" indent="-219456">
              <a:spcBef>
                <a:spcPts val="0"/>
              </a:spcBef>
              <a:spcAft>
                <a:spcPts val="0"/>
              </a:spcAft>
              <a:buClr>
                <a:srgbClr val="E12D64"/>
              </a:buClr>
              <a:buSzPct val="80000"/>
              <a:buFont typeface="Arial"/>
              <a:buChar char="■"/>
            </a:pPr>
            <a:r>
              <a:rPr sz="1700" b="0" i="0">
                <a:solidFill>
                  <a:srgbClr val="410F37"/>
                </a:solidFill>
                <a:latin typeface="Fagun Bold"/>
                <a:ea typeface="Fagun Bold"/>
                <a:cs typeface="Fagun Bold"/>
              </a:rPr>
              <a:t>Berkeley (28 September)</a:t>
            </a:r>
            <a:r>
              <a:rPr sz="1700" b="0" i="0">
                <a:solidFill>
                  <a:srgbClr val="410F37"/>
                </a:solidFill>
                <a:latin typeface="Fagun"/>
                <a:ea typeface="Fagun"/>
                <a:cs typeface="Fagun"/>
              </a:rPr>
              <a:t> — keynote, Human Rights for Victims of Conflict in a Fragmenting World; session with Berkeley IIS clinic students on conflict monitoring.</a:t>
            </a:r>
          </a:p>
          <a:p>
            <a:pPr algn="l" marL="219456" indent="0">
              <a:spcBef>
                <a:spcPts val="0"/>
              </a:spcBef>
              <a:spcAft>
                <a:spcPts val="700"/>
              </a:spcAft>
              <a:buNone/>
            </a:pPr>
            <a:r>
              <a:rPr sz="1700" b="0" i="0">
                <a:solidFill>
                  <a:srgbClr val="410F37"/>
                </a:solidFill>
                <a:latin typeface="Fagun"/>
                <a:hlinkClick r:id="rId2"/>
                <a:ea typeface="Fagun"/>
                <a:cs typeface="Fagun"/>
              </a:rPr>
              <a:t>Recording: youtu.be/_d9m1Zl0Pro</a:t>
            </a:r>
          </a:p>
          <a:p>
            <a:pPr algn="l" marL="219456" indent="-219456">
              <a:spcBef>
                <a:spcPts val="0"/>
              </a:spcBef>
              <a:spcAft>
                <a:spcPts val="700"/>
              </a:spcAft>
              <a:buClr>
                <a:srgbClr val="E12D64"/>
              </a:buClr>
              <a:buSzPct val="80000"/>
              <a:buFont typeface="Arial"/>
              <a:buChar char="■"/>
            </a:pPr>
            <a:r>
              <a:rPr sz="1700" b="0" i="0">
                <a:solidFill>
                  <a:srgbClr val="410F37"/>
                </a:solidFill>
                <a:latin typeface="Fagun"/>
                <a:ea typeface="Fagun"/>
                <a:cs typeface="Fagun"/>
              </a:rPr>
              <a:t>Amnesty × hūmānus side event at UNGA (25 September).</a:t>
            </a:r>
          </a:p>
          <a:p>
            <a:pPr algn="l">
              <a:spcBef>
                <a:spcPts val="1700"/>
              </a:spcBef>
              <a:spcAft>
                <a:spcPts val="600"/>
              </a:spcAft>
            </a:pPr>
            <a:r>
              <a:rPr sz="1400" b="0" i="0" cap="all">
                <a:solidFill>
                  <a:srgbClr val="E12D64"/>
                </a:solidFill>
                <a:latin typeface="Fagun Bold"/>
                <a:ea typeface="Fagun Bold"/>
                <a:cs typeface="Fagun Bold"/>
              </a:rPr>
              <a:t>Donor relations</a:t>
            </a:r>
          </a:p>
          <a:p>
            <a:pPr algn="l" marL="219456" indent="-219456">
              <a:spcBef>
                <a:spcPts val="0"/>
              </a:spcBef>
              <a:spcAft>
                <a:spcPts val="700"/>
              </a:spcAft>
              <a:buClr>
                <a:srgbClr val="E12D64"/>
              </a:buClr>
              <a:buSzPct val="80000"/>
              <a:buFont typeface="Arial"/>
              <a:buChar char="■"/>
            </a:pPr>
            <a:r>
              <a:rPr sz="1700" b="0" i="0">
                <a:solidFill>
                  <a:srgbClr val="410F37"/>
                </a:solidFill>
                <a:latin typeface="Fagun Bold"/>
                <a:ea typeface="Fagun Bold"/>
                <a:cs typeface="Fagun Bold"/>
              </a:rPr>
              <a:t>OSF partner retreat, Mexico</a:t>
            </a:r>
            <a:r>
              <a:rPr sz="1700" b="0" i="0">
                <a:solidFill>
                  <a:srgbClr val="410F37"/>
                </a:solidFill>
                <a:latin typeface="Fagun"/>
                <a:ea typeface="Fagun"/>
                <a:cs typeface="Fagun"/>
              </a:rPr>
              <a:t> — Finding Each Other on Shifting Ground, bringing together around 100 OSF partners; good connections made.</a:t>
            </a:r>
          </a:p>
        </p:txBody>
      </p:sp>
      <p:pic>
        <p:nvPicPr>
          <p:cNvPr id="5" name="Picture 4" descr="esencia-no-va-panel.jpg"/>
          <p:cNvPicPr>
            <a:picLocks noChangeAspect="1"/>
          </p:cNvPicPr>
          <p:nvPr/>
        </p:nvPicPr>
        <p:blipFill>
          <a:blip r:embed="rId3"/>
          <a:stretch>
            <a:fillRect/>
          </a:stretch>
        </p:blipFill>
        <p:spPr>
          <a:xfrm>
            <a:off x="6796735" y="1920239"/>
            <a:ext cx="4754880" cy="2648616"/>
          </a:xfrm>
          <a:prstGeom prst="rect">
            <a:avLst/>
          </a:prstGeom>
        </p:spPr>
      </p:pic>
      <p:sp>
        <p:nvSpPr>
          <p:cNvPr id="6" name="Caption"/>
          <p:cNvSpPr txBox="1"/>
          <p:nvPr/>
        </p:nvSpPr>
        <p:spPr>
          <a:xfrm>
            <a:off x="6796735" y="4660296"/>
            <a:ext cx="4754880" cy="274320"/>
          </a:xfrm>
          <a:prstGeom prst="rect">
            <a:avLst/>
          </a:prstGeom>
          <a:noFill/>
        </p:spPr>
        <p:txBody>
          <a:bodyPr wrap="square" lIns="0" rIns="0" tIns="0" bIns="0" anchor="t">
            <a:spAutoFit/>
          </a:bodyPr>
          <a:lstStyle/>
          <a:p>
            <a:pPr algn="l">
              <a:spcBef>
                <a:spcPts val="0"/>
              </a:spcBef>
              <a:spcAft>
                <a:spcPts val="0"/>
              </a:spcAft>
            </a:pPr>
            <a:r>
              <a:rPr sz="1000" b="0" i="1">
                <a:solidFill>
                  <a:srgbClr val="410F37"/>
                </a:solidFill>
                <a:latin typeface="Fagun"/>
                <a:ea typeface="Fagun"/>
                <a:cs typeface="Fagun"/>
              </a:rPr>
              <a:t>Esencia NO VA panel</a:t>
            </a:r>
          </a:p>
        </p:txBody>
      </p:sp>
      <p:sp>
        <p:nvSpPr>
          <p:cNvPr id="7"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8"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Further activities</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Advisory work outside our funded programmes</a:t>
            </a:r>
          </a:p>
        </p:txBody>
      </p:sp>
      <p:sp>
        <p:nvSpPr>
          <p:cNvPr id="4" name="TextBox 3"/>
          <p:cNvSpPr txBox="1"/>
          <p:nvPr/>
        </p:nvSpPr>
        <p:spPr>
          <a:xfrm>
            <a:off x="640080" y="1874519"/>
            <a:ext cx="10911535" cy="32004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Since 29 June</a:t>
            </a:r>
          </a:p>
        </p:txBody>
      </p:sp>
      <p:sp>
        <p:nvSpPr>
          <p:cNvPr id="5" name="Activity 1"/>
          <p:cNvSpPr/>
          <p:nvPr/>
        </p:nvSpPr>
        <p:spPr>
          <a:xfrm>
            <a:off x="640080" y="2377439"/>
            <a:ext cx="5318607" cy="3108960"/>
          </a:xfrm>
          <a:prstGeom prst="rect">
            <a:avLst/>
          </a:prstGeom>
          <a:solidFill>
            <a:srgbClr val="410F37"/>
          </a:solidFill>
          <a:ln>
            <a:noFill/>
          </a:ln>
          <a:effectLst/>
        </p:spPr>
        <p:txBody>
          <a:bodyPr rtlCol="0" anchor="ctr"/>
          <a:lstStyle/>
          <a:p>
            <a:pPr algn="ctr"/>
          </a:p>
        </p:txBody>
      </p:sp>
      <p:sp>
        <p:nvSpPr>
          <p:cNvPr id="6" name="TextBox 5"/>
          <p:cNvSpPr txBox="1"/>
          <p:nvPr/>
        </p:nvSpPr>
        <p:spPr>
          <a:xfrm>
            <a:off x="1051560" y="2788920"/>
            <a:ext cx="4495647" cy="2377440"/>
          </a:xfrm>
          <a:prstGeom prst="rect">
            <a:avLst/>
          </a:prstGeom>
          <a:noFill/>
        </p:spPr>
        <p:txBody>
          <a:bodyPr wrap="square" lIns="0" rIns="0" tIns="0" bIns="0" anchor="t">
            <a:spAutoFit/>
          </a:bodyPr>
          <a:lstStyle/>
          <a:p>
            <a:pPr algn="l">
              <a:lnSpc>
                <a:spcPct val="110000"/>
              </a:lnSpc>
              <a:spcBef>
                <a:spcPts val="0"/>
              </a:spcBef>
              <a:spcAft>
                <a:spcPts val="0"/>
              </a:spcAft>
            </a:pPr>
            <a:r>
              <a:rPr sz="2000" b="0" i="0">
                <a:solidFill>
                  <a:srgbClr val="96FF14"/>
                </a:solidFill>
                <a:latin typeface="Fagun Bold"/>
                <a:ea typeface="Fagun Bold"/>
                <a:cs typeface="Fagun Bold"/>
              </a:rPr>
              <a:t>Australian war crimes, victim participation</a:t>
            </a:r>
            <a:r>
              <a:rPr sz="1800" b="0" i="0">
                <a:solidFill>
                  <a:srgbClr val="96FF14"/>
                </a:solidFill>
                <a:latin typeface="Fagun Medium"/>
                <a:ea typeface="Fagun Medium"/>
                <a:cs typeface="Fagun Medium"/>
              </a:rPr>
              <a:t> — advice to two sets of clients in Australia on victim participation in prosecutions of alleged war crimes committed in Afghanistan.</a:t>
            </a:r>
          </a:p>
        </p:txBody>
      </p:sp>
      <p:sp>
        <p:nvSpPr>
          <p:cNvPr id="7" name="Activity 2"/>
          <p:cNvSpPr/>
          <p:nvPr/>
        </p:nvSpPr>
        <p:spPr>
          <a:xfrm>
            <a:off x="6233007" y="2377439"/>
            <a:ext cx="5318607" cy="3108960"/>
          </a:xfrm>
          <a:prstGeom prst="rect">
            <a:avLst/>
          </a:prstGeom>
          <a:solidFill>
            <a:srgbClr val="410F37"/>
          </a:solidFill>
          <a:ln>
            <a:noFill/>
          </a:ln>
          <a:effectLst/>
        </p:spPr>
        <p:txBody>
          <a:bodyPr rtlCol="0" anchor="ctr"/>
          <a:lstStyle/>
          <a:p>
            <a:pPr algn="ctr"/>
          </a:p>
        </p:txBody>
      </p:sp>
      <p:sp>
        <p:nvSpPr>
          <p:cNvPr id="8" name="TextBox 7"/>
          <p:cNvSpPr txBox="1"/>
          <p:nvPr/>
        </p:nvSpPr>
        <p:spPr>
          <a:xfrm>
            <a:off x="6644487" y="2788920"/>
            <a:ext cx="4495647" cy="2377440"/>
          </a:xfrm>
          <a:prstGeom prst="rect">
            <a:avLst/>
          </a:prstGeom>
          <a:noFill/>
        </p:spPr>
        <p:txBody>
          <a:bodyPr wrap="square" lIns="0" rIns="0" tIns="0" bIns="0" anchor="t">
            <a:spAutoFit/>
          </a:bodyPr>
          <a:lstStyle/>
          <a:p>
            <a:pPr algn="l">
              <a:lnSpc>
                <a:spcPct val="110000"/>
              </a:lnSpc>
              <a:spcBef>
                <a:spcPts val="0"/>
              </a:spcBef>
              <a:spcAft>
                <a:spcPts val="0"/>
              </a:spcAft>
            </a:pPr>
            <a:r>
              <a:rPr sz="2000" b="0" i="0">
                <a:solidFill>
                  <a:srgbClr val="96FF14"/>
                </a:solidFill>
                <a:latin typeface="Fagun Bold"/>
                <a:ea typeface="Fagun Bold"/>
                <a:cs typeface="Fagun Bold"/>
              </a:rPr>
              <a:t>Caste-based discrimination</a:t>
            </a:r>
            <a:r>
              <a:rPr sz="1800" b="0" i="0">
                <a:solidFill>
                  <a:srgbClr val="96FF14"/>
                </a:solidFill>
                <a:latin typeface="Fagun Medium"/>
                <a:ea typeface="Fagun Medium"/>
                <a:cs typeface="Fagun Medium"/>
              </a:rPr>
              <a:t> — advice on a complaint to the Australian Human Rights Commission against a New South Wales local council, concerning discrimination against Dalit, Bahujan and Adivasi communities. Instructed September 2026.</a:t>
            </a:r>
          </a:p>
        </p:txBody>
      </p:sp>
      <p:sp>
        <p:nvSpPr>
          <p:cNvPr id="9"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10"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40080" y="502920"/>
            <a:ext cx="10911535" cy="548640"/>
          </a:xfrm>
          <a:prstGeom prst="rect">
            <a:avLst/>
          </a:prstGeom>
          <a:noFill/>
        </p:spPr>
        <p:txBody>
          <a:bodyPr wrap="square" lIns="0" rIns="0" tIns="0" bIns="0" anchor="b">
            <a:spAutoFit/>
          </a:bodyPr>
          <a:lstStyle/>
          <a:p>
            <a:pPr algn="l">
              <a:spcBef>
                <a:spcPts val="0"/>
              </a:spcBef>
              <a:spcAft>
                <a:spcPts val="0"/>
              </a:spcAft>
            </a:pPr>
            <a:r>
              <a:rPr sz="3000" b="0" i="0">
                <a:solidFill>
                  <a:srgbClr val="410F37"/>
                </a:solidFill>
                <a:latin typeface="Fagun Bold"/>
                <a:ea typeface="Fagun Bold"/>
                <a:cs typeface="Fagun Bold"/>
              </a:rPr>
              <a:t>Strategy retreat — what we decided</a:t>
            </a:r>
          </a:p>
        </p:txBody>
      </p:sp>
      <p:sp>
        <p:nvSpPr>
          <p:cNvPr id="3" name="Subtitle"/>
          <p:cNvSpPr txBox="1"/>
          <p:nvPr/>
        </p:nvSpPr>
        <p:spPr>
          <a:xfrm>
            <a:off x="640080" y="1188720"/>
            <a:ext cx="10911535" cy="365760"/>
          </a:xfrm>
          <a:prstGeom prst="rect">
            <a:avLst/>
          </a:prstGeom>
          <a:noFill/>
        </p:spPr>
        <p:txBody>
          <a:bodyPr wrap="square" lIns="0" rIns="0" tIns="0" bIns="0" anchor="t">
            <a:spAutoFit/>
          </a:bodyPr>
          <a:lstStyle/>
          <a:p>
            <a:pPr algn="l">
              <a:spcBef>
                <a:spcPts val="0"/>
              </a:spcBef>
              <a:spcAft>
                <a:spcPts val="0"/>
              </a:spcAft>
            </a:pPr>
            <a:r>
              <a:rPr sz="1400" b="0" i="1">
                <a:solidFill>
                  <a:srgbClr val="410F37"/>
                </a:solidFill>
                <a:latin typeface="Fagun"/>
                <a:ea typeface="Fagun"/>
                <a:cs typeface="Fagun"/>
              </a:rPr>
              <a:t>Team retreat, September 2026  ·  strategy, impact and organisational focus</a:t>
            </a:r>
          </a:p>
        </p:txBody>
      </p:sp>
      <p:sp>
        <p:nvSpPr>
          <p:cNvPr id="4" name="Body"/>
          <p:cNvSpPr txBox="1"/>
          <p:nvPr/>
        </p:nvSpPr>
        <p:spPr>
          <a:xfrm>
            <a:off x="640080" y="1874519"/>
            <a:ext cx="6659575" cy="4389120"/>
          </a:xfrm>
          <a:prstGeom prst="rect">
            <a:avLst/>
          </a:prstGeom>
          <a:noFill/>
        </p:spPr>
        <p:txBody>
          <a:bodyPr wrap="square" lIns="0" rIns="0" tIns="0" bIns="0" anchor="t">
            <a:spAutoFit/>
          </a:bodyPr>
          <a:lstStyle/>
          <a:p>
            <a:pPr algn="l">
              <a:spcBef>
                <a:spcPts val="0"/>
              </a:spcBef>
              <a:spcAft>
                <a:spcPts val="600"/>
              </a:spcAft>
            </a:pPr>
            <a:r>
              <a:rPr sz="1400" b="0" i="0" cap="all">
                <a:solidFill>
                  <a:srgbClr val="E12D64"/>
                </a:solidFill>
                <a:latin typeface="Fagun Bold"/>
                <a:ea typeface="Fagun Bold"/>
                <a:cs typeface="Fagun Bold"/>
              </a:rPr>
              <a:t>Strategy and impact</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Plan from what clients need</a:t>
            </a:r>
            <a:r>
              <a:rPr sz="1400" b="0" i="0">
                <a:solidFill>
                  <a:srgbClr val="410F37"/>
                </a:solidFill>
                <a:latin typeface="Fagun"/>
                <a:ea typeface="Fagun"/>
                <a:cs typeface="Fagun"/>
              </a:rPr>
              <a:t> — an outcomes ladder linking litigation, mediation and community engagement to meaningful results.</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a:ea typeface="Fagun"/>
                <a:cs typeface="Fagun"/>
              </a:rPr>
              <a:t>Broaden the framing from serious international crimes to human rights violations; stay people-focused and prioritise systemic change.</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Corporate accountability</a:t>
            </a:r>
            <a:r>
              <a:rPr sz="1400" b="0" i="0">
                <a:solidFill>
                  <a:srgbClr val="410F37"/>
                </a:solidFill>
                <a:latin typeface="Fagun"/>
                <a:ea typeface="Fagun"/>
                <a:cs typeface="Fagun"/>
              </a:rPr>
              <a:t> — legal action, regulatory complaints and advocacy — adopted as a core model, including Adani and Facebook.</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Bold"/>
                <a:ea typeface="Fagun Bold"/>
                <a:cs typeface="Fagun Bold"/>
              </a:rPr>
              <a:t>Rohingya</a:t>
            </a:r>
            <a:r>
              <a:rPr sz="1400" b="0" i="0">
                <a:solidFill>
                  <a:srgbClr val="410F37"/>
                </a:solidFill>
                <a:latin typeface="Fagun"/>
                <a:ea typeface="Fagun"/>
                <a:cs typeface="Fagun"/>
              </a:rPr>
              <a:t> — continue the lawyer-network and coordination approach, and take stock of progress after six months.</a:t>
            </a:r>
          </a:p>
          <a:p>
            <a:pPr algn="l">
              <a:spcBef>
                <a:spcPts val="1400"/>
              </a:spcBef>
              <a:spcAft>
                <a:spcPts val="600"/>
              </a:spcAft>
            </a:pPr>
            <a:r>
              <a:rPr sz="1400" b="0" i="0" cap="all">
                <a:solidFill>
                  <a:srgbClr val="E12D64"/>
                </a:solidFill>
                <a:latin typeface="Fagun Bold"/>
                <a:ea typeface="Fagun Bold"/>
                <a:cs typeface="Fagun Bold"/>
              </a:rPr>
              <a:t>Priorities</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a:ea typeface="Fagun"/>
                <a:cs typeface="Fagun"/>
              </a:rPr>
              <a:t>Keep excellence, rigour and clear accountability central; new geographies only where needs-driven.</a:t>
            </a:r>
          </a:p>
          <a:p>
            <a:pPr algn="l" marL="219456" indent="-219456">
              <a:spcBef>
                <a:spcPts val="0"/>
              </a:spcBef>
              <a:spcAft>
                <a:spcPts val="700"/>
              </a:spcAft>
              <a:buClr>
                <a:srgbClr val="E12D64"/>
              </a:buClr>
              <a:buSzPct val="80000"/>
              <a:buFont typeface="Arial"/>
              <a:buChar char="■"/>
            </a:pPr>
            <a:r>
              <a:rPr sz="1400" b="0" i="0">
                <a:solidFill>
                  <a:srgbClr val="410F37"/>
                </a:solidFill>
                <a:latin typeface="Fagun"/>
                <a:ea typeface="Fagun"/>
                <a:cs typeface="Fagun"/>
              </a:rPr>
              <a:t>Tell the organisation's story well and show impact to clients and funders; consider dedicated fundraising capacity.</a:t>
            </a:r>
          </a:p>
        </p:txBody>
      </p:sp>
      <p:pic>
        <p:nvPicPr>
          <p:cNvPr id="5" name="Picture 4" descr="team-retreat.jpg"/>
          <p:cNvPicPr>
            <a:picLocks noChangeAspect="1"/>
          </p:cNvPicPr>
          <p:nvPr/>
        </p:nvPicPr>
        <p:blipFill>
          <a:blip r:embed="rId2"/>
          <a:stretch>
            <a:fillRect/>
          </a:stretch>
        </p:blipFill>
        <p:spPr>
          <a:xfrm>
            <a:off x="7711135" y="1920239"/>
            <a:ext cx="3840480" cy="2880360"/>
          </a:xfrm>
          <a:prstGeom prst="rect">
            <a:avLst/>
          </a:prstGeom>
        </p:spPr>
      </p:pic>
      <p:sp>
        <p:nvSpPr>
          <p:cNvPr id="6" name="Caption"/>
          <p:cNvSpPr txBox="1"/>
          <p:nvPr/>
        </p:nvSpPr>
        <p:spPr>
          <a:xfrm>
            <a:off x="7711135" y="4892040"/>
            <a:ext cx="3840480" cy="274320"/>
          </a:xfrm>
          <a:prstGeom prst="rect">
            <a:avLst/>
          </a:prstGeom>
          <a:noFill/>
        </p:spPr>
        <p:txBody>
          <a:bodyPr wrap="square" lIns="0" rIns="0" tIns="0" bIns="0" anchor="t">
            <a:spAutoFit/>
          </a:bodyPr>
          <a:lstStyle/>
          <a:p>
            <a:pPr algn="l">
              <a:spcBef>
                <a:spcPts val="0"/>
              </a:spcBef>
              <a:spcAft>
                <a:spcPts val="0"/>
              </a:spcAft>
            </a:pPr>
            <a:r>
              <a:rPr sz="1000" b="0" i="1">
                <a:solidFill>
                  <a:srgbClr val="410F37"/>
                </a:solidFill>
                <a:latin typeface="Fagun"/>
                <a:ea typeface="Fagun"/>
                <a:cs typeface="Fagun"/>
              </a:rPr>
              <a:t>Team retreat, September 2026</a:t>
            </a:r>
          </a:p>
        </p:txBody>
      </p:sp>
      <p:sp>
        <p:nvSpPr>
          <p:cNvPr id="7" name="Footer"/>
          <p:cNvSpPr txBox="1"/>
          <p:nvPr/>
        </p:nvSpPr>
        <p:spPr>
          <a:xfrm>
            <a:off x="640080" y="6400800"/>
            <a:ext cx="8229600" cy="228600"/>
          </a:xfrm>
          <a:prstGeom prst="rect">
            <a:avLst/>
          </a:prstGeom>
          <a:noFill/>
        </p:spPr>
        <p:txBody>
          <a:bodyPr wrap="square" lIns="0" rIns="0" tIns="0" bIns="0" anchor="t">
            <a:spAutoFit/>
          </a:bodyPr>
          <a:lstStyle/>
          <a:p>
            <a:pPr algn="l">
              <a:spcBef>
                <a:spcPts val="0"/>
              </a:spcBef>
              <a:spcAft>
                <a:spcPts val="0"/>
              </a:spcAft>
            </a:pPr>
            <a:r>
              <a:rPr sz="900" b="0" i="0">
                <a:solidFill>
                  <a:srgbClr val="410F37"/>
                </a:solidFill>
                <a:latin typeface="Fagun"/>
                <a:ea typeface="Fagun"/>
                <a:cs typeface="Fagun"/>
              </a:rPr>
              <a:t>hūmānus  ·  Q3 2026 Board Meeting  ·  Operations &amp; Impact Update</a:t>
            </a:r>
          </a:p>
        </p:txBody>
      </p:sp>
      <p:sp>
        <p:nvSpPr>
          <p:cNvPr id="8" name="Page"/>
          <p:cNvSpPr txBox="1"/>
          <p:nvPr/>
        </p:nvSpPr>
        <p:spPr>
          <a:xfrm>
            <a:off x="10180015" y="6400800"/>
            <a:ext cx="1371600" cy="228600"/>
          </a:xfrm>
          <a:prstGeom prst="rect">
            <a:avLst/>
          </a:prstGeom>
          <a:noFill/>
        </p:spPr>
        <p:txBody>
          <a:bodyPr wrap="square" lIns="0" rIns="0" tIns="0" bIns="0" anchor="t">
            <a:spAutoFit/>
          </a:bodyPr>
          <a:lstStyle/>
          <a:p>
            <a:pPr algn="r">
              <a:spcBef>
                <a:spcPts val="0"/>
              </a:spcBef>
              <a:spcAft>
                <a:spcPts val="0"/>
              </a:spcAft>
            </a:pPr>
            <a:r>
              <a:rPr sz="900" b="0" i="0">
                <a:solidFill>
                  <a:srgbClr val="410F37"/>
                </a:solidFill>
                <a:latin typeface="Fagun"/>
                <a:ea typeface="Fagun"/>
                <a:cs typeface="Fagun"/>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10F3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3657600" cy="6858000"/>
          </a:xfrm>
          <a:prstGeom prst="rect">
            <a:avLst/>
          </a:prstGeom>
        </p:spPr>
      </p:pic>
      <p:pic>
        <p:nvPicPr>
          <p:cNvPr id="3" name="Picture 2" descr="humanus_logo_master_bold.png"/>
          <p:cNvPicPr>
            <a:picLocks noChangeAspect="1"/>
          </p:cNvPicPr>
          <p:nvPr/>
        </p:nvPicPr>
        <p:blipFill>
          <a:blip r:embed="rId3"/>
          <a:stretch>
            <a:fillRect/>
          </a:stretch>
        </p:blipFill>
        <p:spPr>
          <a:xfrm>
            <a:off x="3886191" y="1142991"/>
            <a:ext cx="5852160" cy="2019272"/>
          </a:xfrm>
          <a:prstGeom prst="rect">
            <a:avLst/>
          </a:prstGeom>
        </p:spPr>
      </p:pic>
      <p:sp>
        <p:nvSpPr>
          <p:cNvPr id="4" name="TextBox 3"/>
          <p:cNvSpPr txBox="1"/>
          <p:nvPr/>
        </p:nvSpPr>
        <p:spPr>
          <a:xfrm>
            <a:off x="4480560" y="3043174"/>
            <a:ext cx="7071055" cy="1097280"/>
          </a:xfrm>
          <a:prstGeom prst="rect">
            <a:avLst/>
          </a:prstGeom>
          <a:noFill/>
        </p:spPr>
        <p:txBody>
          <a:bodyPr wrap="square" lIns="0" rIns="0" tIns="0" bIns="0" anchor="t">
            <a:spAutoFit/>
          </a:bodyPr>
          <a:lstStyle/>
          <a:p>
            <a:pPr algn="l">
              <a:spcBef>
                <a:spcPts val="0"/>
              </a:spcBef>
              <a:spcAft>
                <a:spcPts val="600"/>
              </a:spcAft>
            </a:pPr>
            <a:r>
              <a:rPr sz="3000" b="0" i="0">
                <a:solidFill>
                  <a:srgbClr val="96FF14"/>
                </a:solidFill>
                <a:latin typeface="Fagun Black"/>
                <a:ea typeface="Fagun Black"/>
                <a:cs typeface="Fagun Black"/>
              </a:rPr>
              <a:t>Humanising Justice</a:t>
            </a:r>
          </a:p>
          <a:p>
            <a:pPr algn="l">
              <a:spcBef>
                <a:spcPts val="0"/>
              </a:spcBef>
              <a:spcAft>
                <a:spcPts val="0"/>
              </a:spcAft>
            </a:pPr>
            <a:r>
              <a:rPr sz="1200" b="0" i="0">
                <a:solidFill>
                  <a:srgbClr val="96FF14"/>
                </a:solidFill>
                <a:latin typeface="Fagun Medium"/>
                <a:ea typeface="Fagun Medium"/>
                <a:cs typeface="Fagun Medium"/>
              </a:rPr>
              <a:t>ACCOUNTABILITY  ·  COMMUNITY  ·  EVIDENCE</a:t>
            </a:r>
          </a:p>
        </p:txBody>
      </p:sp>
      <p:sp>
        <p:nvSpPr>
          <p:cNvPr id="5" name="TextBox 4"/>
          <p:cNvSpPr txBox="1"/>
          <p:nvPr/>
        </p:nvSpPr>
        <p:spPr>
          <a:xfrm>
            <a:off x="4480560" y="4754880"/>
            <a:ext cx="7071055" cy="365760"/>
          </a:xfrm>
          <a:prstGeom prst="rect">
            <a:avLst/>
          </a:prstGeom>
          <a:noFill/>
        </p:spPr>
        <p:txBody>
          <a:bodyPr wrap="square" lIns="0" rIns="0" tIns="0" bIns="0" anchor="t">
            <a:spAutoFit/>
          </a:bodyPr>
          <a:lstStyle/>
          <a:p>
            <a:pPr algn="l">
              <a:spcBef>
                <a:spcPts val="0"/>
              </a:spcBef>
              <a:spcAft>
                <a:spcPts val="0"/>
              </a:spcAft>
            </a:pPr>
            <a:r>
              <a:rPr sz="1600" b="0" i="0">
                <a:solidFill>
                  <a:srgbClr val="96FF14"/>
                </a:solidFill>
                <a:latin typeface="Fagun Medium"/>
                <a:ea typeface="Fagun Medium"/>
                <a:cs typeface="Fagun Medium"/>
              </a:rPr>
              <a:t>www.humanus.co  ·  hello@humanus.co</a:t>
            </a:r>
          </a:p>
        </p:txBody>
      </p:sp>
      <p:sp>
        <p:nvSpPr>
          <p:cNvPr id="6" name="TextBox 5"/>
          <p:cNvSpPr txBox="1"/>
          <p:nvPr/>
        </p:nvSpPr>
        <p:spPr>
          <a:xfrm>
            <a:off x="4480560" y="6172200"/>
            <a:ext cx="7071055" cy="365760"/>
          </a:xfrm>
          <a:prstGeom prst="rect">
            <a:avLst/>
          </a:prstGeom>
          <a:noFill/>
        </p:spPr>
        <p:txBody>
          <a:bodyPr wrap="square" lIns="0" rIns="0" tIns="0" bIns="0" anchor="t">
            <a:spAutoFit/>
          </a:bodyPr>
          <a:lstStyle/>
          <a:p>
            <a:pPr algn="l">
              <a:spcBef>
                <a:spcPts val="0"/>
              </a:spcBef>
              <a:spcAft>
                <a:spcPts val="0"/>
              </a:spcAft>
            </a:pPr>
            <a:r>
              <a:rPr sz="1000" b="0" i="1">
                <a:solidFill>
                  <a:srgbClr val="96FF14"/>
                </a:solidFill>
                <a:latin typeface="Fagun"/>
                <a:ea typeface="Fagun"/>
                <a:cs typeface="Fagun"/>
              </a:rPr>
              <a:t>Q3 2026 Board Meeting  ·  Operations &amp; Impact Update  ·  Sponsor: Eva Buzo (ED)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10F37"/>
      </a:hlink>
      <a:folHlink>
        <a:srgbClr val="800080"/>
      </a:folHlink>
    </a:clrScheme>
    <a:fontScheme name="Office">
      <a:majorFont>
        <a:latin typeface="Fagun 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agu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 Operations &amp; Impact Update — Q3 2026 Board Meeting</dc:title>
  <dc:subject/>
  <dc:creator>hūmānus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