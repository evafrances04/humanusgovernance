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0" y="3383280"/>
            <a:ext cx="1188720" cy="150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96FF14"/>
                </a:solidFill>
                <a:latin typeface="Fagun Medium"/>
              </a:rPr>
              <a:t>year-to-date update  ·  Q2 2026 Board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0233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Fagun Medium"/>
              </a:rPr>
              <a:t>29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Fagun Black"/>
              </a:rPr>
              <a:t>Humanising Justice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96FF14"/>
                </a:solidFill>
                <a:latin typeface="Fagun Medium"/>
              </a:rPr>
              <a:t>ACCOUNTABILITY  ·  COMMUNITY  · 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Sponsor: Eva Buzo, Executive Director  ·  Agenda item 4  ·  15 minutes  ·  Discussion</a:t>
            </a:r>
          </a:p>
        </p:txBody>
      </p:sp>
      <p:pic>
        <p:nvPicPr>
          <p:cNvPr id="10" name="Picture 9" descr="humanus_logo_master_b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86" y="1011143"/>
            <a:ext cx="9509522" cy="32812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Three goals guide everything we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Our 2024–29 strategy frames the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Fagun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secure outcomes in line with their own conception of justice.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Fagun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are empowered by the process of pursuing justice — not just by its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Fagun Blac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Justice processes are transformed to put victims at the centre.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2026 is the first full year operating as hūmānus (stichting) under the new statutory structure.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Where the work has sat this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Y2D 2026 (January–May) by funded programme and other significant strands.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972800" cy="41148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1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Programme / strand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94767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Funder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47671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Y2D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5999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915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Towards a More Peaceful Arakan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5915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Swiss FDFA via Stimson 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5915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Live — partnership signed Feb 2026; active from Dec 2025; runs to May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52927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26079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Bangladesh dialogue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92607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FCDO (UK)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26079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Continuing dialogue programme; Asia trip with Stimson reviewed Q1.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19855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7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Rohingya in India — legal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49300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493007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Lead: Arati Ranade. 8 cases commenced in West Bengal; UP next. RSU and Bridging Changes / HDCO consultation in flight.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86783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59935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Women's Dialogue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59935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SDC (under VAI legacy entity)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059935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Grant close-out — ends 30 April 2026; 3rd narrative + finance reports due May.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53711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26863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Fagun Bold"/>
              </a:rPr>
              <a:t>Accountability for business and human rights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626863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626863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Meta Inc. proceedings; Adani / UniSuper / APRA strand (new from March); Mohib Ullah accountability continuing.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120639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Public engagement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19379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Core funding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9379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Frontline Club London panel (2 April 2026); Aditi and Nazia speaker videos; BBC and AP pitches; Geneva mid-May.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10F37"/>
                </a:solidFill>
                <a:latin typeface="Inter"/>
              </a:rPr>
              <a:t>Detail on each strand follows. Finance picture: see Reserves Prognosis (paper 04) and YTD Grant Spend (paper 05).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Towards a More Peaceful Arakan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Swiss FDFA, via Stimson Center as prime  ·  hūmānus as implementing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PROJECT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An 18-month partnership to identify, create, and support trust-building opportunities among Rohingya, Arakanese, and Bangladesh stakeholders, against the backdrop of the Arakan Army's consolidation across northern Arakan. The project combines bilateral engagement, capacity building, and facilitated dialogue — and gives hūmānus a structured channel into Track-2 work on the Bangladesh–Myanmar border.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WHERE WE 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165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Partnership agreement signed 5 February 2026, effective from 1 December 2025, runs to 31 May 2027.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737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Y2D: workplan kicking off; bi-weekly check-in cadence with Stimson; Q1 Asia trip with Stimson reviewed against the Bangladesh political transition.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3309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Programmatic focus reflected in the 2025 dialogue model — sustained weekly engagement with Rohingya leadership and inter-ethnic dialogue with Rakhine and Bangladeshi counterparts.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Bangladesh dialogue programme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FCDO (UK)  ·  continuing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FUNDING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Sustained dialogue and engagement work with Rohingya leadership in Bangladesh, complementing the Swiss/Stimson Arakan partnership. Operates in a deficit / reimbursement model — hūmānus spends and is reimbursed in arrears, which is why cash-flow management is a standing board item.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WHERE WE 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336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Continuing engagement through Q1; programme management transitioned to Shafi following Jaya's departure.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6908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Asia trip with Stimson reviewed Q1 against the Bangladesh political situation; status to be confirmed at the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480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Cash-flow discipline: deficit-model reimbursement remains a watch-item — addressed in papers 04 and 05.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Rohingya in India — legal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no project grant  ·  Lead: Arati Ranade, India Programme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WHAT THE STRAND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Direct legal intervention for detained Rohingya refugees in India, building a cross-state network of lawyers and an evidentiary base on detention and deportation patterns. Funded from core — no donor restriction on case selection or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Y2D STREAMS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593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Litigation — 8 cases commenced in West Bengal; UP scoping under way as the next state to open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165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Supporting work — habeas corpus drafts, bail applications, RTI / petitioner-search, lawyer outreach in J&amp;K; quarterly developments report commissioned end-March.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737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India detention database — continuing partnership with the Azadi Project; remains live and in active 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3309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120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Rohingya Student Union — stakeholder-analysis partnership in flight; formal kick-off status to be confirmed at the meeting.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881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Bridging Changes Coalition / HDCO — Rohingya-in-India closed-door consultation in flight (scoped Q1); date and outputs to be confirmed at the meeting.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Women's Dialogue — grant close-out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SDC (Swiss)  ·  contracted under VAI legacy entity  ·  grant ends 30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WHERE THE WORK HAS SAT IN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963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Y2D activity has been close-out, not new convenings — spending plan for the remainder of the grant, plus the 3rd narrative report and 3rd finance report (due 15 May 2026).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535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Grant terminated 30 April 2026; final reporting and reconciliation in train.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Project sits under the VAI legal entity. Audit report in this pack is VAI 2024 (paper 06) — implications for donor-renewal positioning are touched on under strategic outlook.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10F37"/>
                </a:solidFill>
                <a:latin typeface="Fagun Medium"/>
              </a:rPr>
              <a:t>WHY THIS MATTERS FOR THE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Closing out an SDC grant under VAI while building a Swiss FDFA relationship under hūmānus (via Stimson) — this is the entity transition playing out across two live Swiss-funded workstreams. Worth attention on continuity of relationships in Bern and Dhaka.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VA_Frontline_020426-077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96FF14"/>
                </a:solidFill>
                <a:latin typeface="Fagun Medium"/>
              </a:rPr>
              <a:t>PUBLIC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Fagun Black"/>
              </a:rPr>
              <a:t>Frontline Club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Fagun Black"/>
              </a:rPr>
              <a:t>panel — London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96FF14"/>
                </a:solidFill>
                <a:latin typeface="Fagun Medium"/>
              </a:rPr>
              <a:t>Human Rights in a Fragmenting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Fagun Medium"/>
              </a:rPr>
              <a:t>2 April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Inter"/>
              </a:rPr>
              <a:t>A hūmānus-branded panel at the Frontline Club, bringing together our Rohingya-in-India work, dialogue work, and wider accountability practice in front of a London press and policy audience. Featured-speaker videos (Aditi and Nazia) approved end-May for onward circulation.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6FF14"/>
                </a:solidFill>
                <a:latin typeface="Inter"/>
              </a:rPr>
              <a:t>hūmānus  ·  Q2 2026 Board Meeting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96FF14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Accountability for business and human rights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Core funded  ·  programmatic framework for our corporate-accountability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THE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Bringing together our work that holds business actors accountable for contribution to, or benefit from, serious international crimes — across litigation, regulatory complaint, and investor-facing advocacy.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10F37"/>
                </a:solidFill>
                <a:latin typeface="Fagun Medium"/>
              </a:rPr>
              <a:t>ACTIVE WORKSTREAMS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Meta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Civil proceedings in Ireland continuing on behalf of sixteen plaintiffs. SEC pathway active. Underpinned by 2025 evidence-base work (RJI / ARSPH merge, CRA reparations analysis).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Adani / UniSuper / APRA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5394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New active strand from March 2026: APRA complaint (Cbus deep-dive), Adani Investors briefings on Australian fiduciary case law and super-fund exposure to Adani / GQG, Adani Defence scoping, OFAC Iran civil-probe briefing, UniSuper PHD 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Mohib Ullah accountability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UN Special Rapporteur submission progressed Q1 (Hashmat feedback). ARSA designation advocacy continuing.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3949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Fagun Bold"/>
              </a:rPr>
              <a:t>Note for the 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607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410F37"/>
                </a:solidFill>
                <a:latin typeface="Inter"/>
              </a:rPr>
              <a:t>Adani / UniSuper has grown enough in three months to warrant its own briefing — proposed as a dedicated paper at Q3.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Fagun Bold"/>
              </a:rPr>
              <a:t>Strategic outlook and watch-items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Things to keep in view between now and the Q3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Reserves and deficit-model donors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FCDO and Swiss reimburse in arrears; cash-flow discipline remains critical. Detail in papers 04 (Reserves Prognosis) and 05 (Y2D Grant Spend).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8716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VAI ↔ hūmānus entity transition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61488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Two active Swiss-funded workstreams straddle the transition — SDC Women's Dialogue closing out under VAI; Swiss/Stimson Arakan running under hūmānus.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6976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36976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Bangladesh operating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11296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Political situation under the new government continues to shape Bangladesh dialogue and Stimson partnership delivery.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86784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8678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Beyond 2029 / post-OSF horizon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61104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Picked up under agenda item 6 (strategic discussion) — matching ambition to a minimal-fundraising posture.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36592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736592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Hiring posture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Cautious on new permanent hires after Q1 reflection; no new joiners Feb–May 2026.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37160" cy="6858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10F37"/>
                </a:solidFill>
                <a:latin typeface="Fagun Bold"/>
              </a:rPr>
              <a:t>Governance and external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607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Els onboarding closed Q1 action 9 (contracts, notary, statutes, insurance — April). BBC and AP pitches drafted in April; Geneva convening mid-May. Frontline Club post-production complete.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Fagun Black"/>
              </a:rPr>
              <a:t>Humanising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6FF14"/>
                </a:solidFill>
                <a:latin typeface="Fagun Medium"/>
              </a:rPr>
              <a:t>ACCOUNTABILITY  ·  COMMUNITY  · 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www.humanus.co  ·  hello@humanus.co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Q2 2026 Board Meeting  ·  Operations &amp; Impact Update  ·  Sponsor: Eva Buzo (ED)</a:t>
            </a:r>
          </a:p>
        </p:txBody>
      </p:sp>
      <p:pic>
        <p:nvPicPr>
          <p:cNvPr id="8" name="Picture 7" descr="humanus_logo_master_b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86" y="1011143"/>
            <a:ext cx="9509522" cy="32812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