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0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0" b="1" i="0">
                <a:solidFill>
                  <a:srgbClr val="96FF14"/>
                </a:solidFill>
                <a:latin typeface="Inter"/>
              </a:rPr>
              <a:t>hūmānus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3383280"/>
            <a:ext cx="1188720" cy="1500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E12D64"/>
                </a:solidFill>
                <a:latin typeface="Inter"/>
              </a:rPr>
              <a:t>year-to-date update  ·  Q2 2026 Board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29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FFFFFF"/>
                </a:solidFill>
                <a:latin typeface="Inter"/>
              </a:rPr>
              <a:t>Humanising Justice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6FF14"/>
                </a:solidFill>
                <a:latin typeface="Inter"/>
              </a:rPr>
              <a:t>ACCOUNTABILITY  ·  COMMUNITY  · 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6FF14"/>
                </a:solidFill>
                <a:latin typeface="Inter"/>
              </a:rPr>
              <a:t>Sponsor: Eva Buzo, Executive Director  ·  Agenda item 4  ·  15 minutes  · 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Inter"/>
              </a:rPr>
              <a:t>Three goals guide everything we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Our 2024–29 strategy frames the year.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74720" cy="2743200"/>
          </a:xfrm>
          <a:prstGeom prst="rect">
            <a:avLst/>
          </a:prstGeom>
          <a:solidFill>
            <a:srgbClr val="410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96FF14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Victims secure outcomes in line with their own conception of justice.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474720" cy="2743200"/>
          </a:xfrm>
          <a:prstGeom prst="rect">
            <a:avLst/>
          </a:prstGeom>
          <a:solidFill>
            <a:srgbClr val="410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96FF14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56616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Victims are empowered by the process of pursuing justice — not just by its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94560"/>
            <a:ext cx="3474720" cy="2743200"/>
          </a:xfrm>
          <a:prstGeom prst="rect">
            <a:avLst/>
          </a:prstGeom>
          <a:solidFill>
            <a:srgbClr val="410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96FF14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6616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Justice processes are transformed to put victims at the centre.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10F37"/>
                </a:solidFill>
                <a:latin typeface="Inter"/>
              </a:rPr>
              <a:t>2026 is the first full year operating as hūmānus (stichting) under the new statutory 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Q2 2026 Board Meeting  ·  Operations &amp; Impact 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Inter"/>
              </a:rPr>
              <a:t>Where the work has sat this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Y2D 2026 (January–May) by funded programme and other significant strands.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972800" cy="411480"/>
          </a:xfrm>
          <a:prstGeom prst="rect">
            <a:avLst/>
          </a:prstGeom>
          <a:solidFill>
            <a:srgbClr val="410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1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6FF14"/>
                </a:solidFill>
                <a:latin typeface="Inter"/>
              </a:rPr>
              <a:t>Programme / strand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947671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6FF14"/>
                </a:solidFill>
                <a:latin typeface="Inter"/>
              </a:rPr>
              <a:t>Funder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947671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6FF14"/>
                </a:solidFill>
                <a:latin typeface="Inter"/>
              </a:rPr>
              <a:t>Y2D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5999"/>
            <a:ext cx="10972800" cy="566928"/>
          </a:xfrm>
          <a:prstGeom prst="rect">
            <a:avLst/>
          </a:prstGeom>
          <a:solidFill>
            <a:srgbClr val="F7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1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Inter"/>
              </a:rPr>
              <a:t>Towards a More Peaceful Arakan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59151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Swiss FDFA via Stimson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359151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Live — partnership signed Feb 2026; active from Dec 2025; runs to May 2027.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52927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26079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Inter"/>
              </a:rPr>
              <a:t>Bangladesh dialogue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926079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FCDO (UK)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26079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Continuing dialogue programme; Asia trip with Stimson reviewed Q1.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19855"/>
            <a:ext cx="10972800" cy="566928"/>
          </a:xfrm>
          <a:prstGeom prst="rect">
            <a:avLst/>
          </a:prstGeom>
          <a:solidFill>
            <a:srgbClr val="F7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93007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Inter"/>
              </a:rPr>
              <a:t>OSF South Asia — Rohingya in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493007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Open Society Foundations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493007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$300k received Jan 2026; India litigation, RSU partnership, HDCO/Bridging Changes consultation in flight.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86783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59935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Inter"/>
              </a:rPr>
              <a:t>Women's Dialogue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059935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SDC (under VAI legacy entity)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059935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Grant close-out — ends 30 April 2026; 3rd narrative + finance reports due May.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53711"/>
            <a:ext cx="10972800" cy="566928"/>
          </a:xfrm>
          <a:prstGeom prst="rect">
            <a:avLst/>
          </a:prstGeom>
          <a:solidFill>
            <a:srgbClr val="F7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26863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Inter"/>
              </a:rPr>
              <a:t>Adani / UniSuper / APRA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626863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Self-directed (no external grant)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626863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New strand from March 2026; substantial volume.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20639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93791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10F37"/>
                </a:solidFill>
                <a:latin typeface="Inter"/>
              </a:rPr>
              <a:t>Meta Inc. accountability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193791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Self-directed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5193791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10F37"/>
                </a:solidFill>
                <a:latin typeface="Inter"/>
              </a:rPr>
              <a:t>Civil proceedings in Ireland continuing; SEC pathway live.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10F37"/>
                </a:solidFill>
                <a:latin typeface="Inter"/>
              </a:rPr>
              <a:t>Detail on each strand follows. Finance picture: see Reserves Prognosis (paper 04) and YTD Grant Spend (paper 05).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Q2 2026 Board Meeting  ·  Operations &amp; Impact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Inter"/>
              </a:rPr>
              <a:t>Towards a More Peaceful Arakan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Swiss FDFA, via Stimson Center as prime  ·  hūmānus as implementing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10F37"/>
                </a:solidFill>
                <a:latin typeface="Inter"/>
              </a:rPr>
              <a:t>What the project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0F37"/>
                </a:solidFill>
                <a:latin typeface="Inter"/>
              </a:rPr>
              <a:t>An 18-month partnership to identify, create, and support trust-building opportunities among Rohingya, Arakanese, and Bangladesh stakeholders, against the backdrop of the Arakan Army's consolidation across northern Arakan. The project combines bilateral engagement, capacity building, and facilitated dialogue — and gives hūmānus a structured channel into Track-2 work on the Bangladesh–Myanmar border.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10F37"/>
                </a:solidFill>
                <a:latin typeface="Inter"/>
              </a:rPr>
              <a:t>Where we 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1655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Partnership agreement signed 5 February 2026, effective from 1 December 2025, runs to 31 May 2027.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7375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Y2D: workplan kicking off; bi-weekly check-in cadence with Stimson; Q1 Asia trip with Stimson reviewed against the Bangladesh political transition.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3095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Programmatic focus reflected in the 2025 dialogue model — sustained weekly engagement with Rohingya leadership and inter-ethnic dialogue with Rakhine and Bangladeshi counterparts.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Q2 2026 Board Meeting  ·  Operations &amp; Impact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Inter"/>
              </a:rPr>
              <a:t>Bangladesh dialogue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FCDO (UK)  ·  continuing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10F37"/>
                </a:solidFill>
                <a:latin typeface="Inter"/>
              </a:rPr>
              <a:t>What the funding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0F37"/>
                </a:solidFill>
                <a:latin typeface="Inter"/>
              </a:rPr>
              <a:t>Sustained dialogue and engagement work with Rohingya leadership in Bangladesh, complementing the Swiss/Stimson Arakan partnership. Operates in a deficit / reimbursement model — hūmānus spends and is reimbursed in arrears, which is why cash-flow management is a standing board item.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10F37"/>
                </a:solidFill>
                <a:latin typeface="Inter"/>
              </a:rPr>
              <a:t>Where we 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3367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Continuing engagement through Q1; programme management transitioned to Shafi following Jaya's departure.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9087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Asia trip with Stimson reviewed Q1 against the Bangladesh political situation; status to be confirmed at the meeting.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4807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Cash-flow discipline: deficit-model reimbursement remains a watch-item — addressed in papers 04 and 05.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Q2 2026 Board Meeting  ·  Operations &amp; Impact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Inter"/>
              </a:rPr>
              <a:t>OSF South Asia — Rohingya in India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Open Society Foundations  ·  USD 300,000 grant received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10F37"/>
                </a:solidFill>
                <a:latin typeface="Inter"/>
              </a:rPr>
              <a:t>What the grant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0F37"/>
                </a:solidFill>
                <a:latin typeface="Inter"/>
              </a:rPr>
              <a:t>Strategic work on Rohingya in India: protecting detained refugees through legal intervention, building a cross-state network of lawyers, and feeding evidence and analysis into wider Rohingya advocacy.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10F37"/>
                </a:solidFill>
                <a:latin typeface="Inter"/>
              </a:rPr>
              <a:t>Y2D streams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1363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India detention database — partnership with the Azadi Project; live and in active 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7083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Litigation strand — habeas corpus drafting and bail applications under way since January; RTI / petitioner-search work continuing; lawyer outreach in J&amp;K; quarterly report of developments commissioned end-March.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2803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Rohingya Student Union — stakeholder analysis partnership; formal kick-off and work-plan location to be confirmed at the meeting.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28523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Bridging Changes Coalition / HDCO — Rohingya-in-India closed-door consultation in flight (scoped Q1); date and outputs to be confirmed at the meeting.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Q2 2026 Board Meeting  ·  Operations &amp; Impact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Inter"/>
              </a:rPr>
              <a:t>Women's Dialogue — grant close-out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SDC (Swiss)  ·  contracted under VAI legacy entity  ·  grant ends 30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10F37"/>
                </a:solidFill>
                <a:latin typeface="Inter"/>
              </a:rPr>
              <a:t>Where the work has sat in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9631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Y2D activity has been close-out, not new convenings — spending plan for the remainder of the grant, plus the 3rd narrative report and 3rd finance report (due 15 May 2026).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5351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Grant terminated 30 April 2026; final reporting and reconciliation in train.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96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0F37"/>
                </a:solidFill>
                <a:latin typeface="Inter"/>
              </a:rPr>
              <a:t>Project sits under the VAI legal entity. Audit report in this pack is VAI 2024 (paper 06) — implications for donor-renewal positioning are touched on under strategic outlook.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12D64"/>
                </a:solidFill>
                <a:latin typeface="Inter"/>
              </a:rPr>
              <a:t>Why this matters for the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10F37"/>
                </a:solidFill>
                <a:latin typeface="Inter"/>
              </a:rPr>
              <a:t>Closing out an SDC grant under VAI while building a Swiss FDFA relationship under hūmānus (via Stimson) — this is the entity transition playing out across two live Swiss-funded workstreams. Worth attention on continuity of relationships in Bern and Dhaka.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Q2 2026 Board Meeting  ·  Operations &amp; Impact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Inter"/>
              </a:rPr>
              <a:t>Other significant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Not externally project-funded, or peripheral to the funded portfolio.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10F37"/>
                </a:solidFill>
                <a:latin typeface="Inter"/>
              </a:rPr>
              <a:t>Adani / UniSuper / APRA strand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394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New and active workstream from March 2026. Includes APRA complaint work (Cbus deep-dive), Adani Investors briefings (Australian fiduciary case law, super-fund exposure to Adani / GQG), Adani Defence scoping, OFAC Iran civil-probe briefing, and a UniSuper PHD review. Substantial volume — Board may wish to take a dedicated update at a future meeting.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10F37"/>
                </a:solidFill>
                <a:latin typeface="Inter"/>
              </a:rPr>
              <a:t>Meta Inc. accountability &amp; Mohib Ullah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5394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Civil proceedings in Ireland continuing on behalf of sixteen plaintiffs; SEC pathway active. Mohib Ullah submission to the UN Special Rapporteur progressed (Hashmat feedback Q1).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10F37"/>
                </a:solidFill>
                <a:latin typeface="Inter"/>
              </a:rPr>
              <a:t>Comms and external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5394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Pitch notes drafted (April) for Rebecca Henschke (BBC World Service / BBC Eye) and Kristen Gelineau (AP). Foreign Correspondents-style convening late May with Aditi and Nazia. Geneva convening mid-May.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10F37"/>
                </a:solidFill>
                <a:latin typeface="Inter"/>
              </a:rPr>
              <a:t>Governance — Els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83480"/>
            <a:ext cx="5394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Statutory director onboarding workstream completed April 2026: contracts, notary documents and statutes update, insurance cover with Els's broker. Closes Q1 action 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Q2 2026 Board Meeting  ·  Operations &amp; Impact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10F37"/>
                </a:solidFill>
                <a:latin typeface="Inter"/>
              </a:rPr>
              <a:t>Strategic outlook and watch-items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12D64"/>
                </a:solidFill>
                <a:latin typeface="Inter"/>
              </a:rPr>
              <a:t>Things to keep in view between now and the Q3 meeting.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37160" cy="77724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10F37"/>
                </a:solidFill>
                <a:latin typeface="Inter"/>
              </a:rPr>
              <a:t>Reserves and deficit-model donors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FCDO and Swiss reimburse in arrears; cash-flow discipline remains critical. Detail in papers 04 (Reserves Prognosis) and 05 (Y2D Grant Spend).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137160" cy="77724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10F37"/>
                </a:solidFill>
                <a:latin typeface="Inter"/>
              </a:rPr>
              <a:t>VAI ↔ hūmānus entity transition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Two active Swiss-funded workstreams straddle the transition — SDC Women's Dialogue closing out under VAI; Swiss/Stimson Arakan running under hūmānus.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137160" cy="77724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10F37"/>
                </a:solidFill>
                <a:latin typeface="Inter"/>
              </a:rPr>
              <a:t>Bangladesh operating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Political situation under the new government continues to shape Bangladesh dialogue and Stimson partnership delivery.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137160" cy="77724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10F37"/>
                </a:solidFill>
                <a:latin typeface="Inter"/>
              </a:rPr>
              <a:t>Beyond 2029 / post-OSF horizon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Picked up under agenda item 6 (strategic discussion) — matching ambition to a minimal-fundraising posture.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03520"/>
            <a:ext cx="137160" cy="777240"/>
          </a:xfrm>
          <a:prstGeom prst="rect">
            <a:avLst/>
          </a:prstGeom>
          <a:solidFill>
            <a:srgbClr val="E12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10F37"/>
                </a:solidFill>
                <a:latin typeface="Inter"/>
              </a:rPr>
              <a:t>Hiring posture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10F37"/>
                </a:solidFill>
                <a:latin typeface="Inter"/>
              </a:rPr>
              <a:t>Eva remains cautious on new permanent hires in the short term following Q1 reflection; no new joiners Feb–May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hūmānus  ·  Q2 2026 Board Meeting  ·  Operations &amp; Impact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10F37"/>
                </a:solidFill>
                <a:latin typeface="Inter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0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96FF14"/>
                </a:solidFill>
                <a:latin typeface="Inter"/>
              </a:rPr>
              <a:t>hūmānus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Inter"/>
              </a:rPr>
              <a:t>Humanising justice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6FF14"/>
                </a:solidFill>
                <a:latin typeface="Inter"/>
              </a:rPr>
              <a:t>ACCOUNTABILITY  ·  COMMUNITY  · 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www.humanus.co  ·  hello@humanus.co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6FF14"/>
                </a:solidFill>
                <a:latin typeface="Inter"/>
              </a:rPr>
              <a:t>Q2 2026 Board Meeting  ·  Operations &amp; Impact Update  ·  Sponsor: Eva Buzo (ED)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