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400" b="1" i="0">
                <a:solidFill>
                  <a:srgbClr val="96FF14"/>
                </a:solidFill>
                <a:latin typeface="Inter"/>
              </a:rPr>
              <a:t>hūmānus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383280"/>
            <a:ext cx="1188720" cy="150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E12D64"/>
                </a:solidFill>
                <a:latin typeface="Inter"/>
              </a:rPr>
              <a:t>year-to-date update  ·  Q2 2026 Board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0233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29 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Inter"/>
              </a:rPr>
              <a:t>Humanising Justice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6FF14"/>
                </a:solidFill>
                <a:latin typeface="Inter"/>
              </a:rPr>
              <a:t>ACCOUNTABILITY  ·  COMMUNITY  · 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6FF14"/>
                </a:solidFill>
                <a:latin typeface="Inter"/>
              </a:rPr>
              <a:t>Sponsor: Eva Buzo, Executive Director  ·  Agenda item 4  ·  15 minutes  · 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410F37"/>
                </a:solidFill>
                <a:latin typeface="Inter"/>
              </a:rPr>
              <a:t>Purpose of this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10F37"/>
                </a:solidFill>
                <a:latin typeface="Inter"/>
              </a:rPr>
              <a:t>Update the Board on hūmānus operations and impact since January 2026 — what we have done, what it has produced, and what is open.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12D64"/>
                </a:solidFill>
                <a:latin typeface="Inter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6FF14"/>
                </a:solidFill>
                <a:latin typeface="Inter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8346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10F37"/>
                </a:solidFill>
                <a:latin typeface="Inter"/>
              </a:rPr>
              <a:t>Strategic frame and year so far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6FF14"/>
                </a:solidFill>
                <a:latin typeface="Inter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461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10F37"/>
                </a:solidFill>
                <a:latin typeface="Inter"/>
              </a:rPr>
              <a:t>Rohingya in India — Bridging Changes Coalition stakeholder consultation (with HDCO)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6FF14"/>
                </a:solidFill>
                <a:latin typeface="Inter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576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10F37"/>
                </a:solidFill>
                <a:latin typeface="Inter"/>
              </a:rPr>
              <a:t>Women's Dialogue — SDC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6908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6FF14"/>
                </a:solidFill>
                <a:latin typeface="Inter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069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10F37"/>
                </a:solidFill>
                <a:latin typeface="Inter"/>
              </a:rPr>
              <a:t>Rohingya Student Union partnership — stakeholder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6FF14"/>
                </a:solidFill>
                <a:latin typeface="Inter"/>
              </a:rPr>
              <a:t>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056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10F37"/>
                </a:solidFill>
                <a:latin typeface="Inter"/>
              </a:rPr>
              <a:t>Staffing, retreat, and 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96FF14"/>
                </a:solidFill>
                <a:latin typeface="Inter"/>
              </a:rPr>
              <a:t>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892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10F37"/>
                </a:solidFill>
                <a:latin typeface="Inter"/>
              </a:rPr>
              <a:t>Risks, asks of the Board, and next milestones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410F37"/>
                </a:solidFill>
                <a:latin typeface="Inter"/>
              </a:rPr>
              <a:t>Linked papers in this pack: 04-Reserves-Prognosis, 05-2026-YTD-Grant-Spend.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410F37"/>
                </a:solidFill>
                <a:latin typeface="Inter"/>
              </a:rPr>
              <a:t>Our 2024–29 strategy frames the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410F37"/>
                </a:solidFill>
                <a:latin typeface="Inter"/>
              </a:rPr>
              <a:t>Three goals guide every programme.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3474720" cy="301752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96FF14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nter"/>
              </a:rPr>
              <a:t>Victims secure outcomes in line with their own conception of justice.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03120"/>
            <a:ext cx="3474720" cy="301752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3774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96FF14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566160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nter"/>
              </a:rPr>
              <a:t>Victims are empowered by the process of pursuing justice — not just by its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103120"/>
            <a:ext cx="3474720" cy="301752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3774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96FF14"/>
                </a:solidFill>
                <a:latin typeface="Inter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nter"/>
              </a:rPr>
              <a:t>Justice processes are transformed to put victims at the centre.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410F37"/>
                </a:solidFill>
                <a:latin typeface="Inter"/>
              </a:rPr>
              <a:t>Strategy adopted 2025. Year 2026 is the first full year under the new statutory structure (hūmānus / stichting).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410F37"/>
                </a:solidFill>
                <a:latin typeface="Inter"/>
              </a:rPr>
              <a:t>Source: hūmānus 2025 interim report (Executive Director's Statement); 2024–29 strategy.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410F37"/>
                </a:solidFill>
                <a:latin typeface="Inter"/>
              </a:rPr>
              <a:t>Year so far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143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nter"/>
              </a:rPr>
              <a:t>INPUT NEEDED  ·  draft scaffold — Eva (ED) and Mary-Anne (EA) to confirm/replace narrative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10F37"/>
                </a:solidFill>
                <a:latin typeface="Inter"/>
              </a:rPr>
              <a:t>Confirmed (Q1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7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OSF grant of USD 300,000 received in January 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1459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77439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2024 audit completed; 2025 audit underway (Q1 2026).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751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880359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Bangladesh PM transition: Jaya exited; Shafi promoted to Project Manager.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52043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383279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Chair recruitment closed: Els Niehaus onboarded as Chair / statutory director.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02335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86199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Bangalore team retreat (December 2025).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2627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89119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Q1 2026 Advisory Board meeting held 13 February 2026.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4173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12D64"/>
                </a:solidFill>
                <a:latin typeface="Inter"/>
              </a:rPr>
              <a:t>To populate (Q2 2026, Jan–May)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201167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87451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Bridging Changes Coalition — India stakeholder consultation (dates, scope, outputs).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51459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237743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Women's Dialogue (SDC) — workshops held, outputs, reporting status.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01751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88035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Rohingya Student Union partnership — stakeholder analysis progress.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352043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38327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Swiss Myanmar (Stimson / FDFA) — workplan kick-off and Q1 activities.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402335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88619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Detention database (India) — case-count delta vs. 2025 baseline.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452627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438911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Media / public-engagement moments; staffing changes since February.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410F37"/>
                </a:solidFill>
                <a:latin typeface="Inter"/>
              </a:rPr>
              <a:t>Sources for left column: Q1 2026 Advisory Board minutes (13 Feb 2026); board pack 03-Action-Register.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10F37"/>
                </a:solidFill>
                <a:latin typeface="Inter"/>
              </a:rPr>
              <a:t>Rohingya in India — Bridging Changes Coalition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E12D64"/>
                </a:solidFill>
                <a:latin typeface="Inter"/>
              </a:rPr>
              <a:t>Stakeholder consultation with Rohingya, as part of our dialogue work with HDCO.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5720"/>
            <a:ext cx="1143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nter"/>
              </a:rPr>
              <a:t>INPUT NEEDED  ·  draft scaffold — Eva (ED) and Mary-Anne (EA) to confirm/replace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10F37"/>
                </a:solidFill>
                <a:latin typeface="Inter"/>
              </a:rPr>
              <a:t>What we did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[TBC — Eva / Mary-Anne]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Dates and locations of consultation sessions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Participants (Rohingya stakeholders and HDCO counterparts)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Methodology (one-to-one / focus group / mixed)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hūmānus team and partners involved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10F37"/>
                </a:solidFill>
                <a:latin typeface="Inter"/>
              </a:rPr>
              <a:t>Outputs and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[TBC]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Consultation report / brief — title, audience, status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How findings are feeding the Bridging Changes Coalition work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Link to wider HDCO dialogue and onward advocacy moments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410F37"/>
                </a:solidFill>
                <a:latin typeface="Inter"/>
              </a:rPr>
              <a:t>Source: pending — input from Eva and Mary-Anne; no documented record yet in humanusGovernance repo.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10F37"/>
                </a:solidFill>
                <a:latin typeface="Inter"/>
              </a:rPr>
              <a:t>Women's Dialogue — SDC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E12D64"/>
                </a:solidFill>
                <a:latin typeface="Inter"/>
              </a:rPr>
              <a:t>Dialogue and engagement work funded by SDC (Swiss). Project contracted under VAI legal entity.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5720"/>
            <a:ext cx="1143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nter"/>
              </a:rPr>
              <a:t>INPUT NEEDED  ·  draft scaffold — Eva (ED) and Mary-Anne (EA) to confirm/replace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10F37"/>
                </a:solidFill>
                <a:latin typeface="Inter"/>
              </a:rPr>
              <a:t>Y2D activity (Jan–May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[TBC — Swiss Women's Dialogue PM]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Workshops / convenings held this year (dates, locations, participant counts)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Inter-ethnic dialogue continuity (Rohingya women / Rakhine women)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Engagement with Bangladeshi officials and ULA personnel where relevant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Donor reporting status (SDC) and any donor 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12D64"/>
                </a:solidFill>
                <a:latin typeface="Inter"/>
              </a:rP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410F37"/>
                </a:solidFill>
                <a:latin typeface="Inter"/>
              </a:rPr>
              <a:t>Sustained dialogue channels produce "ground-truth" inputs that help external stakeholders, including state actors, understand community priorities and the realities of representation — anchored in weekly rhythm rather than one-off consultation.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410F37"/>
                </a:solidFill>
                <a:latin typeface="Inter"/>
              </a:rPr>
              <a:t>Sources: swiss-womens-dialogue repo (project basics, contract); 2025 interim report (model description). Y2D 2026 data: pending PM input.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10F37"/>
                </a:solidFill>
                <a:latin typeface="Inter"/>
              </a:rPr>
              <a:t>Rohingya Student Union — stakeholder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E12D64"/>
                </a:solidFill>
                <a:latin typeface="Inter"/>
              </a:rPr>
              <a:t>Partnership with the Rohingya Student Union (RSU) on stakeholder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5720"/>
            <a:ext cx="1143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nter"/>
              </a:rPr>
              <a:t>INPUT NEEDED  ·  draft scaffold — Eva (ED) and Mary-Anne (EA) to confirm/replace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10F37"/>
                </a:solidFill>
                <a:latin typeface="Inter"/>
              </a:rPr>
              <a:t>Scope of the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[TBC — Eva / Mary-Anne]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What is being mapped (actors / institutions / geographies)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Methodology and RSU's role in design and execution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Timeline — start date, milestones, expected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10F37"/>
                </a:solidFill>
                <a:latin typeface="Inter"/>
              </a:rPr>
              <a:t>Where the outputs 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[TBC]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How the analysis feeds India / Bangladesh / wider dialogue programming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Whether outputs are public, partner-only, or internal</a:t>
            </a:r>
          </a:p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• Safeguarding / data-protection considerations for RSU members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410F37"/>
                </a:solidFill>
                <a:latin typeface="Inter"/>
              </a:rPr>
              <a:t>Source: pending — input from Eva and Mary-Anne; no documented record yet in humanusGovernance repo.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10F37"/>
                </a:solidFill>
                <a:latin typeface="Inter"/>
              </a:rPr>
              <a:t>Staffing, retreat, and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143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nter"/>
              </a:rPr>
              <a:t>INPUT NEEDED  ·  draft scaffold — Eva (ED) and Mary-Anne (EA) to confirm/replace narrative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410F37"/>
                </a:solidFill>
                <a:latin typeface="Inter"/>
              </a:rPr>
              <a:t>What's confirmed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7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Bangalore team retreat — December 2025 (2½ days).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0603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68879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Jaya, Bangladesh PM, departed; Shafi promoted to Bangladesh PM.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039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63239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Eva reluctant to onboard new permanent staff in the short term (Q1 minutes).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94759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57599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Reflection on hiring discipline carried into 2026 planning.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4173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12D64"/>
                </a:solidFill>
                <a:latin typeface="Inter"/>
              </a:rPr>
              <a:t>Open / to confirm with Eva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01167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19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Org chart (action item 5, Q1 2026) — standing item for Q2 pack.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60603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468879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Any staffing changes Feb–May 2026 (joiners, leavers, contractors).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0039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063239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Salary-scale and burn-rate implications (Stacy paper coordination).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794759"/>
            <a:ext cx="109728" cy="109728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657599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Travel / convening calendar to year-end.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410F37"/>
                </a:solidFill>
                <a:latin typeface="Inter"/>
              </a:rPr>
              <a:t>Source: Q1 2026 Advisory Board minutes (13 Feb 2026); action register carry-over (item 5, Ross / Eva).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10F37"/>
                </a:solidFill>
                <a:latin typeface="Inter"/>
              </a:rPr>
              <a:t>Continuing programmes — pulse-check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E12D64"/>
                </a:solidFill>
                <a:latin typeface="Inter"/>
              </a:rPr>
              <a:t>Programmes the Board has previously approved; brief 2026 status only.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5720"/>
            <a:ext cx="1143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nter"/>
              </a:rPr>
              <a:t>INPUT NEEDED  ·  draft scaffold — Eva (ED) and Mary-Anne (EA) to confirm/replace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10F37"/>
                </a:solidFill>
                <a:latin typeface="Inter"/>
              </a:rPr>
              <a:t>Rohingya Atrocities Archive (Bangladesh)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8308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10F37"/>
                </a:solidFill>
                <a:latin typeface="Inter"/>
              </a:rPr>
              <a:t>Q1 minutes: continued. 2026 Y2D detail [TBC].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10F37"/>
                </a:solidFill>
                <a:latin typeface="Inter"/>
              </a:rPr>
              <a:t>India detention database (with Azadi Project)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56032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10F37"/>
                </a:solidFill>
                <a:latin typeface="Inter"/>
              </a:rPr>
              <a:t>Q1 minutes: RT progressing on India side, partnerships with lawyers and Azadi. Current case count vs. 2025 baseline [TBC].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10F37"/>
                </a:solidFill>
                <a:latin typeface="Inter"/>
              </a:rPr>
              <a:t>Meta accountability (Ireland / SEC)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33756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10F37"/>
                </a:solidFill>
                <a:latin typeface="Inter"/>
              </a:rPr>
              <a:t>2025: civil proceedings live, sixteen plaintiffs; SEC pathway active. 2026 status [TBC].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10F37"/>
                </a:solidFill>
                <a:latin typeface="Inter"/>
              </a:rPr>
              <a:t>Somalia / AFRICOM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114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10F37"/>
                </a:solidFill>
                <a:latin typeface="Inter"/>
              </a:rPr>
              <a:t>Q1 minutes: wind-down under consideration; Eva to meet partners. 2026 outcome [TBC — likely closed per Q2 action register].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10F37"/>
                </a:solidFill>
                <a:latin typeface="Inter"/>
              </a:rPr>
              <a:t>Swiss Myanmar (Stimson / FDFA)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89204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10F37"/>
                </a:solidFill>
                <a:latin typeface="Inter"/>
              </a:rPr>
              <a:t>Partnership agreement signed 5 Feb 2026; effective from 1 Dec 2025; runs to 31 May 2027. Workplan and Q1 activities [TBC — Swiss Myanmar PM].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410F37"/>
                </a:solidFill>
                <a:latin typeface="Inter"/>
              </a:rPr>
              <a:t>Sources: Q1 2026 minutes; 2025 interim report; swiss-myanmar repo (partnership agreement).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10F37"/>
                </a:solidFill>
                <a:latin typeface="Inter"/>
              </a:rPr>
              <a:t>Risks and watch-items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143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nter"/>
              </a:rPr>
              <a:t>INPUT NEEDED  ·  draft scaffold — Eva (ED) and Mary-Anne (EA) to confirm/replace narrative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137160" cy="9144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10F37"/>
                </a:solidFill>
                <a:latin typeface="Inter"/>
              </a:rPr>
              <a:t>Cash flow / reserves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10F37"/>
                </a:solidFill>
                <a:latin typeface="Inter"/>
              </a:rPr>
              <a:t>Deficit-model donors (FCDO, Swiss) reimburse in arrears; cash management critical. See paper 04 (Reserves Prognosis) and 05 (YTD Grant Spend).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14600"/>
            <a:ext cx="137160" cy="9144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10F37"/>
                </a:solidFill>
                <a:latin typeface="Inter"/>
              </a:rPr>
              <a:t>Bangladesh operating environment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10F37"/>
                </a:solidFill>
                <a:latin typeface="Inter"/>
              </a:rPr>
              <a:t>Q1: Asia trip with Stimson was uncertain given political situation and new government. 2026 status [TBC].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137160" cy="9144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118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10F37"/>
                </a:solidFill>
                <a:latin typeface="Inter"/>
              </a:rPr>
              <a:t>VAI ↔ hūmānus transition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10F37"/>
                </a:solidFill>
                <a:latin typeface="Inter"/>
              </a:rPr>
              <a:t>SDC contracted under VAI legal entity; audit pack in this meeting is VAI 2024. Consider implications for donor renewals.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09160"/>
            <a:ext cx="137160" cy="9144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10F37"/>
                </a:solidFill>
                <a:latin typeface="Inter"/>
              </a:rPr>
              <a:t>Strategic continuity beyond 2029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10F37"/>
                </a:solidFill>
                <a:latin typeface="Inter"/>
              </a:rPr>
              <a:t>Agenda item 6 (strategic discussion) — matching ambition to minimal fundraising, post-OSF horizon.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410F37"/>
                </a:solidFill>
                <a:latin typeface="Inter"/>
              </a:rPr>
              <a:t>Sources: Q1 2026 minutes; Q2 board pack 01-Agenda items 5 and 6; 00-README outstanding-papers list.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10F37"/>
                </a:solidFill>
                <a:latin typeface="Inter"/>
              </a:rPr>
              <a:t>What we ask of the 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1430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nter"/>
              </a:rPr>
              <a:t>INPUT NEEDED  ·  draft scaffold — Eva (ED) and Mary-Anne (EA) to confirm/replace narrative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12D64"/>
                </a:solidFill>
                <a:latin typeface="Inter"/>
              </a:rPr>
              <a:t>Type of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10F37"/>
                </a:solidFill>
                <a:latin typeface="Inter"/>
              </a:rPr>
              <a:t>Per the agenda, item 4 is a Discussion item (15 minutes) — not a decision item.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12D64"/>
                </a:solidFill>
                <a:latin typeface="Inter"/>
              </a:rPr>
              <a:t>Discussion the ED is seeking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9184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54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[TBC] Board view on the Bridging Changes Coalition / HDCO direction.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79476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57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[TBC] Board view on the RSU partnership model and any safeguarding considerations.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9768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605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[TBC] Confirmation of the Somalia wind-down decision (action register item 2).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800600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663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10F37"/>
                </a:solidFill>
                <a:latin typeface="Inter"/>
              </a:rPr>
              <a:t>[TBC] Any further standing items the Board would like to see in the Q3 pack.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410F37"/>
                </a:solidFill>
                <a:latin typeface="Inter"/>
              </a:rPr>
              <a:t>ED to finalise the discussion asks once content slides are populated.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10F37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96FF14"/>
                </a:solidFill>
                <a:latin typeface="Inter"/>
              </a:rPr>
              <a:t>hūmānus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Inter"/>
              </a:rPr>
              <a:t>Humanising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6FF14"/>
                </a:solidFill>
                <a:latin typeface="Inter"/>
              </a:rPr>
              <a:t>ACCOUNTABILITY  ·  COMMUNITY  · 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www.humanus.co  ·  hello@humanus.co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6FF14"/>
                </a:solidFill>
                <a:latin typeface="Inter"/>
              </a:rPr>
              <a:t>Q2 2026 Board Meeting  ·  Operations &amp; Impact Update  ·  Sponsor: Eva Buzo (ED)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