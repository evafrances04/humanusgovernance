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0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0" b="1" i="0">
                <a:solidFill>
                  <a:srgbClr val="96FF14"/>
                </a:solidFill>
                <a:latin typeface="Inter"/>
              </a:rPr>
              <a:t>hūmānus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3383280"/>
            <a:ext cx="1188720" cy="150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E12D64"/>
                </a:solidFill>
                <a:latin typeface="Inter"/>
              </a:rPr>
              <a:t>year-to-date update  ·  Q2 2026 Board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02336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Inter"/>
              </a:rPr>
              <a:t>29 June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84632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 i="0">
                <a:solidFill>
                  <a:srgbClr val="FFFFFF"/>
                </a:solidFill>
                <a:latin typeface="Inter"/>
              </a:rPr>
              <a:t>Humanising Justice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34924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96FF14"/>
                </a:solidFill>
                <a:latin typeface="Inter"/>
              </a:rPr>
              <a:t>ACCOUNTABILITY  ·  COMMUNITY  · 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96FF14"/>
                </a:solidFill>
                <a:latin typeface="Inter"/>
              </a:rPr>
              <a:t>Sponsor: Eva Buzo, Executive Director  ·  Agenda item 4  ·  15 minutes  ·  Discussion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Inter"/>
              </a:rPr>
              <a:t>Three goals guide everything we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Our 2024–29 strategy frames the year.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3474720" cy="274320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96FF14"/>
                </a:solidFill>
                <a:latin typeface="Inter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Victims secure outcomes in line with their own conception of justice.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94560"/>
            <a:ext cx="3474720" cy="274320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46888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96FF14"/>
                </a:solidFill>
                <a:latin typeface="Inter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56616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Victims are empowered by the process of pursuing justice — not just by its results.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194560"/>
            <a:ext cx="3474720" cy="274320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46888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96FF14"/>
                </a:solidFill>
                <a:latin typeface="Inter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56616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Justice processes are transformed to put victims at the centre.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035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410F37"/>
                </a:solidFill>
                <a:latin typeface="Inter"/>
              </a:rPr>
              <a:t>2026 is the first full year operating as hūmānus (stichting) under the new statutory structure.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Inter"/>
              </a:rPr>
              <a:t>Where the work has sat this year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Y2D 2026 (January–May) by funded programme and other significant strands.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10972800" cy="41148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47671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6FF14"/>
                </a:solidFill>
                <a:latin typeface="Inter"/>
              </a:rPr>
              <a:t>Programme / strand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947671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6FF14"/>
                </a:solidFill>
                <a:latin typeface="Inter"/>
              </a:rPr>
              <a:t>Funder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47671"/>
            <a:ext cx="4526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6FF14"/>
                </a:solidFill>
                <a:latin typeface="Inter"/>
              </a:rPr>
              <a:t>Y2D 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5999"/>
            <a:ext cx="10972800" cy="566928"/>
          </a:xfrm>
          <a:prstGeom prst="rect">
            <a:avLst/>
          </a:prstGeom>
          <a:solidFill>
            <a:srgbClr val="F7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59151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Inter"/>
              </a:rPr>
              <a:t>Towards a More Peaceful Arakan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359151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Swiss FDFA via Stimson Center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2359151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Live — partnership signed Feb 2026; active from Dec 2025; runs to May 2027.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52927"/>
            <a:ext cx="10972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26079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Inter"/>
              </a:rPr>
              <a:t>Bangladesh dialogue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92607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FCDO (UK)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926079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Continuing dialogue programme; Asia trip with Stimson reviewed Q1.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419855"/>
            <a:ext cx="10972800" cy="566928"/>
          </a:xfrm>
          <a:prstGeom prst="rect">
            <a:avLst/>
          </a:prstGeom>
          <a:solidFill>
            <a:srgbClr val="F7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493007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Inter"/>
              </a:rPr>
              <a:t>Rohingya in India — legal 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493007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Core funding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3493007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Lead: Arati Ranade. 8 cases commenced in West Bengal; UP next. RSU and Bridging Changes / HDCO consultation in flight.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86783"/>
            <a:ext cx="10972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059935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Inter"/>
              </a:rPr>
              <a:t>Women's Dialogue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4059935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SDC (under VAI legacy entity)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4059935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Grant close-out — ends 30 April 2026; 3rd narrative + finance reports due May.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53711"/>
            <a:ext cx="10972800" cy="566928"/>
          </a:xfrm>
          <a:prstGeom prst="rect">
            <a:avLst/>
          </a:prstGeom>
          <a:solidFill>
            <a:srgbClr val="F7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626863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Inter"/>
              </a:rPr>
              <a:t>Accountability for business and human rights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626863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Core funding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4626863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Meta Inc. proceedings; Adani / UniSuper / APRA strand (new from March); Mohib Ullah accountability continuing.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120639"/>
            <a:ext cx="10972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193791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Inter"/>
              </a:rPr>
              <a:t>Public engagement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5193791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Core funding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5193791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Frontline Club London panel (2 April 2026); Aditi and Nazia speaker videos; BBC and AP pitches; Geneva mid-May.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10F37"/>
                </a:solidFill>
                <a:latin typeface="Inter"/>
              </a:rPr>
              <a:t>Detail on each strand follows. Finance picture: see Reserves Prognosis (paper 04) and YTD Grant Spend (paper 05).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Inter"/>
              </a:rPr>
              <a:t>Towards a More Peaceful Arakan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Swiss FDFA, via Stimson Center as prime  ·  hūmānus as implementing partner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10F37"/>
                </a:solidFill>
                <a:latin typeface="Inter"/>
              </a:rPr>
              <a:t>What the project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0F37"/>
                </a:solidFill>
                <a:latin typeface="Inter"/>
              </a:rPr>
              <a:t>An 18-month partnership to identify, create, and support trust-building opportunities among Rohingya, Arakanese, and Bangladesh stakeholders, against the backdrop of the Arakan Army's consolidation across northern Arakan. The project combines bilateral engagement, capacity building, and facilitated dialogue — and gives hūmānus a structured channel into Track-2 work on the Bangladesh–Myanmar border.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86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10F37"/>
                </a:solidFill>
                <a:latin typeface="Inter"/>
              </a:rPr>
              <a:t>Where we 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4165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Partnership agreement signed 5 February 2026, effective from 1 December 2025, runs to 31 May 2027.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8737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Y2D: workplan kicking off; bi-weekly check-in cadence with Stimson; Q1 Asia trip with Stimson reviewed against the Bangladesh political transition.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3309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120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Programmatic focus reflected in the 2025 dialogue model — sustained weekly engagement with Rohingya leadership and inter-ethnic dialogue with Rakhine and Bangladeshi counterparts.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Inter"/>
              </a:rPr>
              <a:t>Bangladesh dialogue programme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FCDO (UK)  ·  continuing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10F37"/>
                </a:solidFill>
                <a:latin typeface="Inter"/>
              </a:rPr>
              <a:t>What the funding supports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0F37"/>
                </a:solidFill>
                <a:latin typeface="Inter"/>
              </a:rPr>
              <a:t>Sustained dialogue and engagement work with Rohingya leadership in Bangladesh, complementing the Swiss/Stimson Arakan partnership. Operates in a deficit / reimbursement model — hūmānus spends and is reimbursed in arrears, which is why cash-flow management is a standing board item.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03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10F37"/>
                </a:solidFill>
                <a:latin typeface="Inter"/>
              </a:rPr>
              <a:t>Where we 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23367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Continuing engagement through Q1; programme management transitioned to Shafi following Jaya's departure.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69087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Asia trip with Stimson reviewed Q1 against the Bangladesh political situation; status to be confirmed at the meeting.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4807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Cash-flow discipline: deficit-model reimbursement remains a watch-item — addressed in papers 04 and 05.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Inter"/>
              </a:rPr>
              <a:t>Rohingya in India — legal protection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Core funded  ·  no project grant  ·  Lead: Arati Ranade, India Programme Manager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10F37"/>
                </a:solidFill>
                <a:latin typeface="Inter"/>
              </a:rPr>
              <a:t>What the strand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0F37"/>
                </a:solidFill>
                <a:latin typeface="Inter"/>
              </a:rPr>
              <a:t>Direct legal intervention for detained Rohingya refugees in India, building a cross-state network of lawyers and an evidentiary base on detention and deportation patterns. Funded from core — no donor restriction on case selection or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10F37"/>
                </a:solidFill>
                <a:latin typeface="Inter"/>
              </a:rPr>
              <a:t>Y2D streams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9593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Litigation — 8 cases commenced in West Bengal; UP scoping under way as the next state to open 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4165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Supporting work — habeas corpus drafts, bail applications, RTI / petitioner-search, lawyer outreach in J&amp;K; quarterly developments report commissioned end-March.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737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7548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India detention database — continuing partnership with the Azadi Project; remains live and in active use.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3309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120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Rohingya Student Union — stakeholder-analysis partnership in flight; formal kick-off status to be confirmed at the meeting.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7881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6692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Bridging Changes Coalition / HDCO — Rohingya-in-India closed-door consultation in flight (scoped Q1); date and outputs to be confirmed at the meeting.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Inter"/>
              </a:rPr>
              <a:t>Women's Dialogue — grant close-out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SDC (Swiss)  ·  contracted under VAI legacy entity  ·  grant ends 30 April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10F37"/>
                </a:solidFill>
                <a:latin typeface="Inter"/>
              </a:rPr>
              <a:t>Where the work has sat in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9631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Y2D activity has been close-out, not new convenings — spending plan for the remainder of the grant, plus the 3rd narrative report and 3rd finance report (due 15 May 2026).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5351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Grant terminated 30 April 2026; final reporting and reconciliation in train.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918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Project sits under the VAI legal entity. Audit report in this pack is VAI 2024 (paper 06) — implications for donor-renewal positioning are touched on under strategic outlook.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12D64"/>
                </a:solidFill>
                <a:latin typeface="Inter"/>
              </a:rPr>
              <a:t>Why this matters for the 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4924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410F37"/>
                </a:solidFill>
                <a:latin typeface="Inter"/>
              </a:rPr>
              <a:t>Closing out an SDC grant under VAI while building a Swiss FDFA relationship under hūmānus (via Stimson) — this is the entity transition playing out across two live Swiss-funded workstreams. Worth attention on continuity of relationships in Bern and Dhaka.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0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VA_Frontline_020426-0777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0"/>
            <a:ext cx="80768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96FF14"/>
                </a:solidFill>
                <a:latin typeface="Inter"/>
              </a:rPr>
              <a:t>PUBLIC ENGAGEMENT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3383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Inter"/>
              </a:rPr>
              <a:t>Frontline Club</a:t>
            </a:r>
          </a:p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Inter"/>
              </a:rPr>
              <a:t>panel — London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8892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971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96FF14"/>
                </a:solidFill>
                <a:latin typeface="Inter"/>
              </a:rPr>
              <a:t>Human Rights in a Fragmenting World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Inter"/>
              </a:rPr>
              <a:t>2 April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14800"/>
            <a:ext cx="33832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Inter"/>
              </a:rPr>
              <a:t>A hūmānus-branded panel at the Frontline Club, bringing together our Rohingya-in-India work, dialogue work, and wider accountability practice in front of a London press and policy audience. Featured-speaker videos (Aditi and Nazia) approved end-May for onward circulation.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6FF14"/>
                </a:solidFill>
                <a:latin typeface="Inter"/>
              </a:rPr>
              <a:t>hūmānus  ·  Q2 2026 Board Meeting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96FF14"/>
                </a:solidFill>
                <a:latin typeface="Inter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Inter"/>
              </a:rPr>
              <a:t>Accountability for business and human rights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Core funded  ·  programmatic framework for our corporate-accountability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10F37"/>
                </a:solidFill>
                <a:latin typeface="Inter"/>
              </a:rPr>
              <a:t>The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0F37"/>
                </a:solidFill>
                <a:latin typeface="Inter"/>
              </a:rPr>
              <a:t>Bringing together our work that holds business actors accountable for contribution to, or benefit from, serious international crimes — across litigation, regulatory complaint, and investor-facing advocacy.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10F37"/>
                </a:solidFill>
                <a:latin typeface="Inter"/>
              </a:rPr>
              <a:t>Active workstreams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10F37"/>
                </a:solidFill>
                <a:latin typeface="Inter"/>
              </a:rPr>
              <a:t>Meta Inc.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Civil proceedings in Ireland continuing on behalf of sixteen plaintiffs. SEC pathway active. Underpinned by 2025 evidence-base work (RJI / ARSPH merge, CRA reparations analysis).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657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10F37"/>
                </a:solidFill>
                <a:latin typeface="Inter"/>
              </a:rPr>
              <a:t>Adani / UniSuper / APRA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New active strand from March 2026: APRA complaint (Cbus deep-dive), Adani Investors briefings on Australian fiduciary case law and super-fund exposure to Adani / GQG, Adani Defence scoping, OFAC Iran civil-probe briefing, UniSuper PHD review.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949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10F37"/>
                </a:solidFill>
                <a:latin typeface="Inter"/>
              </a:rPr>
              <a:t>Mohib Ullah accountability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UN Special Rapporteur submission progressed Q1 (Hashmat feedback). ARSA designation advocacy continuing.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3949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12D64"/>
                </a:solidFill>
                <a:latin typeface="Inter"/>
              </a:rPr>
              <a:t>Note for the 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7607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10F37"/>
                </a:solidFill>
                <a:latin typeface="Inter"/>
              </a:rPr>
              <a:t>Adani / UniSuper has grown enough in three months to warrant its own briefing — proposed as a dedicated paper at Q3.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Inter"/>
              </a:rPr>
              <a:t>Strategic outlook and watch-items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Things to keep in view between now and the Q3 meeting.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137160" cy="6858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10F37"/>
                </a:solidFill>
                <a:latin typeface="Inter"/>
              </a:rPr>
              <a:t>Reserves and deficit-model donors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FCDO and Swiss reimburse in arrears; cash-flow discipline remains critical. Detail in papers 04 (Reserves Prognosis) and 05 (Y2D Grant Spend).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137160" cy="6858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87168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10F37"/>
                </a:solidFill>
                <a:latin typeface="Inter"/>
              </a:rPr>
              <a:t>VAI ↔ hūmānus entity transition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Two active Swiss-funded workstreams straddle the transition — SDC Women's Dialogue closing out under VAI; Swiss/Stimson Arakan running under hūmānus.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36976"/>
            <a:ext cx="137160" cy="6858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36976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10F37"/>
                </a:solidFill>
                <a:latin typeface="Inter"/>
              </a:rPr>
              <a:t>Bangladesh operating environment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11296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Political situation under the new government continues to shape Bangladesh dialogue and Stimson partnership delivery.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86784"/>
            <a:ext cx="137160" cy="6858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8678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10F37"/>
                </a:solidFill>
                <a:latin typeface="Inter"/>
              </a:rPr>
              <a:t>Beyond 2029 / post-OSF horizon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61104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Picked up under agenda item 6 (strategic discussion) — matching ambition to a minimal-fundraising posture.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36592"/>
            <a:ext cx="137160" cy="6858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736592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10F37"/>
                </a:solidFill>
                <a:latin typeface="Inter"/>
              </a:rPr>
              <a:t>Hiring posture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Cautious on new permanent hires after Q1 reflection; no new joiners Feb–May 2026.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486400"/>
            <a:ext cx="137160" cy="6858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8640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10F37"/>
                </a:solidFill>
                <a:latin typeface="Inter"/>
              </a:rPr>
              <a:t>Governance and external engagement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76072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Els onboarding closed Q1 action 9 (contracts, notary, statutes, insurance — April). BBC and AP pitches drafted in April; Geneva convening mid-May. Frontline Club post-production complete.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0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96FF14"/>
                </a:solidFill>
                <a:latin typeface="Inter"/>
              </a:rPr>
              <a:t>hūmānus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FFFFF"/>
                </a:solidFill>
                <a:latin typeface="Inter"/>
              </a:rPr>
              <a:t>Humanising justice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749039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96FF14"/>
                </a:solidFill>
                <a:latin typeface="Inter"/>
              </a:rPr>
              <a:t>ACCOUNTABILITY  ·  COMMUNITY  · 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Inter"/>
              </a:rPr>
              <a:t>www.humanus.co  ·  hello@humanus.co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96FF14"/>
                </a:solidFill>
                <a:latin typeface="Inter"/>
              </a:rPr>
              <a:t>Q2 2026 Board Meeting  ·  Operations &amp; Impact Update  ·  Sponsor: Eva Buzo (ED)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