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7562850" cy="10688638"/>
  <p:notesSz cx="10688638" cy="756285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96E335-8E0A-2D4E-BB82-A13E229E65BC}" v="1" dt="2026-02-23T12:13:19.3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5123"/>
    <p:restoredTop sz="94610"/>
  </p:normalViewPr>
  <p:slideViewPr>
    <p:cSldViewPr snapToGrid="0" snapToObjects="1">
      <p:cViewPr varScale="1">
        <p:scale>
          <a:sx n="77" d="100"/>
          <a:sy n="77" d="100"/>
        </p:scale>
        <p:origin x="184"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vy Cussinel" userId="S::tcussinel_icloud.com#ext#@victimadvocatesintl.onmicrosoft.com::0d5fb735-a3ba-4466-9392-d106e17d9d2b" providerId="AD" clId="Web-{79CC702B-C8F9-3FFD-24CB-7C227DB6E675}"/>
    <pc:docChg chg="modSld">
      <pc:chgData name="Tavy Cussinel" userId="S::tcussinel_icloud.com#ext#@victimadvocatesintl.onmicrosoft.com::0d5fb735-a3ba-4466-9392-d106e17d9d2b" providerId="AD" clId="Web-{79CC702B-C8F9-3FFD-24CB-7C227DB6E675}" dt="2026-02-17T11:45:19.832" v="1" actId="20577"/>
      <pc:docMkLst>
        <pc:docMk/>
      </pc:docMkLst>
      <pc:sldChg chg="modSp">
        <pc:chgData name="Tavy Cussinel" userId="S::tcussinel_icloud.com#ext#@victimadvocatesintl.onmicrosoft.com::0d5fb735-a3ba-4466-9392-d106e17d9d2b" providerId="AD" clId="Web-{79CC702B-C8F9-3FFD-24CB-7C227DB6E675}" dt="2026-02-17T11:45:19.832" v="1" actId="20577"/>
        <pc:sldMkLst>
          <pc:docMk/>
          <pc:sldMk cId="0" sldId="256"/>
        </pc:sldMkLst>
        <pc:spChg chg="mod">
          <ac:chgData name="Tavy Cussinel" userId="S::tcussinel_icloud.com#ext#@victimadvocatesintl.onmicrosoft.com::0d5fb735-a3ba-4466-9392-d106e17d9d2b" providerId="AD" clId="Web-{79CC702B-C8F9-3FFD-24CB-7C227DB6E675}" dt="2026-02-17T11:45:19.832" v="1" actId="20577"/>
          <ac:spMkLst>
            <pc:docMk/>
            <pc:sldMk cId="0" sldId="256"/>
            <ac:spMk id="8" creationId="{00000000-0000-0000-0000-000000000000}"/>
          </ac:spMkLst>
        </pc:spChg>
      </pc:sldChg>
    </pc:docChg>
  </pc:docChgLst>
  <pc:docChgLst>
    <pc:chgData name="Eva  Buzo" userId="12335ad1-98da-48b7-a693-cd0e08f58254" providerId="ADAL" clId="{D033041D-3D36-53AA-BEA3-B747ED33A961}"/>
    <pc:docChg chg="undo custSel modSld">
      <pc:chgData name="Eva  Buzo" userId="12335ad1-98da-48b7-a693-cd0e08f58254" providerId="ADAL" clId="{D033041D-3D36-53AA-BEA3-B747ED33A961}" dt="2026-02-23T12:13:58.351" v="12" actId="108"/>
      <pc:docMkLst>
        <pc:docMk/>
      </pc:docMkLst>
      <pc:sldChg chg="modSp mod">
        <pc:chgData name="Eva  Buzo" userId="12335ad1-98da-48b7-a693-cd0e08f58254" providerId="ADAL" clId="{D033041D-3D36-53AA-BEA3-B747ED33A961}" dt="2026-02-23T12:10:44.325" v="0" actId="14100"/>
        <pc:sldMkLst>
          <pc:docMk/>
          <pc:sldMk cId="0" sldId="259"/>
        </pc:sldMkLst>
        <pc:picChg chg="mod">
          <ac:chgData name="Eva  Buzo" userId="12335ad1-98da-48b7-a693-cd0e08f58254" providerId="ADAL" clId="{D033041D-3D36-53AA-BEA3-B747ED33A961}" dt="2026-02-23T12:10:44.325" v="0" actId="14100"/>
          <ac:picMkLst>
            <pc:docMk/>
            <pc:sldMk cId="0" sldId="259"/>
            <ac:picMk id="17" creationId="{EF84EB31-60C9-88EA-2EFE-0CB7963F8826}"/>
          </ac:picMkLst>
        </pc:picChg>
      </pc:sldChg>
      <pc:sldChg chg="delSp modSp mod">
        <pc:chgData name="Eva  Buzo" userId="12335ad1-98da-48b7-a693-cd0e08f58254" providerId="ADAL" clId="{D033041D-3D36-53AA-BEA3-B747ED33A961}" dt="2026-02-23T12:13:58.351" v="12" actId="108"/>
        <pc:sldMkLst>
          <pc:docMk/>
          <pc:sldMk cId="0" sldId="264"/>
        </pc:sldMkLst>
        <pc:spChg chg="mod">
          <ac:chgData name="Eva  Buzo" userId="12335ad1-98da-48b7-a693-cd0e08f58254" providerId="ADAL" clId="{D033041D-3D36-53AA-BEA3-B747ED33A961}" dt="2026-02-23T12:13:58.351" v="12" actId="108"/>
          <ac:spMkLst>
            <pc:docMk/>
            <pc:sldMk cId="0" sldId="264"/>
            <ac:spMk id="6" creationId="{00000000-0000-0000-0000-000000000000}"/>
          </ac:spMkLst>
        </pc:spChg>
        <pc:spChg chg="del">
          <ac:chgData name="Eva  Buzo" userId="12335ad1-98da-48b7-a693-cd0e08f58254" providerId="ADAL" clId="{D033041D-3D36-53AA-BEA3-B747ED33A961}" dt="2026-02-23T12:11:43.797" v="1" actId="478"/>
          <ac:spMkLst>
            <pc:docMk/>
            <pc:sldMk cId="0" sldId="264"/>
            <ac:spMk id="7" creationId="{00000000-0000-0000-0000-000000000000}"/>
          </ac:spMkLst>
        </pc:spChg>
        <pc:spChg chg="del">
          <ac:chgData name="Eva  Buzo" userId="12335ad1-98da-48b7-a693-cd0e08f58254" providerId="ADAL" clId="{D033041D-3D36-53AA-BEA3-B747ED33A961}" dt="2026-02-23T12:11:47.331" v="2" actId="478"/>
          <ac:spMkLst>
            <pc:docMk/>
            <pc:sldMk cId="0" sldId="264"/>
            <ac:spMk id="8" creationId="{00000000-0000-0000-0000-000000000000}"/>
          </ac:spMkLst>
        </pc:spChg>
        <pc:spChg chg="del">
          <ac:chgData name="Eva  Buzo" userId="12335ad1-98da-48b7-a693-cd0e08f58254" providerId="ADAL" clId="{D033041D-3D36-53AA-BEA3-B747ED33A961}" dt="2026-02-23T12:13:07.146" v="3" actId="478"/>
          <ac:spMkLst>
            <pc:docMk/>
            <pc:sldMk cId="0" sldId="264"/>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5773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10F3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1000"/>
          </a:blip>
          <a:stretch>
            <a:fillRect/>
          </a:stretch>
        </p:blipFill>
        <p:spPr>
          <a:xfrm>
            <a:off x="0" y="0"/>
            <a:ext cx="7562088" cy="10689336"/>
          </a:xfrm>
          <a:prstGeom prst="rect">
            <a:avLst/>
          </a:prstGeom>
        </p:spPr>
      </p:pic>
      <p:sp>
        <p:nvSpPr>
          <p:cNvPr id="3" name="Shape 0"/>
          <p:cNvSpPr/>
          <p:nvPr/>
        </p:nvSpPr>
        <p:spPr>
          <a:xfrm>
            <a:off x="6190488" y="0"/>
            <a:ext cx="1371600" cy="1371600"/>
          </a:xfrm>
          <a:prstGeom prst="rect">
            <a:avLst/>
          </a:prstGeom>
          <a:solidFill>
            <a:srgbClr val="E12D64">
              <a:alpha val="15000"/>
            </a:srgbClr>
          </a:solidFill>
          <a:ln/>
        </p:spPr>
        <p:txBody>
          <a:bodyPr/>
          <a:lstStyle/>
          <a:p>
            <a:endParaRPr lang="en-US"/>
          </a:p>
        </p:txBody>
      </p:sp>
      <p:pic>
        <p:nvPicPr>
          <p:cNvPr id="4" name="Image 1" descr="preencoded.png"/>
          <p:cNvPicPr>
            <a:picLocks noChangeAspect="1"/>
          </p:cNvPicPr>
          <p:nvPr/>
        </p:nvPicPr>
        <p:blipFill>
          <a:blip r:embed="rId4"/>
          <a:stretch>
            <a:fillRect/>
          </a:stretch>
        </p:blipFill>
        <p:spPr>
          <a:xfrm>
            <a:off x="1632204" y="1371600"/>
            <a:ext cx="4297680" cy="4297680"/>
          </a:xfrm>
          <a:prstGeom prst="rect">
            <a:avLst/>
          </a:prstGeom>
        </p:spPr>
      </p:pic>
      <p:sp>
        <p:nvSpPr>
          <p:cNvPr id="5" name="Shape 1"/>
          <p:cNvSpPr/>
          <p:nvPr/>
        </p:nvSpPr>
        <p:spPr>
          <a:xfrm>
            <a:off x="2683764" y="6400800"/>
            <a:ext cx="2194560" cy="0"/>
          </a:xfrm>
          <a:prstGeom prst="line">
            <a:avLst/>
          </a:prstGeom>
          <a:noFill/>
          <a:ln w="19050">
            <a:solidFill>
              <a:srgbClr val="E12D64"/>
            </a:solidFill>
            <a:prstDash val="solid"/>
          </a:ln>
        </p:spPr>
        <p:txBody>
          <a:bodyPr/>
          <a:lstStyle/>
          <a:p>
            <a:endParaRPr lang="en-US"/>
          </a:p>
        </p:txBody>
      </p:sp>
      <p:sp>
        <p:nvSpPr>
          <p:cNvPr id="6" name="Text 2"/>
          <p:cNvSpPr/>
          <p:nvPr/>
        </p:nvSpPr>
        <p:spPr>
          <a:xfrm>
            <a:off x="0" y="6629400"/>
            <a:ext cx="7562088" cy="365760"/>
          </a:xfrm>
          <a:prstGeom prst="rect">
            <a:avLst/>
          </a:prstGeom>
          <a:noFill/>
          <a:ln/>
        </p:spPr>
        <p:txBody>
          <a:bodyPr wrap="square" rtlCol="0" anchor="ctr"/>
          <a:lstStyle/>
          <a:p>
            <a:pPr marL="0" indent="0" algn="ctr">
              <a:buNone/>
            </a:pPr>
            <a:r>
              <a:rPr lang="en-US" sz="1400" dirty="0">
                <a:solidFill>
                  <a:srgbClr val="E12D64"/>
                </a:solidFill>
                <a:latin typeface="Fagun" pitchFamily="2" charset="77"/>
                <a:ea typeface="Georgia" pitchFamily="34" charset="-122"/>
                <a:cs typeface="Georgia" pitchFamily="34" charset="-120"/>
              </a:rPr>
              <a:t>annual report</a:t>
            </a:r>
            <a:endParaRPr lang="en-US" sz="1400" dirty="0"/>
          </a:p>
        </p:txBody>
      </p:sp>
      <p:sp>
        <p:nvSpPr>
          <p:cNvPr id="7" name="Text 3"/>
          <p:cNvSpPr/>
          <p:nvPr/>
        </p:nvSpPr>
        <p:spPr>
          <a:xfrm>
            <a:off x="0" y="6995160"/>
            <a:ext cx="7562088" cy="457200"/>
          </a:xfrm>
          <a:prstGeom prst="rect">
            <a:avLst/>
          </a:prstGeom>
          <a:noFill/>
          <a:ln/>
        </p:spPr>
        <p:txBody>
          <a:bodyPr wrap="square" rtlCol="0" anchor="ctr"/>
          <a:lstStyle/>
          <a:p>
            <a:pPr marL="0" indent="0" algn="ctr">
              <a:buNone/>
            </a:pPr>
            <a:r>
              <a:rPr lang="en-US" sz="1800" kern="0" spc="600" dirty="0">
                <a:solidFill>
                  <a:srgbClr val="FFFFFF"/>
                </a:solidFill>
                <a:latin typeface="Fagun" pitchFamily="2" charset="77"/>
                <a:ea typeface="Georgia" pitchFamily="34" charset="-122"/>
                <a:cs typeface="Georgia" pitchFamily="34" charset="-120"/>
              </a:rPr>
              <a:t>2025</a:t>
            </a:r>
            <a:endParaRPr lang="en-US" sz="1800" dirty="0"/>
          </a:p>
        </p:txBody>
      </p:sp>
      <p:sp>
        <p:nvSpPr>
          <p:cNvPr id="8" name="Text 4"/>
          <p:cNvSpPr/>
          <p:nvPr/>
        </p:nvSpPr>
        <p:spPr>
          <a:xfrm>
            <a:off x="0" y="7772400"/>
            <a:ext cx="7562088" cy="548640"/>
          </a:xfrm>
          <a:prstGeom prst="rect">
            <a:avLst/>
          </a:prstGeom>
          <a:noFill/>
          <a:ln/>
        </p:spPr>
        <p:txBody>
          <a:bodyPr wrap="square" lIns="91440" tIns="45720" rIns="91440" bIns="45720" rtlCol="0" anchor="ctr"/>
          <a:lstStyle/>
          <a:p>
            <a:pPr marL="0" indent="0" algn="ctr">
              <a:buNone/>
            </a:pPr>
            <a:r>
              <a:rPr lang="en-US" sz="2400" dirty="0" err="1">
                <a:solidFill>
                  <a:srgbClr val="96FF14"/>
                </a:solidFill>
                <a:latin typeface="Fagun"/>
                <a:ea typeface="Georgia" pitchFamily="34" charset="-122"/>
                <a:cs typeface="Georgia" pitchFamily="34" charset="-120"/>
              </a:rPr>
              <a:t>Humanising</a:t>
            </a:r>
            <a:r>
              <a:rPr lang="en-US" sz="2400" dirty="0">
                <a:solidFill>
                  <a:srgbClr val="96FF14"/>
                </a:solidFill>
                <a:latin typeface="Fagun"/>
                <a:ea typeface="Georgia" pitchFamily="34" charset="-122"/>
                <a:cs typeface="Georgia" pitchFamily="34" charset="-120"/>
              </a:rPr>
              <a:t> Justice</a:t>
            </a:r>
            <a:endParaRPr lang="en-US" sz="2400" dirty="0"/>
          </a:p>
        </p:txBody>
      </p:sp>
      <p:sp>
        <p:nvSpPr>
          <p:cNvPr id="9" name="Text 5"/>
          <p:cNvSpPr/>
          <p:nvPr/>
        </p:nvSpPr>
        <p:spPr>
          <a:xfrm>
            <a:off x="0" y="8321040"/>
            <a:ext cx="7562088" cy="274320"/>
          </a:xfrm>
          <a:prstGeom prst="rect">
            <a:avLst/>
          </a:prstGeom>
          <a:noFill/>
          <a:ln/>
        </p:spPr>
        <p:txBody>
          <a:bodyPr wrap="square" rtlCol="0" anchor="ctr"/>
          <a:lstStyle/>
          <a:p>
            <a:pPr marL="0" indent="0" algn="ctr">
              <a:buNone/>
            </a:pPr>
            <a:r>
              <a:rPr lang="en-US" sz="900" kern="0" spc="300" dirty="0">
                <a:solidFill>
                  <a:srgbClr val="E12D64"/>
                </a:solidFill>
                <a:latin typeface="Fagun" pitchFamily="2" charset="77"/>
                <a:ea typeface="Georgia" pitchFamily="34" charset="-122"/>
                <a:cs typeface="Georgia" pitchFamily="34" charset="-120"/>
              </a:rPr>
              <a:t>ACCOUNTABILITY  ·  COMMUNITY  ·  EVIDENCE</a:t>
            </a:r>
            <a:endParaRPr lang="en-US" sz="900" dirty="0"/>
          </a:p>
        </p:txBody>
      </p:sp>
      <p:sp>
        <p:nvSpPr>
          <p:cNvPr id="10" name="Shape 6"/>
          <p:cNvSpPr/>
          <p:nvPr/>
        </p:nvSpPr>
        <p:spPr>
          <a:xfrm>
            <a:off x="722376" y="9774936"/>
            <a:ext cx="219456" cy="219456"/>
          </a:xfrm>
          <a:prstGeom prst="ellipse">
            <a:avLst/>
          </a:prstGeom>
          <a:solidFill>
            <a:srgbClr val="E12D64">
              <a:alpha val="50000"/>
            </a:srgbClr>
          </a:solidFill>
          <a:ln/>
        </p:spPr>
        <p:txBody>
          <a:bodyPr/>
          <a:lstStyle/>
          <a:p>
            <a:endParaRPr lang="en-US"/>
          </a:p>
        </p:txBody>
      </p:sp>
      <p:sp>
        <p:nvSpPr>
          <p:cNvPr id="11" name="Shape 7"/>
          <p:cNvSpPr/>
          <p:nvPr/>
        </p:nvSpPr>
        <p:spPr>
          <a:xfrm>
            <a:off x="1042416" y="9838944"/>
            <a:ext cx="146304" cy="146304"/>
          </a:xfrm>
          <a:prstGeom prst="ellipse">
            <a:avLst/>
          </a:prstGeom>
          <a:solidFill>
            <a:srgbClr val="E12D64">
              <a:alpha val="30000"/>
            </a:srgbClr>
          </a:solidFill>
          <a:ln/>
        </p:spPr>
        <p:txBody>
          <a:bodyPr/>
          <a:lstStyle/>
          <a:p>
            <a:endParaRPr lang="en-US"/>
          </a:p>
        </p:txBody>
      </p:sp>
      <p:sp>
        <p:nvSpPr>
          <p:cNvPr id="12" name="Shape 8"/>
          <p:cNvSpPr/>
          <p:nvPr/>
        </p:nvSpPr>
        <p:spPr>
          <a:xfrm>
            <a:off x="0" y="10543032"/>
            <a:ext cx="7562088" cy="146304"/>
          </a:xfrm>
          <a:prstGeom prst="rect">
            <a:avLst/>
          </a:prstGeom>
          <a:solidFill>
            <a:srgbClr val="E12D64"/>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8000"/>
          </a:blip>
          <a:stretch>
            <a:fillRect/>
          </a:stretch>
        </p:blipFill>
        <p:spPr>
          <a:xfrm>
            <a:off x="0" y="8403336"/>
            <a:ext cx="3200400" cy="2011680"/>
          </a:xfrm>
          <a:prstGeom prst="rect">
            <a:avLst/>
          </a:prstGeom>
        </p:spPr>
      </p:pic>
      <p:sp>
        <p:nvSpPr>
          <p:cNvPr id="4" name="Text 1"/>
          <p:cNvSpPr/>
          <p:nvPr/>
        </p:nvSpPr>
        <p:spPr>
          <a:xfrm>
            <a:off x="0" y="3108960"/>
            <a:ext cx="7562088" cy="731520"/>
          </a:xfrm>
          <a:prstGeom prst="rect">
            <a:avLst/>
          </a:prstGeom>
          <a:noFill/>
          <a:ln/>
        </p:spPr>
        <p:txBody>
          <a:bodyPr wrap="square" rtlCol="0" anchor="ctr"/>
          <a:lstStyle/>
          <a:p>
            <a:pPr marL="0" indent="0" algn="ctr">
              <a:buNone/>
            </a:pPr>
            <a:r>
              <a:rPr lang="en-US" sz="3000" dirty="0">
                <a:solidFill>
                  <a:srgbClr val="410F37"/>
                </a:solidFill>
                <a:latin typeface="Fagun" pitchFamily="2" charset="77"/>
                <a:ea typeface="Georgia" pitchFamily="34" charset="-122"/>
                <a:cs typeface="Georgia" pitchFamily="34" charset="-120"/>
              </a:rPr>
              <a:t>Our Mission</a:t>
            </a:r>
            <a:endParaRPr lang="en-US" sz="3000" dirty="0"/>
          </a:p>
        </p:txBody>
      </p:sp>
      <p:sp>
        <p:nvSpPr>
          <p:cNvPr id="5" name="Text 2"/>
          <p:cNvSpPr/>
          <p:nvPr/>
        </p:nvSpPr>
        <p:spPr>
          <a:xfrm>
            <a:off x="0" y="3931920"/>
            <a:ext cx="7562088" cy="365760"/>
          </a:xfrm>
          <a:prstGeom prst="rect">
            <a:avLst/>
          </a:prstGeom>
          <a:noFill/>
          <a:ln/>
        </p:spPr>
        <p:txBody>
          <a:bodyPr wrap="square" rtlCol="0" anchor="ctr"/>
          <a:lstStyle/>
          <a:p>
            <a:pPr marL="0" indent="0" algn="ctr">
              <a:buNone/>
            </a:pPr>
            <a:r>
              <a:rPr lang="en-US" sz="1600" dirty="0">
                <a:solidFill>
                  <a:srgbClr val="E12D64"/>
                </a:solidFill>
                <a:latin typeface="Fagun" pitchFamily="2" charset="77"/>
                <a:ea typeface="Georgia" pitchFamily="34" charset="-122"/>
                <a:cs typeface="Georgia" pitchFamily="34" charset="-120"/>
              </a:rPr>
              <a:t>Empowering victims of serious international crimes</a:t>
            </a:r>
            <a:endParaRPr lang="en-US" sz="1600" dirty="0"/>
          </a:p>
        </p:txBody>
      </p:sp>
      <p:sp>
        <p:nvSpPr>
          <p:cNvPr id="6" name="Text 3"/>
          <p:cNvSpPr/>
          <p:nvPr/>
        </p:nvSpPr>
        <p:spPr>
          <a:xfrm>
            <a:off x="0" y="4389120"/>
            <a:ext cx="7562088" cy="274320"/>
          </a:xfrm>
          <a:prstGeom prst="rect">
            <a:avLst/>
          </a:prstGeom>
          <a:noFill/>
          <a:ln/>
        </p:spPr>
        <p:txBody>
          <a:bodyPr wrap="square" rtlCol="0" anchor="ctr"/>
          <a:lstStyle/>
          <a:p>
            <a:pPr marL="0" indent="0" algn="ctr">
              <a:buNone/>
            </a:pPr>
            <a:r>
              <a:rPr lang="en-US" sz="1200" kern="0" spc="300" dirty="0">
                <a:solidFill>
                  <a:srgbClr val="8D7081"/>
                </a:solidFill>
                <a:latin typeface="Fagun" pitchFamily="2" charset="77"/>
                <a:ea typeface="Georgia" pitchFamily="34" charset="-122"/>
                <a:cs typeface="Georgia" pitchFamily="34" charset="-120"/>
              </a:rPr>
              <a:t>ACCOUNTABILITY  ·  COMMUNITY  ·  EVIDENCE</a:t>
            </a:r>
            <a:endParaRPr lang="en-US" sz="1200" dirty="0"/>
          </a:p>
        </p:txBody>
      </p:sp>
      <p:sp>
        <p:nvSpPr>
          <p:cNvPr id="7" name="Text 4"/>
          <p:cNvSpPr/>
          <p:nvPr/>
        </p:nvSpPr>
        <p:spPr>
          <a:xfrm>
            <a:off x="1371600" y="5303520"/>
            <a:ext cx="4818888" cy="2286000"/>
          </a:xfrm>
          <a:prstGeom prst="rect">
            <a:avLst/>
          </a:prstGeom>
          <a:noFill/>
          <a:ln/>
        </p:spPr>
        <p:txBody>
          <a:bodyPr wrap="square" rtlCol="0" anchor="ctr"/>
          <a:lstStyle/>
          <a:p>
            <a:pPr marL="0" indent="0" algn="ctr">
              <a:lnSpc>
                <a:spcPct val="165000"/>
              </a:lnSpc>
              <a:buNone/>
            </a:pPr>
            <a:r>
              <a:rPr lang="en-US" sz="1100" dirty="0">
                <a:solidFill>
                  <a:srgbClr val="410F37"/>
                </a:solidFill>
                <a:latin typeface="Fagun" pitchFamily="2" charset="77"/>
                <a:ea typeface="Georgia" pitchFamily="34" charset="-122"/>
                <a:cs typeface="Georgia" pitchFamily="34" charset="-120"/>
              </a:rPr>
              <a:t>Our mission is to empower victims of serious international crimes and transform accountability processes. Working alongside victim groups, we support them to get justice that matters to them. Too often, victims are not included in legal processes. We strive to amplify their voices, ensuring they are heard and respected on the global stage.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562088" cy="109728"/>
          </a:xfrm>
          <a:prstGeom prst="rect">
            <a:avLst/>
          </a:prstGeom>
          <a:solidFill>
            <a:srgbClr val="410F37"/>
          </a:solidFill>
          <a:ln/>
        </p:spPr>
        <p:txBody>
          <a:bodyPr/>
          <a:lstStyle/>
          <a:p>
            <a:endParaRPr lang="en-US"/>
          </a:p>
        </p:txBody>
      </p:sp>
      <p:pic>
        <p:nvPicPr>
          <p:cNvPr id="3" name="Image 0" descr="preencoded.png"/>
          <p:cNvPicPr>
            <a:picLocks noChangeAspect="1"/>
          </p:cNvPicPr>
          <p:nvPr/>
        </p:nvPicPr>
        <p:blipFill>
          <a:blip r:embed="rId3">
            <a:alphaModFix amt="6000"/>
          </a:blip>
          <a:stretch>
            <a:fillRect/>
          </a:stretch>
        </p:blipFill>
        <p:spPr>
          <a:xfrm>
            <a:off x="4818888" y="8129016"/>
            <a:ext cx="2743200" cy="2377440"/>
          </a:xfrm>
          <a:prstGeom prst="rect">
            <a:avLst/>
          </a:prstGeom>
        </p:spPr>
      </p:pic>
      <p:sp>
        <p:nvSpPr>
          <p:cNvPr id="4" name="Text 1"/>
          <p:cNvSpPr/>
          <p:nvPr/>
        </p:nvSpPr>
        <p:spPr>
          <a:xfrm>
            <a:off x="722376" y="731520"/>
            <a:ext cx="6117336" cy="731520"/>
          </a:xfrm>
          <a:prstGeom prst="rect">
            <a:avLst/>
          </a:prstGeom>
          <a:noFill/>
          <a:ln/>
        </p:spPr>
        <p:txBody>
          <a:bodyPr wrap="square" rtlCol="0" anchor="ctr"/>
          <a:lstStyle/>
          <a:p>
            <a:pPr marL="0" indent="0">
              <a:buNone/>
            </a:pPr>
            <a:r>
              <a:rPr lang="en-US" sz="2800" dirty="0">
                <a:solidFill>
                  <a:srgbClr val="410F37"/>
                </a:solidFill>
                <a:latin typeface="Fagun" pitchFamily="2" charset="77"/>
                <a:ea typeface="Georgia" pitchFamily="34" charset="-122"/>
                <a:cs typeface="Georgia" pitchFamily="34" charset="-120"/>
              </a:rPr>
              <a:t>Contents</a:t>
            </a:r>
            <a:endParaRPr lang="en-US" sz="2800" dirty="0"/>
          </a:p>
        </p:txBody>
      </p:sp>
      <p:sp>
        <p:nvSpPr>
          <p:cNvPr id="5" name="Shape 2"/>
          <p:cNvSpPr/>
          <p:nvPr/>
        </p:nvSpPr>
        <p:spPr>
          <a:xfrm>
            <a:off x="722376" y="1554480"/>
            <a:ext cx="6117336" cy="0"/>
          </a:xfrm>
          <a:prstGeom prst="line">
            <a:avLst/>
          </a:prstGeom>
          <a:noFill/>
          <a:ln w="25400">
            <a:solidFill>
              <a:srgbClr val="410F37"/>
            </a:solidFill>
            <a:prstDash val="solid"/>
          </a:ln>
        </p:spPr>
        <p:txBody>
          <a:bodyPr/>
          <a:lstStyle/>
          <a:p>
            <a:endParaRPr lang="en-US"/>
          </a:p>
        </p:txBody>
      </p:sp>
      <p:sp>
        <p:nvSpPr>
          <p:cNvPr id="6" name="Text 3"/>
          <p:cNvSpPr/>
          <p:nvPr/>
        </p:nvSpPr>
        <p:spPr>
          <a:xfrm>
            <a:off x="722376" y="1920240"/>
            <a:ext cx="5202936" cy="274320"/>
          </a:xfrm>
          <a:prstGeom prst="rect">
            <a:avLst/>
          </a:prstGeom>
          <a:noFill/>
          <a:ln/>
        </p:spPr>
        <p:txBody>
          <a:bodyPr wrap="square" lIns="0" tIns="0" rIns="0" bIns="0" rtlCol="0" anchor="ctr"/>
          <a:lstStyle/>
          <a:p>
            <a:pPr marL="0" indent="0">
              <a:buNone/>
            </a:pPr>
            <a:r>
              <a:rPr lang="en-US" sz="1300" dirty="0">
                <a:solidFill>
                  <a:srgbClr val="410F37"/>
                </a:solidFill>
                <a:latin typeface="Fagun" pitchFamily="2" charset="77"/>
                <a:ea typeface="Georgia" pitchFamily="34" charset="-122"/>
                <a:cs typeface="Georgia" pitchFamily="34" charset="-120"/>
              </a:rPr>
              <a:t>Executive Director's Statement</a:t>
            </a:r>
            <a:endParaRPr lang="en-US" sz="1300" dirty="0"/>
          </a:p>
        </p:txBody>
      </p:sp>
      <p:sp>
        <p:nvSpPr>
          <p:cNvPr id="7" name="Text 4"/>
          <p:cNvSpPr/>
          <p:nvPr/>
        </p:nvSpPr>
        <p:spPr>
          <a:xfrm>
            <a:off x="6291072" y="1920240"/>
            <a:ext cx="548640" cy="274320"/>
          </a:xfrm>
          <a:prstGeom prst="rect">
            <a:avLst/>
          </a:prstGeom>
          <a:noFill/>
          <a:ln/>
        </p:spPr>
        <p:txBody>
          <a:bodyPr wrap="square" lIns="0" tIns="0" rIns="0" bIns="0" rtlCol="0" anchor="ctr"/>
          <a:lstStyle/>
          <a:p>
            <a:pPr marL="0" indent="0" algn="r">
              <a:buNone/>
            </a:pPr>
            <a:r>
              <a:rPr lang="en-US" sz="1300" dirty="0">
                <a:solidFill>
                  <a:srgbClr val="E12D64"/>
                </a:solidFill>
                <a:latin typeface="Fagun" pitchFamily="2" charset="77"/>
                <a:ea typeface="Georgia" pitchFamily="34" charset="-122"/>
                <a:cs typeface="Georgia" pitchFamily="34" charset="-120"/>
              </a:rPr>
              <a:t>4</a:t>
            </a:r>
            <a:endParaRPr lang="en-US" sz="1300" dirty="0"/>
          </a:p>
        </p:txBody>
      </p:sp>
      <p:sp>
        <p:nvSpPr>
          <p:cNvPr id="8" name="Shape 5"/>
          <p:cNvSpPr/>
          <p:nvPr/>
        </p:nvSpPr>
        <p:spPr>
          <a:xfrm>
            <a:off x="722376" y="2212848"/>
            <a:ext cx="6117336" cy="0"/>
          </a:xfrm>
          <a:prstGeom prst="line">
            <a:avLst/>
          </a:prstGeom>
          <a:noFill/>
          <a:ln w="3810">
            <a:solidFill>
              <a:srgbClr val="D9CFCB"/>
            </a:solidFill>
            <a:prstDash val="solid"/>
          </a:ln>
        </p:spPr>
        <p:txBody>
          <a:bodyPr/>
          <a:lstStyle/>
          <a:p>
            <a:endParaRPr lang="en-US"/>
          </a:p>
        </p:txBody>
      </p:sp>
      <p:sp>
        <p:nvSpPr>
          <p:cNvPr id="9" name="Text 6"/>
          <p:cNvSpPr/>
          <p:nvPr/>
        </p:nvSpPr>
        <p:spPr>
          <a:xfrm>
            <a:off x="722376" y="2395728"/>
            <a:ext cx="3657600" cy="228600"/>
          </a:xfrm>
          <a:prstGeom prst="rect">
            <a:avLst/>
          </a:prstGeom>
          <a:noFill/>
          <a:ln/>
        </p:spPr>
        <p:txBody>
          <a:bodyPr wrap="square" rtlCol="0" anchor="ctr"/>
          <a:lstStyle/>
          <a:p>
            <a:pPr marL="0" indent="0">
              <a:buNone/>
            </a:pPr>
            <a:r>
              <a:rPr lang="en-US" sz="900" kern="0" spc="200" dirty="0">
                <a:solidFill>
                  <a:srgbClr val="8D7081"/>
                </a:solidFill>
                <a:latin typeface="Fagun" pitchFamily="2" charset="77"/>
                <a:ea typeface="Georgia" pitchFamily="34" charset="-122"/>
                <a:cs typeface="Georgia" pitchFamily="34" charset="-120"/>
              </a:rPr>
              <a:t>OUR PROGRAMMES</a:t>
            </a:r>
            <a:endParaRPr lang="en-US" sz="900" dirty="0"/>
          </a:p>
        </p:txBody>
      </p:sp>
      <p:sp>
        <p:nvSpPr>
          <p:cNvPr id="10" name="Text 7"/>
          <p:cNvSpPr/>
          <p:nvPr/>
        </p:nvSpPr>
        <p:spPr>
          <a:xfrm>
            <a:off x="722376" y="2670048"/>
            <a:ext cx="5202936" cy="274320"/>
          </a:xfrm>
          <a:prstGeom prst="rect">
            <a:avLst/>
          </a:prstGeom>
          <a:noFill/>
          <a:ln/>
        </p:spPr>
        <p:txBody>
          <a:bodyPr wrap="square" lIns="0" tIns="0" rIns="0" bIns="0" rtlCol="0" anchor="ctr"/>
          <a:lstStyle/>
          <a:p>
            <a:pPr marL="0" indent="0">
              <a:buNone/>
            </a:pPr>
            <a:r>
              <a:rPr lang="en-US" sz="1300" dirty="0">
                <a:solidFill>
                  <a:srgbClr val="410F37"/>
                </a:solidFill>
                <a:latin typeface="Fagun" pitchFamily="2" charset="77"/>
                <a:ea typeface="Georgia" pitchFamily="34" charset="-122"/>
                <a:cs typeface="Georgia" pitchFamily="34" charset="-120"/>
              </a:rPr>
              <a:t>1. Rohingya in Bangladesh</a:t>
            </a:r>
            <a:endParaRPr lang="en-US" sz="1300" dirty="0"/>
          </a:p>
        </p:txBody>
      </p:sp>
      <p:sp>
        <p:nvSpPr>
          <p:cNvPr id="11" name="Text 8"/>
          <p:cNvSpPr/>
          <p:nvPr/>
        </p:nvSpPr>
        <p:spPr>
          <a:xfrm>
            <a:off x="6291072" y="2670048"/>
            <a:ext cx="548640" cy="274320"/>
          </a:xfrm>
          <a:prstGeom prst="rect">
            <a:avLst/>
          </a:prstGeom>
          <a:noFill/>
          <a:ln/>
        </p:spPr>
        <p:txBody>
          <a:bodyPr wrap="square" lIns="0" tIns="0" rIns="0" bIns="0" rtlCol="0" anchor="ctr"/>
          <a:lstStyle/>
          <a:p>
            <a:pPr marL="0" indent="0" algn="r">
              <a:buNone/>
            </a:pPr>
            <a:r>
              <a:rPr lang="en-US" sz="1300" dirty="0">
                <a:solidFill>
                  <a:srgbClr val="E12D64"/>
                </a:solidFill>
                <a:latin typeface="Fagun" pitchFamily="2" charset="77"/>
                <a:ea typeface="Georgia" pitchFamily="34" charset="-122"/>
                <a:cs typeface="Georgia" pitchFamily="34" charset="-120"/>
              </a:rPr>
              <a:t>7</a:t>
            </a:r>
            <a:endParaRPr lang="en-US" sz="1300" dirty="0"/>
          </a:p>
        </p:txBody>
      </p:sp>
      <p:sp>
        <p:nvSpPr>
          <p:cNvPr id="12" name="Shape 9"/>
          <p:cNvSpPr/>
          <p:nvPr/>
        </p:nvSpPr>
        <p:spPr>
          <a:xfrm>
            <a:off x="722376" y="2962656"/>
            <a:ext cx="6117336" cy="0"/>
          </a:xfrm>
          <a:prstGeom prst="line">
            <a:avLst/>
          </a:prstGeom>
          <a:noFill/>
          <a:ln w="3810">
            <a:solidFill>
              <a:srgbClr val="D9CFCB"/>
            </a:solidFill>
            <a:prstDash val="solid"/>
          </a:ln>
        </p:spPr>
        <p:txBody>
          <a:bodyPr/>
          <a:lstStyle/>
          <a:p>
            <a:endParaRPr lang="en-US"/>
          </a:p>
        </p:txBody>
      </p:sp>
      <p:sp>
        <p:nvSpPr>
          <p:cNvPr id="13" name="Text 10"/>
          <p:cNvSpPr/>
          <p:nvPr/>
        </p:nvSpPr>
        <p:spPr>
          <a:xfrm>
            <a:off x="1042416" y="3008376"/>
            <a:ext cx="5202936" cy="274320"/>
          </a:xfrm>
          <a:prstGeom prst="rect">
            <a:avLst/>
          </a:prstGeom>
          <a:noFill/>
          <a:ln/>
        </p:spPr>
        <p:txBody>
          <a:bodyPr wrap="square" lIns="0" tIns="0" rIns="0" bIns="0" rtlCol="0" anchor="ctr"/>
          <a:lstStyle/>
          <a:p>
            <a:pPr marL="0" indent="0">
              <a:buNone/>
            </a:pPr>
            <a:r>
              <a:rPr lang="en-US" sz="1300" dirty="0">
                <a:solidFill>
                  <a:srgbClr val="410F37"/>
                </a:solidFill>
                <a:latin typeface="Fagun" pitchFamily="2" charset="77"/>
                <a:ea typeface="Georgia" pitchFamily="34" charset="-122"/>
                <a:cs typeface="Georgia" pitchFamily="34" charset="-120"/>
              </a:rPr>
              <a:t>Rohingya Atrocities Archive</a:t>
            </a:r>
            <a:endParaRPr lang="en-US" sz="1300" dirty="0"/>
          </a:p>
        </p:txBody>
      </p:sp>
      <p:sp>
        <p:nvSpPr>
          <p:cNvPr id="14" name="Text 11"/>
          <p:cNvSpPr/>
          <p:nvPr/>
        </p:nvSpPr>
        <p:spPr>
          <a:xfrm>
            <a:off x="6291072" y="3008376"/>
            <a:ext cx="548640" cy="274320"/>
          </a:xfrm>
          <a:prstGeom prst="rect">
            <a:avLst/>
          </a:prstGeom>
          <a:noFill/>
          <a:ln/>
        </p:spPr>
        <p:txBody>
          <a:bodyPr wrap="square" lIns="0" tIns="0" rIns="0" bIns="0" rtlCol="0" anchor="ctr"/>
          <a:lstStyle/>
          <a:p>
            <a:pPr marL="0" indent="0" algn="r">
              <a:buNone/>
            </a:pPr>
            <a:r>
              <a:rPr lang="en-US" sz="1300" dirty="0">
                <a:solidFill>
                  <a:srgbClr val="E12D64"/>
                </a:solidFill>
                <a:latin typeface="Fagun" pitchFamily="2" charset="77"/>
                <a:ea typeface="Georgia" pitchFamily="34" charset="-122"/>
                <a:cs typeface="Georgia" pitchFamily="34" charset="-120"/>
              </a:rPr>
              <a:t>8</a:t>
            </a:r>
            <a:endParaRPr lang="en-US" sz="1300" dirty="0"/>
          </a:p>
        </p:txBody>
      </p:sp>
      <p:sp>
        <p:nvSpPr>
          <p:cNvPr id="15" name="Shape 12"/>
          <p:cNvSpPr/>
          <p:nvPr/>
        </p:nvSpPr>
        <p:spPr>
          <a:xfrm>
            <a:off x="722376" y="3300984"/>
            <a:ext cx="6117336" cy="0"/>
          </a:xfrm>
          <a:prstGeom prst="line">
            <a:avLst/>
          </a:prstGeom>
          <a:noFill/>
          <a:ln w="3810">
            <a:solidFill>
              <a:srgbClr val="D9CFCB"/>
            </a:solidFill>
            <a:prstDash val="solid"/>
          </a:ln>
        </p:spPr>
        <p:txBody>
          <a:bodyPr/>
          <a:lstStyle/>
          <a:p>
            <a:endParaRPr lang="en-US"/>
          </a:p>
        </p:txBody>
      </p:sp>
      <p:sp>
        <p:nvSpPr>
          <p:cNvPr id="16" name="Text 13"/>
          <p:cNvSpPr/>
          <p:nvPr/>
        </p:nvSpPr>
        <p:spPr>
          <a:xfrm>
            <a:off x="1042416" y="3346704"/>
            <a:ext cx="5202936" cy="274320"/>
          </a:xfrm>
          <a:prstGeom prst="rect">
            <a:avLst/>
          </a:prstGeom>
          <a:noFill/>
          <a:ln/>
        </p:spPr>
        <p:txBody>
          <a:bodyPr wrap="square" lIns="0" tIns="0" rIns="0" bIns="0" rtlCol="0" anchor="ctr"/>
          <a:lstStyle/>
          <a:p>
            <a:pPr marL="0" indent="0">
              <a:buNone/>
            </a:pPr>
            <a:r>
              <a:rPr lang="en-US" sz="1300" dirty="0">
                <a:solidFill>
                  <a:srgbClr val="410F37"/>
                </a:solidFill>
                <a:latin typeface="Fagun" pitchFamily="2" charset="77"/>
                <a:ea typeface="Georgia" pitchFamily="34" charset="-122"/>
                <a:cs typeface="Georgia" pitchFamily="34" charset="-120"/>
              </a:rPr>
              <a:t>Dialogue &amp; Leadership</a:t>
            </a:r>
            <a:endParaRPr lang="en-US" sz="1300" dirty="0"/>
          </a:p>
        </p:txBody>
      </p:sp>
      <p:sp>
        <p:nvSpPr>
          <p:cNvPr id="17" name="Text 14"/>
          <p:cNvSpPr/>
          <p:nvPr/>
        </p:nvSpPr>
        <p:spPr>
          <a:xfrm>
            <a:off x="6291072" y="3346704"/>
            <a:ext cx="548640" cy="274320"/>
          </a:xfrm>
          <a:prstGeom prst="rect">
            <a:avLst/>
          </a:prstGeom>
          <a:noFill/>
          <a:ln/>
        </p:spPr>
        <p:txBody>
          <a:bodyPr wrap="square" lIns="0" tIns="0" rIns="0" bIns="0" rtlCol="0" anchor="ctr"/>
          <a:lstStyle/>
          <a:p>
            <a:pPr marL="0" indent="0" algn="r">
              <a:buNone/>
            </a:pPr>
            <a:r>
              <a:rPr lang="en-US" sz="1300" dirty="0">
                <a:solidFill>
                  <a:srgbClr val="E12D64"/>
                </a:solidFill>
                <a:latin typeface="Fagun" pitchFamily="2" charset="77"/>
                <a:ea typeface="Georgia" pitchFamily="34" charset="-122"/>
                <a:cs typeface="Georgia" pitchFamily="34" charset="-120"/>
              </a:rPr>
              <a:t>9</a:t>
            </a:r>
            <a:endParaRPr lang="en-US" sz="1300" dirty="0"/>
          </a:p>
        </p:txBody>
      </p:sp>
      <p:sp>
        <p:nvSpPr>
          <p:cNvPr id="18" name="Shape 15"/>
          <p:cNvSpPr/>
          <p:nvPr/>
        </p:nvSpPr>
        <p:spPr>
          <a:xfrm>
            <a:off x="722376" y="3639312"/>
            <a:ext cx="6117336" cy="0"/>
          </a:xfrm>
          <a:prstGeom prst="line">
            <a:avLst/>
          </a:prstGeom>
          <a:noFill/>
          <a:ln w="3810">
            <a:solidFill>
              <a:srgbClr val="D9CFCB"/>
            </a:solidFill>
            <a:prstDash val="solid"/>
          </a:ln>
        </p:spPr>
        <p:txBody>
          <a:bodyPr/>
          <a:lstStyle/>
          <a:p>
            <a:endParaRPr lang="en-US"/>
          </a:p>
        </p:txBody>
      </p:sp>
      <p:sp>
        <p:nvSpPr>
          <p:cNvPr id="19" name="Text 16"/>
          <p:cNvSpPr/>
          <p:nvPr/>
        </p:nvSpPr>
        <p:spPr>
          <a:xfrm>
            <a:off x="1042416" y="3685032"/>
            <a:ext cx="5202936" cy="274320"/>
          </a:xfrm>
          <a:prstGeom prst="rect">
            <a:avLst/>
          </a:prstGeom>
          <a:noFill/>
          <a:ln/>
        </p:spPr>
        <p:txBody>
          <a:bodyPr wrap="square" lIns="0" tIns="0" rIns="0" bIns="0" rtlCol="0" anchor="ctr"/>
          <a:lstStyle/>
          <a:p>
            <a:pPr marL="0" indent="0">
              <a:buNone/>
            </a:pPr>
            <a:r>
              <a:rPr lang="en-US" sz="1300" dirty="0">
                <a:solidFill>
                  <a:srgbClr val="410F37"/>
                </a:solidFill>
                <a:latin typeface="Fagun" pitchFamily="2" charset="77"/>
                <a:ea typeface="Georgia" pitchFamily="34" charset="-122"/>
                <a:cs typeface="Georgia" pitchFamily="34" charset="-120"/>
              </a:rPr>
              <a:t>Meta Accountability</a:t>
            </a:r>
            <a:endParaRPr lang="en-US" sz="1300" dirty="0"/>
          </a:p>
        </p:txBody>
      </p:sp>
      <p:sp>
        <p:nvSpPr>
          <p:cNvPr id="20" name="Text 17"/>
          <p:cNvSpPr/>
          <p:nvPr/>
        </p:nvSpPr>
        <p:spPr>
          <a:xfrm>
            <a:off x="6291072" y="3685032"/>
            <a:ext cx="548640" cy="274320"/>
          </a:xfrm>
          <a:prstGeom prst="rect">
            <a:avLst/>
          </a:prstGeom>
          <a:noFill/>
          <a:ln/>
        </p:spPr>
        <p:txBody>
          <a:bodyPr wrap="square" lIns="0" tIns="0" rIns="0" bIns="0" rtlCol="0" anchor="ctr"/>
          <a:lstStyle/>
          <a:p>
            <a:pPr marL="0" indent="0" algn="r">
              <a:buNone/>
            </a:pPr>
            <a:r>
              <a:rPr lang="en-US" sz="1300" dirty="0">
                <a:solidFill>
                  <a:srgbClr val="E12D64"/>
                </a:solidFill>
                <a:latin typeface="Fagun" pitchFamily="2" charset="77"/>
                <a:ea typeface="Georgia" pitchFamily="34" charset="-122"/>
                <a:cs typeface="Georgia" pitchFamily="34" charset="-120"/>
              </a:rPr>
              <a:t>9</a:t>
            </a:r>
            <a:endParaRPr lang="en-US" sz="1300" dirty="0"/>
          </a:p>
        </p:txBody>
      </p:sp>
      <p:sp>
        <p:nvSpPr>
          <p:cNvPr id="21" name="Shape 18"/>
          <p:cNvSpPr/>
          <p:nvPr/>
        </p:nvSpPr>
        <p:spPr>
          <a:xfrm>
            <a:off x="722376" y="3977640"/>
            <a:ext cx="6117336" cy="0"/>
          </a:xfrm>
          <a:prstGeom prst="line">
            <a:avLst/>
          </a:prstGeom>
          <a:noFill/>
          <a:ln w="3810">
            <a:solidFill>
              <a:srgbClr val="D9CFCB"/>
            </a:solidFill>
            <a:prstDash val="solid"/>
          </a:ln>
        </p:spPr>
        <p:txBody>
          <a:bodyPr/>
          <a:lstStyle/>
          <a:p>
            <a:endParaRPr lang="en-US"/>
          </a:p>
        </p:txBody>
      </p:sp>
      <p:sp>
        <p:nvSpPr>
          <p:cNvPr id="22" name="Text 19"/>
          <p:cNvSpPr/>
          <p:nvPr/>
        </p:nvSpPr>
        <p:spPr>
          <a:xfrm>
            <a:off x="722376" y="4023360"/>
            <a:ext cx="5202936" cy="274320"/>
          </a:xfrm>
          <a:prstGeom prst="rect">
            <a:avLst/>
          </a:prstGeom>
          <a:noFill/>
          <a:ln/>
        </p:spPr>
        <p:txBody>
          <a:bodyPr wrap="square" lIns="0" tIns="0" rIns="0" bIns="0" rtlCol="0" anchor="ctr"/>
          <a:lstStyle/>
          <a:p>
            <a:pPr marL="0" indent="0">
              <a:buNone/>
            </a:pPr>
            <a:r>
              <a:rPr lang="en-US" sz="1300" dirty="0">
                <a:solidFill>
                  <a:srgbClr val="410F37"/>
                </a:solidFill>
                <a:latin typeface="Fagun" pitchFamily="2" charset="77"/>
                <a:ea typeface="Georgia" pitchFamily="34" charset="-122"/>
                <a:cs typeface="Georgia" pitchFamily="34" charset="-120"/>
              </a:rPr>
              <a:t>2. India: Tracking Detention, Securing Freedom</a:t>
            </a:r>
            <a:endParaRPr lang="en-US" sz="1300" dirty="0"/>
          </a:p>
        </p:txBody>
      </p:sp>
      <p:sp>
        <p:nvSpPr>
          <p:cNvPr id="23" name="Text 20"/>
          <p:cNvSpPr/>
          <p:nvPr/>
        </p:nvSpPr>
        <p:spPr>
          <a:xfrm>
            <a:off x="6291072" y="4023360"/>
            <a:ext cx="548640" cy="274320"/>
          </a:xfrm>
          <a:prstGeom prst="rect">
            <a:avLst/>
          </a:prstGeom>
          <a:noFill/>
          <a:ln/>
        </p:spPr>
        <p:txBody>
          <a:bodyPr wrap="square" lIns="0" tIns="0" rIns="0" bIns="0" rtlCol="0" anchor="ctr"/>
          <a:lstStyle/>
          <a:p>
            <a:pPr marL="0" indent="0" algn="r">
              <a:buNone/>
            </a:pPr>
            <a:r>
              <a:rPr lang="en-US" sz="1300" dirty="0">
                <a:solidFill>
                  <a:srgbClr val="E12D64"/>
                </a:solidFill>
                <a:latin typeface="Fagun" pitchFamily="2" charset="77"/>
                <a:ea typeface="Georgia" pitchFamily="34" charset="-122"/>
                <a:cs typeface="Georgia" pitchFamily="34" charset="-120"/>
              </a:rPr>
              <a:t>10</a:t>
            </a:r>
            <a:endParaRPr lang="en-US" sz="1300" dirty="0"/>
          </a:p>
        </p:txBody>
      </p:sp>
      <p:sp>
        <p:nvSpPr>
          <p:cNvPr id="24" name="Shape 21"/>
          <p:cNvSpPr/>
          <p:nvPr/>
        </p:nvSpPr>
        <p:spPr>
          <a:xfrm>
            <a:off x="722376" y="4315968"/>
            <a:ext cx="6117336" cy="0"/>
          </a:xfrm>
          <a:prstGeom prst="line">
            <a:avLst/>
          </a:prstGeom>
          <a:noFill/>
          <a:ln w="3810">
            <a:solidFill>
              <a:srgbClr val="D9CFCB"/>
            </a:solidFill>
            <a:prstDash val="solid"/>
          </a:ln>
        </p:spPr>
        <p:txBody>
          <a:bodyPr/>
          <a:lstStyle/>
          <a:p>
            <a:endParaRPr lang="en-US"/>
          </a:p>
        </p:txBody>
      </p:sp>
      <p:sp>
        <p:nvSpPr>
          <p:cNvPr id="25" name="Text 22"/>
          <p:cNvSpPr/>
          <p:nvPr/>
        </p:nvSpPr>
        <p:spPr>
          <a:xfrm>
            <a:off x="722376" y="4361688"/>
            <a:ext cx="5202936" cy="274320"/>
          </a:xfrm>
          <a:prstGeom prst="rect">
            <a:avLst/>
          </a:prstGeom>
          <a:noFill/>
          <a:ln/>
        </p:spPr>
        <p:txBody>
          <a:bodyPr wrap="square" lIns="0" tIns="0" rIns="0" bIns="0" rtlCol="0" anchor="ctr"/>
          <a:lstStyle/>
          <a:p>
            <a:pPr marL="0" indent="0">
              <a:buNone/>
            </a:pPr>
            <a:r>
              <a:rPr lang="en-US" sz="1300" dirty="0">
                <a:solidFill>
                  <a:srgbClr val="410F37"/>
                </a:solidFill>
                <a:latin typeface="Fagun" pitchFamily="2" charset="77"/>
                <a:ea typeface="Georgia" pitchFamily="34" charset="-122"/>
                <a:cs typeface="Georgia" pitchFamily="34" charset="-120"/>
              </a:rPr>
              <a:t>3. Somalia: AFRICOM Responses on Civilian Harm</a:t>
            </a:r>
            <a:endParaRPr lang="en-US" sz="1300" dirty="0"/>
          </a:p>
        </p:txBody>
      </p:sp>
      <p:sp>
        <p:nvSpPr>
          <p:cNvPr id="26" name="Text 23"/>
          <p:cNvSpPr/>
          <p:nvPr/>
        </p:nvSpPr>
        <p:spPr>
          <a:xfrm>
            <a:off x="6291072" y="4361688"/>
            <a:ext cx="548640" cy="274320"/>
          </a:xfrm>
          <a:prstGeom prst="rect">
            <a:avLst/>
          </a:prstGeom>
          <a:noFill/>
          <a:ln/>
        </p:spPr>
        <p:txBody>
          <a:bodyPr wrap="square" lIns="0" tIns="0" rIns="0" bIns="0" rtlCol="0" anchor="ctr"/>
          <a:lstStyle/>
          <a:p>
            <a:pPr marL="0" indent="0" algn="r">
              <a:buNone/>
            </a:pPr>
            <a:r>
              <a:rPr lang="en-US" sz="1300" dirty="0">
                <a:solidFill>
                  <a:srgbClr val="E12D64"/>
                </a:solidFill>
                <a:latin typeface="Fagun" pitchFamily="2" charset="77"/>
                <a:ea typeface="Georgia" pitchFamily="34" charset="-122"/>
                <a:cs typeface="Georgia" pitchFamily="34" charset="-120"/>
              </a:rPr>
              <a:t>12</a:t>
            </a:r>
            <a:endParaRPr lang="en-US" sz="1300" dirty="0"/>
          </a:p>
        </p:txBody>
      </p:sp>
      <p:sp>
        <p:nvSpPr>
          <p:cNvPr id="27" name="Shape 24"/>
          <p:cNvSpPr/>
          <p:nvPr/>
        </p:nvSpPr>
        <p:spPr>
          <a:xfrm>
            <a:off x="722376" y="4654296"/>
            <a:ext cx="6117336" cy="0"/>
          </a:xfrm>
          <a:prstGeom prst="line">
            <a:avLst/>
          </a:prstGeom>
          <a:noFill/>
          <a:ln w="3810">
            <a:solidFill>
              <a:srgbClr val="D9CFCB"/>
            </a:solidFill>
            <a:prstDash val="solid"/>
          </a:ln>
        </p:spPr>
        <p:txBody>
          <a:bodyPr/>
          <a:lstStyle/>
          <a:p>
            <a:endParaRPr lang="en-US"/>
          </a:p>
        </p:txBody>
      </p:sp>
      <p:sp>
        <p:nvSpPr>
          <p:cNvPr id="28" name="Text 25"/>
          <p:cNvSpPr/>
          <p:nvPr/>
        </p:nvSpPr>
        <p:spPr>
          <a:xfrm>
            <a:off x="722376" y="4700016"/>
            <a:ext cx="5202936" cy="274320"/>
          </a:xfrm>
          <a:prstGeom prst="rect">
            <a:avLst/>
          </a:prstGeom>
          <a:noFill/>
          <a:ln/>
        </p:spPr>
        <p:txBody>
          <a:bodyPr wrap="square" lIns="0" tIns="0" rIns="0" bIns="0" rtlCol="0" anchor="ctr"/>
          <a:lstStyle/>
          <a:p>
            <a:pPr marL="0" indent="0">
              <a:buNone/>
            </a:pPr>
            <a:r>
              <a:rPr lang="en-US" sz="1300" dirty="0">
                <a:solidFill>
                  <a:srgbClr val="410F37"/>
                </a:solidFill>
                <a:latin typeface="Fagun" pitchFamily="2" charset="77"/>
                <a:ea typeface="Georgia" pitchFamily="34" charset="-122"/>
                <a:cs typeface="Georgia" pitchFamily="34" charset="-120"/>
              </a:rPr>
              <a:t>4. Colombia: Forces of Inspiration</a:t>
            </a:r>
            <a:endParaRPr lang="en-US" sz="1300" dirty="0"/>
          </a:p>
        </p:txBody>
      </p:sp>
      <p:sp>
        <p:nvSpPr>
          <p:cNvPr id="29" name="Text 26"/>
          <p:cNvSpPr/>
          <p:nvPr/>
        </p:nvSpPr>
        <p:spPr>
          <a:xfrm>
            <a:off x="6291072" y="4700016"/>
            <a:ext cx="548640" cy="274320"/>
          </a:xfrm>
          <a:prstGeom prst="rect">
            <a:avLst/>
          </a:prstGeom>
          <a:noFill/>
          <a:ln/>
        </p:spPr>
        <p:txBody>
          <a:bodyPr wrap="square" lIns="0" tIns="0" rIns="0" bIns="0" rtlCol="0" anchor="ctr"/>
          <a:lstStyle/>
          <a:p>
            <a:pPr marL="0" indent="0" algn="r">
              <a:buNone/>
            </a:pPr>
            <a:r>
              <a:rPr lang="en-US" sz="1300" dirty="0">
                <a:solidFill>
                  <a:srgbClr val="E12D64"/>
                </a:solidFill>
                <a:latin typeface="Fagun" pitchFamily="2" charset="77"/>
                <a:ea typeface="Georgia" pitchFamily="34" charset="-122"/>
                <a:cs typeface="Georgia" pitchFamily="34" charset="-120"/>
              </a:rPr>
              <a:t>14</a:t>
            </a:r>
            <a:endParaRPr lang="en-US" sz="1300" dirty="0"/>
          </a:p>
        </p:txBody>
      </p:sp>
      <p:sp>
        <p:nvSpPr>
          <p:cNvPr id="30" name="Shape 27"/>
          <p:cNvSpPr/>
          <p:nvPr/>
        </p:nvSpPr>
        <p:spPr>
          <a:xfrm>
            <a:off x="722376" y="4992624"/>
            <a:ext cx="6117336" cy="0"/>
          </a:xfrm>
          <a:prstGeom prst="line">
            <a:avLst/>
          </a:prstGeom>
          <a:noFill/>
          <a:ln w="3810">
            <a:solidFill>
              <a:srgbClr val="D9CFCB"/>
            </a:solidFill>
            <a:prstDash val="solid"/>
          </a:ln>
        </p:spPr>
        <p:txBody>
          <a:bodyPr/>
          <a:lstStyle/>
          <a:p>
            <a:endParaRPr lang="en-US"/>
          </a:p>
        </p:txBody>
      </p:sp>
      <p:sp>
        <p:nvSpPr>
          <p:cNvPr id="31" name="Text 28"/>
          <p:cNvSpPr/>
          <p:nvPr/>
        </p:nvSpPr>
        <p:spPr>
          <a:xfrm>
            <a:off x="722376" y="5175504"/>
            <a:ext cx="3657600" cy="228600"/>
          </a:xfrm>
          <a:prstGeom prst="rect">
            <a:avLst/>
          </a:prstGeom>
          <a:noFill/>
          <a:ln/>
        </p:spPr>
        <p:txBody>
          <a:bodyPr wrap="square" rtlCol="0" anchor="ctr"/>
          <a:lstStyle/>
          <a:p>
            <a:pPr marL="0" indent="0">
              <a:buNone/>
            </a:pPr>
            <a:r>
              <a:rPr lang="en-US" sz="900" kern="0" spc="200" dirty="0">
                <a:solidFill>
                  <a:srgbClr val="8D7081"/>
                </a:solidFill>
                <a:latin typeface="Fagun" pitchFamily="2" charset="77"/>
                <a:ea typeface="Georgia" pitchFamily="34" charset="-122"/>
                <a:cs typeface="Georgia" pitchFamily="34" charset="-120"/>
              </a:rPr>
              <a:t>ORGANISATIONAL</a:t>
            </a:r>
            <a:endParaRPr lang="en-US" sz="900" dirty="0"/>
          </a:p>
        </p:txBody>
      </p:sp>
      <p:sp>
        <p:nvSpPr>
          <p:cNvPr id="32" name="Text 29"/>
          <p:cNvSpPr/>
          <p:nvPr/>
        </p:nvSpPr>
        <p:spPr>
          <a:xfrm>
            <a:off x="722376" y="5449824"/>
            <a:ext cx="5202936" cy="274320"/>
          </a:xfrm>
          <a:prstGeom prst="rect">
            <a:avLst/>
          </a:prstGeom>
          <a:noFill/>
          <a:ln/>
        </p:spPr>
        <p:txBody>
          <a:bodyPr wrap="square" lIns="0" tIns="0" rIns="0" bIns="0" rtlCol="0" anchor="ctr"/>
          <a:lstStyle/>
          <a:p>
            <a:pPr marL="0" indent="0">
              <a:buNone/>
            </a:pPr>
            <a:r>
              <a:rPr lang="en-US" sz="1300" dirty="0">
                <a:solidFill>
                  <a:srgbClr val="410F37"/>
                </a:solidFill>
                <a:latin typeface="Fagun" pitchFamily="2" charset="77"/>
                <a:ea typeface="Georgia" pitchFamily="34" charset="-122"/>
                <a:cs typeface="Georgia" pitchFamily="34" charset="-120"/>
              </a:rPr>
              <a:t>Financial Report</a:t>
            </a:r>
            <a:endParaRPr lang="en-US" sz="1300" dirty="0"/>
          </a:p>
        </p:txBody>
      </p:sp>
      <p:sp>
        <p:nvSpPr>
          <p:cNvPr id="33" name="Text 30"/>
          <p:cNvSpPr/>
          <p:nvPr/>
        </p:nvSpPr>
        <p:spPr>
          <a:xfrm>
            <a:off x="6291072" y="5449824"/>
            <a:ext cx="548640" cy="274320"/>
          </a:xfrm>
          <a:prstGeom prst="rect">
            <a:avLst/>
          </a:prstGeom>
          <a:noFill/>
          <a:ln/>
        </p:spPr>
        <p:txBody>
          <a:bodyPr wrap="square" lIns="0" tIns="0" rIns="0" bIns="0" rtlCol="0" anchor="ctr"/>
          <a:lstStyle/>
          <a:p>
            <a:pPr marL="0" indent="0" algn="r">
              <a:buNone/>
            </a:pPr>
            <a:r>
              <a:rPr lang="en-US" sz="1300" dirty="0">
                <a:solidFill>
                  <a:srgbClr val="E12D64"/>
                </a:solidFill>
                <a:latin typeface="Fagun" pitchFamily="2" charset="77"/>
                <a:ea typeface="Georgia" pitchFamily="34" charset="-122"/>
                <a:cs typeface="Georgia" pitchFamily="34" charset="-120"/>
              </a:rPr>
              <a:t>16</a:t>
            </a:r>
            <a:endParaRPr lang="en-US" sz="1300" dirty="0"/>
          </a:p>
        </p:txBody>
      </p:sp>
      <p:sp>
        <p:nvSpPr>
          <p:cNvPr id="34" name="Shape 31"/>
          <p:cNvSpPr/>
          <p:nvPr/>
        </p:nvSpPr>
        <p:spPr>
          <a:xfrm>
            <a:off x="722376" y="5742432"/>
            <a:ext cx="6117336" cy="0"/>
          </a:xfrm>
          <a:prstGeom prst="line">
            <a:avLst/>
          </a:prstGeom>
          <a:noFill/>
          <a:ln w="3810">
            <a:solidFill>
              <a:srgbClr val="D9CFCB"/>
            </a:solidFill>
            <a:prstDash val="solid"/>
          </a:ln>
        </p:spPr>
        <p:txBody>
          <a:bodyPr/>
          <a:lstStyle/>
          <a:p>
            <a:endParaRPr lang="en-US"/>
          </a:p>
        </p:txBody>
      </p:sp>
      <p:sp>
        <p:nvSpPr>
          <p:cNvPr id="35" name="Text 32"/>
          <p:cNvSpPr/>
          <p:nvPr/>
        </p:nvSpPr>
        <p:spPr>
          <a:xfrm>
            <a:off x="722376" y="5788152"/>
            <a:ext cx="5202936" cy="274320"/>
          </a:xfrm>
          <a:prstGeom prst="rect">
            <a:avLst/>
          </a:prstGeom>
          <a:noFill/>
          <a:ln/>
        </p:spPr>
        <p:txBody>
          <a:bodyPr wrap="square" lIns="0" tIns="0" rIns="0" bIns="0" rtlCol="0" anchor="ctr"/>
          <a:lstStyle/>
          <a:p>
            <a:pPr marL="0" indent="0">
              <a:buNone/>
            </a:pPr>
            <a:r>
              <a:rPr lang="en-US" sz="1300" dirty="0">
                <a:solidFill>
                  <a:srgbClr val="410F37"/>
                </a:solidFill>
                <a:latin typeface="Fagun" pitchFamily="2" charset="77"/>
                <a:ea typeface="Georgia" pitchFamily="34" charset="-122"/>
                <a:cs typeface="Georgia" pitchFamily="34" charset="-120"/>
              </a:rPr>
              <a:t>Our Partners</a:t>
            </a:r>
            <a:endParaRPr lang="en-US" sz="1300" dirty="0"/>
          </a:p>
        </p:txBody>
      </p:sp>
      <p:sp>
        <p:nvSpPr>
          <p:cNvPr id="36" name="Text 33"/>
          <p:cNvSpPr/>
          <p:nvPr/>
        </p:nvSpPr>
        <p:spPr>
          <a:xfrm>
            <a:off x="6291072" y="5788152"/>
            <a:ext cx="548640" cy="274320"/>
          </a:xfrm>
          <a:prstGeom prst="rect">
            <a:avLst/>
          </a:prstGeom>
          <a:noFill/>
          <a:ln/>
        </p:spPr>
        <p:txBody>
          <a:bodyPr wrap="square" lIns="0" tIns="0" rIns="0" bIns="0" rtlCol="0" anchor="ctr"/>
          <a:lstStyle/>
          <a:p>
            <a:pPr marL="0" indent="0" algn="r">
              <a:buNone/>
            </a:pPr>
            <a:r>
              <a:rPr lang="en-US" sz="1300" dirty="0">
                <a:solidFill>
                  <a:srgbClr val="E12D64"/>
                </a:solidFill>
                <a:latin typeface="Fagun" pitchFamily="2" charset="77"/>
                <a:ea typeface="Georgia" pitchFamily="34" charset="-122"/>
                <a:cs typeface="Georgia" pitchFamily="34" charset="-120"/>
              </a:rPr>
              <a:t>17</a:t>
            </a:r>
            <a:endParaRPr lang="en-US" sz="1300" dirty="0"/>
          </a:p>
        </p:txBody>
      </p:sp>
      <p:sp>
        <p:nvSpPr>
          <p:cNvPr id="37" name="Shape 34"/>
          <p:cNvSpPr/>
          <p:nvPr/>
        </p:nvSpPr>
        <p:spPr>
          <a:xfrm>
            <a:off x="722376" y="6080760"/>
            <a:ext cx="6117336" cy="0"/>
          </a:xfrm>
          <a:prstGeom prst="line">
            <a:avLst/>
          </a:prstGeom>
          <a:noFill/>
          <a:ln w="3810">
            <a:solidFill>
              <a:srgbClr val="D9CFCB"/>
            </a:solidFill>
            <a:prstDash val="solid"/>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562088" cy="109728"/>
          </a:xfrm>
          <a:prstGeom prst="rect">
            <a:avLst/>
          </a:prstGeom>
          <a:solidFill>
            <a:srgbClr val="410F37"/>
          </a:solidFill>
          <a:ln/>
        </p:spPr>
        <p:txBody>
          <a:bodyPr/>
          <a:lstStyle/>
          <a:p>
            <a:endParaRPr lang="en-US"/>
          </a:p>
        </p:txBody>
      </p:sp>
      <p:sp>
        <p:nvSpPr>
          <p:cNvPr id="3" name="Text 1"/>
          <p:cNvSpPr/>
          <p:nvPr/>
        </p:nvSpPr>
        <p:spPr>
          <a:xfrm>
            <a:off x="722376" y="320040"/>
            <a:ext cx="6117336" cy="320040"/>
          </a:xfrm>
          <a:prstGeom prst="rect">
            <a:avLst/>
          </a:prstGeom>
          <a:noFill/>
          <a:ln/>
        </p:spPr>
        <p:txBody>
          <a:bodyPr wrap="square" rtlCol="0" anchor="ctr"/>
          <a:lstStyle/>
          <a:p>
            <a:pPr marL="0" indent="0">
              <a:buNone/>
            </a:pPr>
            <a:r>
              <a:rPr lang="en-US" sz="750" dirty="0">
                <a:solidFill>
                  <a:srgbClr val="8D7081"/>
                </a:solidFill>
                <a:latin typeface="Fagun" pitchFamily="2" charset="77"/>
                <a:ea typeface="Georgia" pitchFamily="34" charset="-122"/>
                <a:cs typeface="Georgia" pitchFamily="34" charset="-120"/>
              </a:rPr>
              <a:t>Executive Director's Statement</a:t>
            </a:r>
            <a:endParaRPr lang="en-US" sz="750" dirty="0"/>
          </a:p>
        </p:txBody>
      </p:sp>
      <p:sp>
        <p:nvSpPr>
          <p:cNvPr id="4" name="Shape 2"/>
          <p:cNvSpPr/>
          <p:nvPr/>
        </p:nvSpPr>
        <p:spPr>
          <a:xfrm>
            <a:off x="722376" y="658368"/>
            <a:ext cx="6117336" cy="0"/>
          </a:xfrm>
          <a:prstGeom prst="line">
            <a:avLst/>
          </a:prstGeom>
          <a:noFill/>
          <a:ln w="6350">
            <a:solidFill>
              <a:srgbClr val="D9CFCB"/>
            </a:solidFill>
            <a:prstDash val="solid"/>
          </a:ln>
        </p:spPr>
        <p:txBody>
          <a:bodyPr/>
          <a:lstStyle/>
          <a:p>
            <a:endParaRPr lang="en-US"/>
          </a:p>
        </p:txBody>
      </p:sp>
      <p:sp>
        <p:nvSpPr>
          <p:cNvPr id="5" name="Text 3"/>
          <p:cNvSpPr/>
          <p:nvPr/>
        </p:nvSpPr>
        <p:spPr>
          <a:xfrm>
            <a:off x="722376" y="822960"/>
            <a:ext cx="4572000" cy="914400"/>
          </a:xfrm>
          <a:prstGeom prst="rect">
            <a:avLst/>
          </a:prstGeom>
          <a:noFill/>
          <a:ln/>
        </p:spPr>
        <p:txBody>
          <a:bodyPr wrap="square" rtlCol="0" anchor="ctr"/>
          <a:lstStyle/>
          <a:p>
            <a:pPr marL="0" indent="0">
              <a:lnSpc>
                <a:spcPct val="115000"/>
              </a:lnSpc>
              <a:buNone/>
            </a:pPr>
            <a:r>
              <a:rPr lang="en-US" sz="2200" dirty="0">
                <a:solidFill>
                  <a:srgbClr val="410F37"/>
                </a:solidFill>
                <a:latin typeface="Fagun" pitchFamily="2" charset="77"/>
                <a:ea typeface="Georgia" pitchFamily="34" charset="-122"/>
                <a:cs typeface="Georgia" pitchFamily="34" charset="-120"/>
              </a:rPr>
              <a:t>Executive Director's</a:t>
            </a:r>
            <a:endParaRPr lang="en-US" sz="2200" dirty="0"/>
          </a:p>
          <a:p>
            <a:pPr marL="0" indent="0">
              <a:lnSpc>
                <a:spcPct val="115000"/>
              </a:lnSpc>
              <a:buNone/>
            </a:pPr>
            <a:r>
              <a:rPr lang="en-US" sz="2200" dirty="0">
                <a:solidFill>
                  <a:srgbClr val="410F37"/>
                </a:solidFill>
                <a:latin typeface="Fagun" pitchFamily="2" charset="77"/>
                <a:ea typeface="Georgia" pitchFamily="34" charset="-122"/>
                <a:cs typeface="Georgia" pitchFamily="34" charset="-120"/>
              </a:rPr>
              <a:t>Statement</a:t>
            </a:r>
            <a:endParaRPr lang="en-US" sz="2200" dirty="0"/>
          </a:p>
        </p:txBody>
      </p:sp>
      <p:sp>
        <p:nvSpPr>
          <p:cNvPr id="8" name="Text 5"/>
          <p:cNvSpPr/>
          <p:nvPr/>
        </p:nvSpPr>
        <p:spPr>
          <a:xfrm>
            <a:off x="3008376" y="1920240"/>
            <a:ext cx="3831336" cy="1645920"/>
          </a:xfrm>
          <a:prstGeom prst="rect">
            <a:avLst/>
          </a:prstGeom>
          <a:noFill/>
          <a:ln/>
        </p:spPr>
        <p:txBody>
          <a:bodyPr wrap="square" rtlCol="0" anchor="ctr"/>
          <a:lstStyle/>
          <a:p>
            <a:pPr marL="0" indent="0">
              <a:lnSpc>
                <a:spcPct val="150000"/>
              </a:lnSpc>
              <a:buNone/>
            </a:pPr>
            <a:r>
              <a:rPr lang="en-US" sz="1150" dirty="0">
                <a:solidFill>
                  <a:srgbClr val="410F37"/>
                </a:solidFill>
                <a:latin typeface="Fagun" pitchFamily="2" charset="77"/>
                <a:ea typeface="Georgia" pitchFamily="34" charset="-122"/>
                <a:cs typeface="Georgia" pitchFamily="34" charset="-120"/>
              </a:rPr>
              <a:t>In 2025, hūmānus strengthened a simple commitment: accountability work is most credible and most durable when it is built with the communities who live the consequences of atrocity, displacement, and unlawful detention.</a:t>
            </a:r>
            <a:endParaRPr lang="en-US" sz="1150" dirty="0"/>
          </a:p>
        </p:txBody>
      </p:sp>
      <p:sp>
        <p:nvSpPr>
          <p:cNvPr id="9" name="Shape 6"/>
          <p:cNvSpPr/>
          <p:nvPr/>
        </p:nvSpPr>
        <p:spPr>
          <a:xfrm>
            <a:off x="3008376" y="3657600"/>
            <a:ext cx="1097280" cy="0"/>
          </a:xfrm>
          <a:prstGeom prst="line">
            <a:avLst/>
          </a:prstGeom>
          <a:noFill/>
          <a:ln w="19050">
            <a:solidFill>
              <a:srgbClr val="E12D64"/>
            </a:solidFill>
            <a:prstDash val="solid"/>
          </a:ln>
        </p:spPr>
        <p:txBody>
          <a:bodyPr/>
          <a:lstStyle/>
          <a:p>
            <a:endParaRPr lang="en-US"/>
          </a:p>
        </p:txBody>
      </p:sp>
      <p:sp>
        <p:nvSpPr>
          <p:cNvPr id="10" name="Text 7"/>
          <p:cNvSpPr/>
          <p:nvPr/>
        </p:nvSpPr>
        <p:spPr>
          <a:xfrm>
            <a:off x="3008376" y="3794760"/>
            <a:ext cx="3831336" cy="1828800"/>
          </a:xfrm>
          <a:prstGeom prst="rect">
            <a:avLst/>
          </a:prstGeom>
          <a:noFill/>
          <a:ln/>
        </p:spPr>
        <p:txBody>
          <a:bodyPr wrap="square" rtlCol="0" anchor="ctr"/>
          <a:lstStyle/>
          <a:p>
            <a:pPr marL="0" indent="0" algn="just">
              <a:lnSpc>
                <a:spcPct val="160000"/>
              </a:lnSpc>
              <a:buNone/>
            </a:pPr>
            <a:r>
              <a:rPr lang="en-US" sz="950" dirty="0">
                <a:solidFill>
                  <a:srgbClr val="410F37"/>
                </a:solidFill>
                <a:latin typeface="Fagun" pitchFamily="2" charset="77"/>
                <a:ea typeface="Georgia" pitchFamily="34" charset="-122"/>
                <a:cs typeface="Georgia" pitchFamily="34" charset="-120"/>
              </a:rPr>
              <a:t>Our mission is to empower victims of serious international crimes and transform accountability processes. Working alongside victim groups, we support them to get justice that matters to them. Too often, victims are not included in legal processes. We strive to amplify their voices, ensuring they are heard and respected on the global stage.</a:t>
            </a:r>
            <a:endParaRPr lang="en-US" sz="950" dirty="0"/>
          </a:p>
        </p:txBody>
      </p:sp>
      <p:sp>
        <p:nvSpPr>
          <p:cNvPr id="11" name="Text 8"/>
          <p:cNvSpPr/>
          <p:nvPr/>
        </p:nvSpPr>
        <p:spPr>
          <a:xfrm>
            <a:off x="722376" y="5852160"/>
            <a:ext cx="6117336" cy="4114800"/>
          </a:xfrm>
          <a:prstGeom prst="rect">
            <a:avLst/>
          </a:prstGeom>
          <a:noFill/>
          <a:ln/>
        </p:spPr>
        <p:txBody>
          <a:bodyPr wrap="square" rtlCol="0" anchor="ctr"/>
          <a:lstStyle/>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2025 was also the year in which we adopted our five-year strategy for 2024–29, setting the direction for hūmānus as we enter a crucial period of growth. The strategy is organised around three goals that guide everything we do. First, that victims of serious international crimes secure outcomes in line with their own conception of justice. Second, that victims are empowered by the process of pursuing justice—not just by its results. And third, that justice processes in the wake of international crimes are transformed in order to centralise victims. Each of the programmes described in this report is designed to advance one or more of these objectives.</a:t>
            </a:r>
            <a:endParaRPr lang="en-US" sz="1000" dirty="0"/>
          </a:p>
          <a:p>
            <a:pPr marL="0" indent="0" algn="just">
              <a:lnSpc>
                <a:spcPct val="160000"/>
              </a:lnSpc>
              <a:buNone/>
            </a:pPr>
            <a:endParaRPr lang="en-US" sz="1000" dirty="0"/>
          </a:p>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In 2025, that mission found expression across three geographies and four distinct lines of work. Across our Rohingya programming, we supported community-led documentation and dialogue that connected lived experience to legal strategy, while protecting participants in an increasingly constrained operating environment.</a:t>
            </a:r>
            <a:endParaRPr lang="en-US" sz="1000" dirty="0"/>
          </a:p>
        </p:txBody>
      </p:sp>
      <p:sp>
        <p:nvSpPr>
          <p:cNvPr id="12" name="Text 9"/>
          <p:cNvSpPr/>
          <p:nvPr/>
        </p:nvSpPr>
        <p:spPr>
          <a:xfrm>
            <a:off x="722376" y="10186416"/>
            <a:ext cx="1828800" cy="274320"/>
          </a:xfrm>
          <a:prstGeom prst="rect">
            <a:avLst/>
          </a:prstGeom>
          <a:noFill/>
          <a:ln/>
        </p:spPr>
        <p:txBody>
          <a:bodyPr wrap="square" rtlCol="0" anchor="ctr"/>
          <a:lstStyle/>
          <a:p>
            <a:pPr marL="0" indent="0">
              <a:buNone/>
            </a:pPr>
            <a:r>
              <a:rPr lang="en-US" sz="800" dirty="0">
                <a:solidFill>
                  <a:srgbClr val="410F37">
                    <a:alpha val="30000"/>
                  </a:srgbClr>
                </a:solidFill>
                <a:latin typeface="Fagun" pitchFamily="2" charset="77"/>
                <a:ea typeface="Georgia" pitchFamily="34" charset="-122"/>
                <a:cs typeface="Georgia" pitchFamily="34" charset="-120"/>
              </a:rPr>
              <a:t>hūmānus</a:t>
            </a:r>
            <a:endParaRPr lang="en-US" sz="800" dirty="0"/>
          </a:p>
        </p:txBody>
      </p:sp>
      <p:sp>
        <p:nvSpPr>
          <p:cNvPr id="13" name="Text 10"/>
          <p:cNvSpPr/>
          <p:nvPr/>
        </p:nvSpPr>
        <p:spPr>
          <a:xfrm>
            <a:off x="5925312" y="10186416"/>
            <a:ext cx="914400" cy="274320"/>
          </a:xfrm>
          <a:prstGeom prst="rect">
            <a:avLst/>
          </a:prstGeom>
          <a:noFill/>
          <a:ln/>
        </p:spPr>
        <p:txBody>
          <a:bodyPr wrap="square" rtlCol="0" anchor="ctr"/>
          <a:lstStyle/>
          <a:p>
            <a:pPr marL="0" indent="0" algn="r">
              <a:buNone/>
            </a:pPr>
            <a:r>
              <a:rPr lang="en-US" sz="800" dirty="0">
                <a:solidFill>
                  <a:srgbClr val="E12D64"/>
                </a:solidFill>
                <a:latin typeface="Fagun" pitchFamily="2" charset="77"/>
                <a:ea typeface="Georgia" pitchFamily="34" charset="-122"/>
                <a:cs typeface="Georgia" pitchFamily="34" charset="-120"/>
              </a:rPr>
              <a:t>4</a:t>
            </a:r>
            <a:endParaRPr lang="en-US" sz="800" dirty="0"/>
          </a:p>
        </p:txBody>
      </p:sp>
      <p:pic>
        <p:nvPicPr>
          <p:cNvPr id="17" name="Picture 16" descr="A person in a blue suit&#10;&#10;AI-generated content may be incorrect.">
            <a:extLst>
              <a:ext uri="{FF2B5EF4-FFF2-40B4-BE49-F238E27FC236}">
                <a16:creationId xmlns:a16="http://schemas.microsoft.com/office/drawing/2014/main" id="{EF84EB31-60C9-88EA-2EFE-0CB7963F8826}"/>
              </a:ext>
            </a:extLst>
          </p:cNvPr>
          <p:cNvPicPr>
            <a:picLocks noChangeAspect="1"/>
          </p:cNvPicPr>
          <p:nvPr/>
        </p:nvPicPr>
        <p:blipFill>
          <a:blip r:embed="rId3"/>
          <a:srcRect l="21927" r="40775" b="459"/>
          <a:stretch>
            <a:fillRect/>
          </a:stretch>
        </p:blipFill>
        <p:spPr>
          <a:xfrm>
            <a:off x="722376" y="2094596"/>
            <a:ext cx="2111853" cy="375755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562088" cy="109728"/>
          </a:xfrm>
          <a:prstGeom prst="rect">
            <a:avLst/>
          </a:prstGeom>
          <a:solidFill>
            <a:srgbClr val="410F37"/>
          </a:solidFill>
          <a:ln/>
        </p:spPr>
        <p:txBody>
          <a:bodyPr/>
          <a:lstStyle/>
          <a:p>
            <a:endParaRPr lang="en-US"/>
          </a:p>
        </p:txBody>
      </p:sp>
      <p:sp>
        <p:nvSpPr>
          <p:cNvPr id="3" name="Text 1"/>
          <p:cNvSpPr/>
          <p:nvPr/>
        </p:nvSpPr>
        <p:spPr>
          <a:xfrm>
            <a:off x="722376" y="320040"/>
            <a:ext cx="6117336" cy="320040"/>
          </a:xfrm>
          <a:prstGeom prst="rect">
            <a:avLst/>
          </a:prstGeom>
          <a:noFill/>
          <a:ln/>
        </p:spPr>
        <p:txBody>
          <a:bodyPr wrap="square" rtlCol="0" anchor="ctr"/>
          <a:lstStyle/>
          <a:p>
            <a:pPr marL="0" indent="0">
              <a:buNone/>
            </a:pPr>
            <a:r>
              <a:rPr lang="en-US" sz="750" dirty="0">
                <a:solidFill>
                  <a:srgbClr val="8D7081"/>
                </a:solidFill>
                <a:latin typeface="Fagun" pitchFamily="2" charset="77"/>
                <a:ea typeface="Georgia" pitchFamily="34" charset="-122"/>
                <a:cs typeface="Georgia" pitchFamily="34" charset="-120"/>
              </a:rPr>
              <a:t>Executive Director's Statement</a:t>
            </a:r>
            <a:endParaRPr lang="en-US" sz="750" dirty="0"/>
          </a:p>
        </p:txBody>
      </p:sp>
      <p:sp>
        <p:nvSpPr>
          <p:cNvPr id="4" name="Shape 2"/>
          <p:cNvSpPr/>
          <p:nvPr/>
        </p:nvSpPr>
        <p:spPr>
          <a:xfrm>
            <a:off x="722376" y="658368"/>
            <a:ext cx="6117336" cy="0"/>
          </a:xfrm>
          <a:prstGeom prst="line">
            <a:avLst/>
          </a:prstGeom>
          <a:noFill/>
          <a:ln w="6350">
            <a:solidFill>
              <a:srgbClr val="D9CFCB"/>
            </a:solidFill>
            <a:prstDash val="solid"/>
          </a:ln>
        </p:spPr>
        <p:txBody>
          <a:bodyPr/>
          <a:lstStyle/>
          <a:p>
            <a:endParaRPr lang="en-US"/>
          </a:p>
        </p:txBody>
      </p:sp>
      <p:sp>
        <p:nvSpPr>
          <p:cNvPr id="5" name="Text 3"/>
          <p:cNvSpPr/>
          <p:nvPr/>
        </p:nvSpPr>
        <p:spPr>
          <a:xfrm>
            <a:off x="722376" y="822960"/>
            <a:ext cx="6117336" cy="4114800"/>
          </a:xfrm>
          <a:prstGeom prst="rect">
            <a:avLst/>
          </a:prstGeom>
          <a:noFill/>
          <a:ln/>
        </p:spPr>
        <p:txBody>
          <a:bodyPr wrap="square" rtlCol="0" anchor="ctr"/>
          <a:lstStyle/>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Our dialogue work created sustained channels for communication and analysis, including weekly workshops and inter-ethnic engagement that helped participants interpret political dynamics and prepare for international advocacy moments, including the United Nations High-level Conference on the Situation of Rohingya Muslims and Other Minorities in Myanmar in September 2025 in New York.</a:t>
            </a:r>
            <a:endParaRPr lang="en-US" sz="1000" dirty="0"/>
          </a:p>
          <a:p>
            <a:pPr marL="0" indent="0" algn="just">
              <a:lnSpc>
                <a:spcPct val="160000"/>
              </a:lnSpc>
              <a:buNone/>
            </a:pPr>
            <a:endParaRPr lang="en-US" sz="1000" dirty="0"/>
          </a:p>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Alongside this, we continued to build practical tools that convert information into action. In India, our detention-tracking work expanded into a living database used to support bail and legal advocacy for Rohingya detainees, while also capturing the scale and patterns of detention and deportation across multiple states.</a:t>
            </a:r>
            <a:endParaRPr lang="en-US" sz="1000" dirty="0"/>
          </a:p>
          <a:p>
            <a:pPr marL="0" indent="0" algn="just">
              <a:lnSpc>
                <a:spcPct val="160000"/>
              </a:lnSpc>
              <a:buNone/>
            </a:pPr>
            <a:endParaRPr lang="en-US" sz="1000" dirty="0"/>
          </a:p>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In Somalia, our work pursued answers, acknowledgment, and remedy. In 2025 we received written determinations from AFRICOM across three civilian harm cases we supported, including findings that recognised civilian harm, even as significant gaps remained in delivery of payments and meaningful redress.</a:t>
            </a:r>
            <a:endParaRPr lang="en-US" sz="1000" dirty="0"/>
          </a:p>
        </p:txBody>
      </p:sp>
      <p:sp>
        <p:nvSpPr>
          <p:cNvPr id="6" name="Shape 4"/>
          <p:cNvSpPr/>
          <p:nvPr/>
        </p:nvSpPr>
        <p:spPr>
          <a:xfrm>
            <a:off x="722376" y="5029200"/>
            <a:ext cx="6117336" cy="1645920"/>
          </a:xfrm>
          <a:prstGeom prst="rect">
            <a:avLst/>
          </a:prstGeom>
          <a:solidFill>
            <a:srgbClr val="410F37"/>
          </a:solidFill>
          <a:ln/>
        </p:spPr>
        <p:txBody>
          <a:bodyPr/>
          <a:lstStyle/>
          <a:p>
            <a:endParaRPr lang="en-US"/>
          </a:p>
        </p:txBody>
      </p:sp>
      <p:sp>
        <p:nvSpPr>
          <p:cNvPr id="7" name="Text 5"/>
          <p:cNvSpPr/>
          <p:nvPr/>
        </p:nvSpPr>
        <p:spPr>
          <a:xfrm>
            <a:off x="859536" y="4892040"/>
            <a:ext cx="457200" cy="640080"/>
          </a:xfrm>
          <a:prstGeom prst="rect">
            <a:avLst/>
          </a:prstGeom>
          <a:noFill/>
          <a:ln/>
        </p:spPr>
        <p:txBody>
          <a:bodyPr wrap="square" rtlCol="0" anchor="ctr"/>
          <a:lstStyle/>
          <a:p>
            <a:pPr marL="0" indent="0">
              <a:buNone/>
            </a:pPr>
            <a:r>
              <a:rPr lang="en-US" sz="6000" dirty="0">
                <a:solidFill>
                  <a:srgbClr val="E12D64">
                    <a:alpha val="30000"/>
                  </a:srgbClr>
                </a:solidFill>
                <a:latin typeface="Fagun" pitchFamily="2" charset="77"/>
                <a:ea typeface="Georgia" pitchFamily="34" charset="-122"/>
                <a:cs typeface="Georgia" pitchFamily="34" charset="-120"/>
              </a:rPr>
              <a:t>“</a:t>
            </a:r>
            <a:endParaRPr lang="en-US" sz="6000" dirty="0"/>
          </a:p>
        </p:txBody>
      </p:sp>
      <p:sp>
        <p:nvSpPr>
          <p:cNvPr id="8" name="Text 6"/>
          <p:cNvSpPr/>
          <p:nvPr/>
        </p:nvSpPr>
        <p:spPr>
          <a:xfrm>
            <a:off x="1088136" y="5212080"/>
            <a:ext cx="5385816" cy="914400"/>
          </a:xfrm>
          <a:prstGeom prst="rect">
            <a:avLst/>
          </a:prstGeom>
          <a:noFill/>
          <a:ln/>
        </p:spPr>
        <p:txBody>
          <a:bodyPr wrap="square" rtlCol="0" anchor="ctr"/>
          <a:lstStyle/>
          <a:p>
            <a:pPr marL="0" indent="0">
              <a:lnSpc>
                <a:spcPct val="140000"/>
              </a:lnSpc>
              <a:buNone/>
            </a:pPr>
            <a:r>
              <a:rPr lang="en-US" sz="1400" dirty="0">
                <a:solidFill>
                  <a:srgbClr val="96FF14"/>
                </a:solidFill>
                <a:latin typeface="Fagun" pitchFamily="2" charset="77"/>
                <a:ea typeface="Georgia" pitchFamily="34" charset="-122"/>
                <a:cs typeface="Georgia" pitchFamily="34" charset="-120"/>
              </a:rPr>
              <a:t>Accountability must be built with affected communities, not about them, and it must be made tangible through evidence, advocacy, and practical pathways to remedy.</a:t>
            </a:r>
            <a:endParaRPr lang="en-US" sz="1400" dirty="0"/>
          </a:p>
        </p:txBody>
      </p:sp>
      <p:sp>
        <p:nvSpPr>
          <p:cNvPr id="9" name="Text 7"/>
          <p:cNvSpPr/>
          <p:nvPr/>
        </p:nvSpPr>
        <p:spPr>
          <a:xfrm>
            <a:off x="1088136" y="6172200"/>
            <a:ext cx="3657600" cy="274320"/>
          </a:xfrm>
          <a:prstGeom prst="rect">
            <a:avLst/>
          </a:prstGeom>
          <a:noFill/>
          <a:ln/>
        </p:spPr>
        <p:txBody>
          <a:bodyPr wrap="square" rtlCol="0" anchor="ctr"/>
          <a:lstStyle/>
          <a:p>
            <a:pPr marL="0" indent="0">
              <a:buNone/>
            </a:pPr>
            <a:r>
              <a:rPr lang="en-US" sz="900" dirty="0">
                <a:solidFill>
                  <a:srgbClr val="E12D64"/>
                </a:solidFill>
                <a:latin typeface="Fagun" pitchFamily="2" charset="77"/>
                <a:ea typeface="Georgia" pitchFamily="34" charset="-122"/>
                <a:cs typeface="Georgia" pitchFamily="34" charset="-120"/>
              </a:rPr>
              <a:t>— Eva Buzo, Founder &amp; Executive Director</a:t>
            </a:r>
            <a:endParaRPr lang="en-US" sz="900" dirty="0"/>
          </a:p>
        </p:txBody>
      </p:sp>
      <p:sp>
        <p:nvSpPr>
          <p:cNvPr id="10" name="Text 8"/>
          <p:cNvSpPr/>
          <p:nvPr/>
        </p:nvSpPr>
        <p:spPr>
          <a:xfrm>
            <a:off x="722376" y="6949440"/>
            <a:ext cx="6117336" cy="1828800"/>
          </a:xfrm>
          <a:prstGeom prst="rect">
            <a:avLst/>
          </a:prstGeom>
          <a:noFill/>
          <a:ln/>
        </p:spPr>
        <p:txBody>
          <a:bodyPr wrap="square" rtlCol="0" anchor="ctr"/>
          <a:lstStyle/>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I was honoured to speak at the American Society of International Law conference in a panel debate on international accountability and also had the opportunity to address a side event on the Youth of Myanmar on behalf of our client Maung Sawyeddollah.</a:t>
            </a:r>
            <a:endParaRPr lang="en-US" sz="1000" dirty="0"/>
          </a:p>
          <a:p>
            <a:pPr marL="0" indent="0" algn="just">
              <a:lnSpc>
                <a:spcPct val="160000"/>
              </a:lnSpc>
              <a:buNone/>
            </a:pPr>
            <a:endParaRPr lang="en-US" sz="1000" dirty="0"/>
          </a:p>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We closed the year by bringing our team together for a retreat in Bangalore, India—a chance to connect, reflect on the year's work, and sharpen our shared direction.</a:t>
            </a:r>
            <a:endParaRPr lang="en-US" sz="1000" dirty="0"/>
          </a:p>
        </p:txBody>
      </p:sp>
      <p:sp>
        <p:nvSpPr>
          <p:cNvPr id="11" name="Text 9"/>
          <p:cNvSpPr/>
          <p:nvPr/>
        </p:nvSpPr>
        <p:spPr>
          <a:xfrm>
            <a:off x="722376" y="9326880"/>
            <a:ext cx="2743200" cy="274320"/>
          </a:xfrm>
          <a:prstGeom prst="rect">
            <a:avLst/>
          </a:prstGeom>
          <a:noFill/>
          <a:ln/>
        </p:spPr>
        <p:txBody>
          <a:bodyPr wrap="square" rtlCol="0" anchor="ctr"/>
          <a:lstStyle/>
          <a:p>
            <a:pPr marL="0" indent="0">
              <a:buNone/>
            </a:pPr>
            <a:r>
              <a:rPr lang="en-US" sz="1100" dirty="0">
                <a:solidFill>
                  <a:srgbClr val="410F37"/>
                </a:solidFill>
                <a:latin typeface="Fagun" pitchFamily="2" charset="77"/>
                <a:ea typeface="Georgia" pitchFamily="34" charset="-122"/>
                <a:cs typeface="Georgia" pitchFamily="34" charset="-120"/>
              </a:rPr>
              <a:t>Eva Buzo</a:t>
            </a:r>
            <a:endParaRPr lang="en-US" sz="1100" dirty="0"/>
          </a:p>
        </p:txBody>
      </p:sp>
      <p:sp>
        <p:nvSpPr>
          <p:cNvPr id="12" name="Text 10"/>
          <p:cNvSpPr/>
          <p:nvPr/>
        </p:nvSpPr>
        <p:spPr>
          <a:xfrm>
            <a:off x="722376" y="9601200"/>
            <a:ext cx="2743200" cy="228600"/>
          </a:xfrm>
          <a:prstGeom prst="rect">
            <a:avLst/>
          </a:prstGeom>
          <a:noFill/>
          <a:ln/>
        </p:spPr>
        <p:txBody>
          <a:bodyPr wrap="square" rtlCol="0" anchor="ctr"/>
          <a:lstStyle/>
          <a:p>
            <a:pPr marL="0" indent="0">
              <a:buNone/>
            </a:pPr>
            <a:r>
              <a:rPr lang="en-US" sz="900" dirty="0">
                <a:solidFill>
                  <a:srgbClr val="8D7081"/>
                </a:solidFill>
                <a:latin typeface="Fagun" pitchFamily="2" charset="77"/>
                <a:ea typeface="Georgia" pitchFamily="34" charset="-122"/>
                <a:cs typeface="Georgia" pitchFamily="34" charset="-120"/>
              </a:rPr>
              <a:t>Founder &amp; Executive Director</a:t>
            </a:r>
            <a:endParaRPr lang="en-US" sz="900" dirty="0"/>
          </a:p>
        </p:txBody>
      </p:sp>
      <p:sp>
        <p:nvSpPr>
          <p:cNvPr id="13" name="Text 11"/>
          <p:cNvSpPr/>
          <p:nvPr/>
        </p:nvSpPr>
        <p:spPr>
          <a:xfrm>
            <a:off x="722376" y="10186416"/>
            <a:ext cx="1828800" cy="274320"/>
          </a:xfrm>
          <a:prstGeom prst="rect">
            <a:avLst/>
          </a:prstGeom>
          <a:noFill/>
          <a:ln/>
        </p:spPr>
        <p:txBody>
          <a:bodyPr wrap="square" rtlCol="0" anchor="ctr"/>
          <a:lstStyle/>
          <a:p>
            <a:pPr marL="0" indent="0">
              <a:buNone/>
            </a:pPr>
            <a:r>
              <a:rPr lang="en-US" sz="800" dirty="0">
                <a:solidFill>
                  <a:srgbClr val="410F37">
                    <a:alpha val="30000"/>
                  </a:srgbClr>
                </a:solidFill>
                <a:latin typeface="Fagun" pitchFamily="2" charset="77"/>
                <a:ea typeface="Georgia" pitchFamily="34" charset="-122"/>
                <a:cs typeface="Georgia" pitchFamily="34" charset="-120"/>
              </a:rPr>
              <a:t>hūmānus</a:t>
            </a:r>
            <a:endParaRPr lang="en-US" sz="800" dirty="0"/>
          </a:p>
        </p:txBody>
      </p:sp>
      <p:sp>
        <p:nvSpPr>
          <p:cNvPr id="14" name="Text 12"/>
          <p:cNvSpPr/>
          <p:nvPr/>
        </p:nvSpPr>
        <p:spPr>
          <a:xfrm>
            <a:off x="5925312" y="10186416"/>
            <a:ext cx="914400" cy="274320"/>
          </a:xfrm>
          <a:prstGeom prst="rect">
            <a:avLst/>
          </a:prstGeom>
          <a:noFill/>
          <a:ln/>
        </p:spPr>
        <p:txBody>
          <a:bodyPr wrap="square" rtlCol="0" anchor="ctr"/>
          <a:lstStyle/>
          <a:p>
            <a:pPr marL="0" indent="0" algn="r">
              <a:buNone/>
            </a:pPr>
            <a:r>
              <a:rPr lang="en-US" sz="800" dirty="0">
                <a:solidFill>
                  <a:srgbClr val="E12D64"/>
                </a:solidFill>
                <a:latin typeface="Fagun" pitchFamily="2" charset="77"/>
                <a:ea typeface="Georgia" pitchFamily="34" charset="-122"/>
                <a:cs typeface="Georgia"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562088" cy="109728"/>
          </a:xfrm>
          <a:prstGeom prst="rect">
            <a:avLst/>
          </a:prstGeom>
          <a:solidFill>
            <a:srgbClr val="410F37"/>
          </a:solidFill>
          <a:ln/>
        </p:spPr>
        <p:txBody>
          <a:bodyPr/>
          <a:lstStyle/>
          <a:p>
            <a:endParaRPr lang="en-US"/>
          </a:p>
        </p:txBody>
      </p:sp>
      <p:sp>
        <p:nvSpPr>
          <p:cNvPr id="3" name="Text 1"/>
          <p:cNvSpPr/>
          <p:nvPr/>
        </p:nvSpPr>
        <p:spPr>
          <a:xfrm>
            <a:off x="0" y="2286000"/>
            <a:ext cx="7562088" cy="274320"/>
          </a:xfrm>
          <a:prstGeom prst="rect">
            <a:avLst/>
          </a:prstGeom>
          <a:noFill/>
          <a:ln/>
        </p:spPr>
        <p:txBody>
          <a:bodyPr wrap="square" rtlCol="0" anchor="ctr"/>
          <a:lstStyle/>
          <a:p>
            <a:pPr marL="0" indent="0" algn="ctr">
              <a:buNone/>
            </a:pPr>
            <a:r>
              <a:rPr lang="en-US" sz="900" kern="0" spc="300" dirty="0">
                <a:solidFill>
                  <a:srgbClr val="8D7081"/>
                </a:solidFill>
                <a:latin typeface="Fagun" pitchFamily="2" charset="77"/>
                <a:ea typeface="Georgia" pitchFamily="34" charset="-122"/>
                <a:cs typeface="Georgia" pitchFamily="34" charset="-120"/>
              </a:rPr>
              <a:t>OUR 2024–29 STRATEGY</a:t>
            </a:r>
            <a:endParaRPr lang="en-US" sz="900" dirty="0"/>
          </a:p>
        </p:txBody>
      </p:sp>
      <p:sp>
        <p:nvSpPr>
          <p:cNvPr id="4" name="Text 2"/>
          <p:cNvSpPr/>
          <p:nvPr/>
        </p:nvSpPr>
        <p:spPr>
          <a:xfrm>
            <a:off x="0" y="2743200"/>
            <a:ext cx="7562088" cy="457200"/>
          </a:xfrm>
          <a:prstGeom prst="rect">
            <a:avLst/>
          </a:prstGeom>
          <a:noFill/>
          <a:ln/>
        </p:spPr>
        <p:txBody>
          <a:bodyPr wrap="square" rtlCol="0" anchor="ctr"/>
          <a:lstStyle/>
          <a:p>
            <a:pPr marL="0" indent="0" algn="ctr">
              <a:buNone/>
            </a:pPr>
            <a:r>
              <a:rPr lang="en-US" sz="1600" dirty="0">
                <a:solidFill>
                  <a:srgbClr val="410F37"/>
                </a:solidFill>
                <a:latin typeface="Fagun" pitchFamily="2" charset="77"/>
                <a:ea typeface="Georgia" pitchFamily="34" charset="-122"/>
                <a:cs typeface="Georgia" pitchFamily="34" charset="-120"/>
              </a:rPr>
              <a:t>Three goals guide everything we do</a:t>
            </a:r>
            <a:endParaRPr lang="en-US" sz="1600" dirty="0"/>
          </a:p>
        </p:txBody>
      </p:sp>
      <p:sp>
        <p:nvSpPr>
          <p:cNvPr id="5" name="Shape 3"/>
          <p:cNvSpPr/>
          <p:nvPr/>
        </p:nvSpPr>
        <p:spPr>
          <a:xfrm>
            <a:off x="722376" y="3657600"/>
            <a:ext cx="1947672" cy="2011680"/>
          </a:xfrm>
          <a:prstGeom prst="rect">
            <a:avLst/>
          </a:prstGeom>
          <a:solidFill>
            <a:srgbClr val="410F37"/>
          </a:solidFill>
          <a:ln/>
        </p:spPr>
        <p:txBody>
          <a:bodyPr/>
          <a:lstStyle/>
          <a:p>
            <a:endParaRPr lang="en-US"/>
          </a:p>
        </p:txBody>
      </p:sp>
      <p:sp>
        <p:nvSpPr>
          <p:cNvPr id="6" name="Text 4"/>
          <p:cNvSpPr/>
          <p:nvPr/>
        </p:nvSpPr>
        <p:spPr>
          <a:xfrm>
            <a:off x="905256" y="3749040"/>
            <a:ext cx="914400" cy="640080"/>
          </a:xfrm>
          <a:prstGeom prst="rect">
            <a:avLst/>
          </a:prstGeom>
          <a:noFill/>
          <a:ln/>
        </p:spPr>
        <p:txBody>
          <a:bodyPr wrap="square" rtlCol="0" anchor="ctr"/>
          <a:lstStyle/>
          <a:p>
            <a:pPr marL="0" indent="0">
              <a:buNone/>
            </a:pPr>
            <a:r>
              <a:rPr lang="en-US" sz="2800" dirty="0">
                <a:solidFill>
                  <a:srgbClr val="96FF14"/>
                </a:solidFill>
                <a:latin typeface="Fagun" pitchFamily="2" charset="77"/>
                <a:ea typeface="Georgia" pitchFamily="34" charset="-122"/>
                <a:cs typeface="Georgia" pitchFamily="34" charset="-120"/>
              </a:rPr>
              <a:t>1</a:t>
            </a:r>
            <a:endParaRPr lang="en-US" sz="2800" dirty="0"/>
          </a:p>
        </p:txBody>
      </p:sp>
      <p:sp>
        <p:nvSpPr>
          <p:cNvPr id="7" name="Text 5"/>
          <p:cNvSpPr/>
          <p:nvPr/>
        </p:nvSpPr>
        <p:spPr>
          <a:xfrm>
            <a:off x="905256" y="4389120"/>
            <a:ext cx="1581912" cy="1097280"/>
          </a:xfrm>
          <a:prstGeom prst="rect">
            <a:avLst/>
          </a:prstGeom>
          <a:noFill/>
          <a:ln/>
        </p:spPr>
        <p:txBody>
          <a:bodyPr wrap="square" rtlCol="0" anchor="ctr"/>
          <a:lstStyle/>
          <a:p>
            <a:pPr marL="0" indent="0">
              <a:lnSpc>
                <a:spcPct val="150000"/>
              </a:lnSpc>
              <a:buNone/>
            </a:pPr>
            <a:r>
              <a:rPr lang="en-US" sz="900" dirty="0">
                <a:solidFill>
                  <a:srgbClr val="FFFFFF"/>
                </a:solidFill>
                <a:latin typeface="Fagun" pitchFamily="2" charset="77"/>
                <a:ea typeface="Georgia" pitchFamily="34" charset="-122"/>
                <a:cs typeface="Georgia" pitchFamily="34" charset="-120"/>
              </a:rPr>
              <a:t>Victims of serious international crimes secure outcomes in line with their own conception of justice.</a:t>
            </a:r>
            <a:endParaRPr lang="en-US" sz="900" dirty="0"/>
          </a:p>
        </p:txBody>
      </p:sp>
      <p:sp>
        <p:nvSpPr>
          <p:cNvPr id="8" name="Shape 6"/>
          <p:cNvSpPr/>
          <p:nvPr/>
        </p:nvSpPr>
        <p:spPr>
          <a:xfrm>
            <a:off x="2807208" y="3657600"/>
            <a:ext cx="1947672" cy="2011680"/>
          </a:xfrm>
          <a:prstGeom prst="rect">
            <a:avLst/>
          </a:prstGeom>
          <a:solidFill>
            <a:srgbClr val="410F37"/>
          </a:solidFill>
          <a:ln/>
        </p:spPr>
        <p:txBody>
          <a:bodyPr/>
          <a:lstStyle/>
          <a:p>
            <a:endParaRPr lang="en-US"/>
          </a:p>
        </p:txBody>
      </p:sp>
      <p:sp>
        <p:nvSpPr>
          <p:cNvPr id="9" name="Text 7"/>
          <p:cNvSpPr/>
          <p:nvPr/>
        </p:nvSpPr>
        <p:spPr>
          <a:xfrm>
            <a:off x="2990088" y="3749040"/>
            <a:ext cx="914400" cy="640080"/>
          </a:xfrm>
          <a:prstGeom prst="rect">
            <a:avLst/>
          </a:prstGeom>
          <a:noFill/>
          <a:ln/>
        </p:spPr>
        <p:txBody>
          <a:bodyPr wrap="square" rtlCol="0" anchor="ctr"/>
          <a:lstStyle/>
          <a:p>
            <a:pPr marL="0" indent="0">
              <a:buNone/>
            </a:pPr>
            <a:r>
              <a:rPr lang="en-US" sz="2800" dirty="0">
                <a:solidFill>
                  <a:srgbClr val="96FF14"/>
                </a:solidFill>
                <a:latin typeface="Fagun" pitchFamily="2" charset="77"/>
                <a:ea typeface="Georgia" pitchFamily="34" charset="-122"/>
                <a:cs typeface="Georgia" pitchFamily="34" charset="-120"/>
              </a:rPr>
              <a:t>2</a:t>
            </a:r>
            <a:endParaRPr lang="en-US" sz="2800" dirty="0"/>
          </a:p>
        </p:txBody>
      </p:sp>
      <p:sp>
        <p:nvSpPr>
          <p:cNvPr id="10" name="Text 8"/>
          <p:cNvSpPr/>
          <p:nvPr/>
        </p:nvSpPr>
        <p:spPr>
          <a:xfrm>
            <a:off x="2990088" y="4389120"/>
            <a:ext cx="1581912" cy="1097280"/>
          </a:xfrm>
          <a:prstGeom prst="rect">
            <a:avLst/>
          </a:prstGeom>
          <a:noFill/>
          <a:ln/>
        </p:spPr>
        <p:txBody>
          <a:bodyPr wrap="square" rtlCol="0" anchor="ctr"/>
          <a:lstStyle/>
          <a:p>
            <a:pPr marL="0" indent="0">
              <a:lnSpc>
                <a:spcPct val="150000"/>
              </a:lnSpc>
              <a:buNone/>
            </a:pPr>
            <a:r>
              <a:rPr lang="en-US" sz="900" dirty="0">
                <a:solidFill>
                  <a:srgbClr val="FFFFFF"/>
                </a:solidFill>
                <a:latin typeface="Fagun" pitchFamily="2" charset="77"/>
                <a:ea typeface="Georgia" pitchFamily="34" charset="-122"/>
                <a:cs typeface="Georgia" pitchFamily="34" charset="-120"/>
              </a:rPr>
              <a:t>Victims are empowered by the process of pursuing justice—not just by its results.</a:t>
            </a:r>
            <a:endParaRPr lang="en-US" sz="900" dirty="0"/>
          </a:p>
        </p:txBody>
      </p:sp>
      <p:sp>
        <p:nvSpPr>
          <p:cNvPr id="11" name="Shape 9"/>
          <p:cNvSpPr/>
          <p:nvPr/>
        </p:nvSpPr>
        <p:spPr>
          <a:xfrm>
            <a:off x="4892040" y="3657600"/>
            <a:ext cx="1947672" cy="2011680"/>
          </a:xfrm>
          <a:prstGeom prst="rect">
            <a:avLst/>
          </a:prstGeom>
          <a:solidFill>
            <a:srgbClr val="410F37"/>
          </a:solidFill>
          <a:ln/>
        </p:spPr>
        <p:txBody>
          <a:bodyPr/>
          <a:lstStyle/>
          <a:p>
            <a:endParaRPr lang="en-US"/>
          </a:p>
        </p:txBody>
      </p:sp>
      <p:sp>
        <p:nvSpPr>
          <p:cNvPr id="12" name="Text 10"/>
          <p:cNvSpPr/>
          <p:nvPr/>
        </p:nvSpPr>
        <p:spPr>
          <a:xfrm>
            <a:off x="5074920" y="3749040"/>
            <a:ext cx="914400" cy="640080"/>
          </a:xfrm>
          <a:prstGeom prst="rect">
            <a:avLst/>
          </a:prstGeom>
          <a:noFill/>
          <a:ln/>
        </p:spPr>
        <p:txBody>
          <a:bodyPr wrap="square" rtlCol="0" anchor="ctr"/>
          <a:lstStyle/>
          <a:p>
            <a:pPr marL="0" indent="0">
              <a:buNone/>
            </a:pPr>
            <a:r>
              <a:rPr lang="en-US" sz="2800" dirty="0">
                <a:solidFill>
                  <a:srgbClr val="96FF14"/>
                </a:solidFill>
                <a:latin typeface="Fagun" pitchFamily="2" charset="77"/>
                <a:ea typeface="Georgia" pitchFamily="34" charset="-122"/>
                <a:cs typeface="Georgia" pitchFamily="34" charset="-120"/>
              </a:rPr>
              <a:t>3</a:t>
            </a:r>
            <a:endParaRPr lang="en-US" sz="2800" dirty="0"/>
          </a:p>
        </p:txBody>
      </p:sp>
      <p:sp>
        <p:nvSpPr>
          <p:cNvPr id="13" name="Text 11"/>
          <p:cNvSpPr/>
          <p:nvPr/>
        </p:nvSpPr>
        <p:spPr>
          <a:xfrm>
            <a:off x="5074920" y="4389120"/>
            <a:ext cx="1581912" cy="1097280"/>
          </a:xfrm>
          <a:prstGeom prst="rect">
            <a:avLst/>
          </a:prstGeom>
          <a:noFill/>
          <a:ln/>
        </p:spPr>
        <p:txBody>
          <a:bodyPr wrap="square" rtlCol="0" anchor="ctr"/>
          <a:lstStyle/>
          <a:p>
            <a:pPr marL="0" indent="0">
              <a:lnSpc>
                <a:spcPct val="150000"/>
              </a:lnSpc>
              <a:buNone/>
            </a:pPr>
            <a:r>
              <a:rPr lang="en-US" sz="900" dirty="0">
                <a:solidFill>
                  <a:srgbClr val="FFFFFF"/>
                </a:solidFill>
                <a:latin typeface="Fagun" pitchFamily="2" charset="77"/>
                <a:ea typeface="Georgia" pitchFamily="34" charset="-122"/>
                <a:cs typeface="Georgia" pitchFamily="34" charset="-120"/>
              </a:rPr>
              <a:t>Justice processes in the wake of international crimes are transformed to centralise victims.</a:t>
            </a:r>
            <a:endParaRPr lang="en-US" sz="900" dirty="0"/>
          </a:p>
        </p:txBody>
      </p:sp>
      <p:sp>
        <p:nvSpPr>
          <p:cNvPr id="14" name="Text 12"/>
          <p:cNvSpPr/>
          <p:nvPr/>
        </p:nvSpPr>
        <p:spPr>
          <a:xfrm>
            <a:off x="722376" y="10186416"/>
            <a:ext cx="1828800" cy="274320"/>
          </a:xfrm>
          <a:prstGeom prst="rect">
            <a:avLst/>
          </a:prstGeom>
          <a:noFill/>
          <a:ln/>
        </p:spPr>
        <p:txBody>
          <a:bodyPr wrap="square" rtlCol="0" anchor="ctr"/>
          <a:lstStyle/>
          <a:p>
            <a:pPr marL="0" indent="0">
              <a:buNone/>
            </a:pPr>
            <a:r>
              <a:rPr lang="en-US" sz="800" dirty="0">
                <a:solidFill>
                  <a:srgbClr val="410F37">
                    <a:alpha val="30000"/>
                  </a:srgbClr>
                </a:solidFill>
                <a:latin typeface="Fagun" pitchFamily="2" charset="77"/>
                <a:ea typeface="Georgia" pitchFamily="34" charset="-122"/>
                <a:cs typeface="Georgia" pitchFamily="34" charset="-120"/>
              </a:rPr>
              <a:t>hūmānus</a:t>
            </a:r>
            <a:endParaRPr lang="en-US" sz="800" dirty="0"/>
          </a:p>
        </p:txBody>
      </p:sp>
      <p:sp>
        <p:nvSpPr>
          <p:cNvPr id="15" name="Text 13"/>
          <p:cNvSpPr/>
          <p:nvPr/>
        </p:nvSpPr>
        <p:spPr>
          <a:xfrm>
            <a:off x="5925312" y="10186416"/>
            <a:ext cx="914400" cy="274320"/>
          </a:xfrm>
          <a:prstGeom prst="rect">
            <a:avLst/>
          </a:prstGeom>
          <a:noFill/>
          <a:ln/>
        </p:spPr>
        <p:txBody>
          <a:bodyPr wrap="square" rtlCol="0" anchor="ctr"/>
          <a:lstStyle/>
          <a:p>
            <a:pPr marL="0" indent="0" algn="r">
              <a:buNone/>
            </a:pPr>
            <a:r>
              <a:rPr lang="en-US" sz="800" dirty="0">
                <a:solidFill>
                  <a:srgbClr val="E12D64"/>
                </a:solidFill>
                <a:latin typeface="Fagun" pitchFamily="2" charset="77"/>
                <a:ea typeface="Georgia" pitchFamily="34" charset="-122"/>
                <a:cs typeface="Georgia"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410F3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1000"/>
          </a:blip>
          <a:stretch>
            <a:fillRect/>
          </a:stretch>
        </p:blipFill>
        <p:spPr>
          <a:xfrm>
            <a:off x="0" y="0"/>
            <a:ext cx="7562088" cy="10689336"/>
          </a:xfrm>
          <a:prstGeom prst="rect">
            <a:avLst/>
          </a:prstGeom>
        </p:spPr>
      </p:pic>
      <p:sp>
        <p:nvSpPr>
          <p:cNvPr id="3" name="Text 0"/>
          <p:cNvSpPr/>
          <p:nvPr/>
        </p:nvSpPr>
        <p:spPr>
          <a:xfrm>
            <a:off x="722376" y="2743200"/>
            <a:ext cx="1828800" cy="2286000"/>
          </a:xfrm>
          <a:prstGeom prst="rect">
            <a:avLst/>
          </a:prstGeom>
          <a:noFill/>
          <a:ln/>
        </p:spPr>
        <p:txBody>
          <a:bodyPr wrap="square" rtlCol="0" anchor="ctr"/>
          <a:lstStyle/>
          <a:p>
            <a:pPr marL="0" indent="0">
              <a:buNone/>
            </a:pPr>
            <a:r>
              <a:rPr lang="en-US" sz="12000" dirty="0">
                <a:solidFill>
                  <a:srgbClr val="96FF14">
                    <a:alpha val="30000"/>
                  </a:srgbClr>
                </a:solidFill>
                <a:latin typeface="Fagun" pitchFamily="2" charset="77"/>
                <a:ea typeface="Georgia" pitchFamily="34" charset="-122"/>
                <a:cs typeface="Georgia" pitchFamily="34" charset="-120"/>
              </a:rPr>
              <a:t>1</a:t>
            </a:r>
            <a:endParaRPr lang="en-US" sz="12000" dirty="0"/>
          </a:p>
        </p:txBody>
      </p:sp>
      <p:sp>
        <p:nvSpPr>
          <p:cNvPr id="4" name="Text 1"/>
          <p:cNvSpPr/>
          <p:nvPr/>
        </p:nvSpPr>
        <p:spPr>
          <a:xfrm>
            <a:off x="722376" y="6858000"/>
            <a:ext cx="6117336" cy="1371600"/>
          </a:xfrm>
          <a:prstGeom prst="rect">
            <a:avLst/>
          </a:prstGeom>
          <a:noFill/>
          <a:ln/>
        </p:spPr>
        <p:txBody>
          <a:bodyPr wrap="square" rtlCol="0" anchor="ctr"/>
          <a:lstStyle/>
          <a:p>
            <a:pPr marL="0" indent="0">
              <a:lnSpc>
                <a:spcPct val="110000"/>
              </a:lnSpc>
              <a:buNone/>
            </a:pPr>
            <a:r>
              <a:rPr lang="en-US" sz="3200" dirty="0">
                <a:solidFill>
                  <a:srgbClr val="96FF14"/>
                </a:solidFill>
                <a:latin typeface="Fagun" pitchFamily="2" charset="77"/>
                <a:ea typeface="Georgia" pitchFamily="34" charset="-122"/>
                <a:cs typeface="Georgia" pitchFamily="34" charset="-120"/>
              </a:rPr>
              <a:t>Rohingya in</a:t>
            </a:r>
            <a:endParaRPr lang="en-US" sz="3200" dirty="0"/>
          </a:p>
          <a:p>
            <a:pPr marL="0" indent="0">
              <a:lnSpc>
                <a:spcPct val="110000"/>
              </a:lnSpc>
              <a:buNone/>
            </a:pPr>
            <a:r>
              <a:rPr lang="en-US" sz="3200" dirty="0">
                <a:solidFill>
                  <a:srgbClr val="96FF14"/>
                </a:solidFill>
                <a:latin typeface="Fagun" pitchFamily="2" charset="77"/>
                <a:ea typeface="Georgia" pitchFamily="34" charset="-122"/>
                <a:cs typeface="Georgia" pitchFamily="34" charset="-120"/>
              </a:rPr>
              <a:t>Bangladesh</a:t>
            </a:r>
            <a:endParaRPr lang="en-US" sz="3200" dirty="0"/>
          </a:p>
        </p:txBody>
      </p:sp>
      <p:sp>
        <p:nvSpPr>
          <p:cNvPr id="5" name="Text 2"/>
          <p:cNvSpPr/>
          <p:nvPr/>
        </p:nvSpPr>
        <p:spPr>
          <a:xfrm>
            <a:off x="722376" y="8229600"/>
            <a:ext cx="6117336" cy="731520"/>
          </a:xfrm>
          <a:prstGeom prst="rect">
            <a:avLst/>
          </a:prstGeom>
          <a:noFill/>
          <a:ln/>
        </p:spPr>
        <p:txBody>
          <a:bodyPr wrap="square" rtlCol="0" anchor="ctr"/>
          <a:lstStyle/>
          <a:p>
            <a:pPr marL="0" indent="0">
              <a:lnSpc>
                <a:spcPct val="140000"/>
              </a:lnSpc>
              <a:buNone/>
            </a:pPr>
            <a:r>
              <a:rPr lang="en-US" sz="1400" dirty="0">
                <a:solidFill>
                  <a:srgbClr val="FFFFFF">
                    <a:alpha val="75000"/>
                  </a:srgbClr>
                </a:solidFill>
                <a:latin typeface="Fagun" pitchFamily="2" charset="77"/>
                <a:ea typeface="Georgia" pitchFamily="34" charset="-122"/>
                <a:cs typeface="Georgia" pitchFamily="34" charset="-120"/>
              </a:rPr>
              <a:t>Preserving evidence, sustaining dialogue, pursuing corporate accountability</a:t>
            </a:r>
            <a:endParaRPr lang="en-US" sz="1400" dirty="0"/>
          </a:p>
        </p:txBody>
      </p:sp>
      <p:sp>
        <p:nvSpPr>
          <p:cNvPr id="6" name="Text 3"/>
          <p:cNvSpPr/>
          <p:nvPr/>
        </p:nvSpPr>
        <p:spPr>
          <a:xfrm>
            <a:off x="722376" y="10186416"/>
            <a:ext cx="1828800" cy="274320"/>
          </a:xfrm>
          <a:prstGeom prst="rect">
            <a:avLst/>
          </a:prstGeom>
          <a:noFill/>
          <a:ln/>
        </p:spPr>
        <p:txBody>
          <a:bodyPr wrap="square" rtlCol="0" anchor="ctr"/>
          <a:lstStyle/>
          <a:p>
            <a:pPr marL="0" indent="0">
              <a:buNone/>
            </a:pPr>
            <a:r>
              <a:rPr lang="en-US" sz="800" dirty="0">
                <a:solidFill>
                  <a:srgbClr val="96FF14">
                    <a:alpha val="30000"/>
                  </a:srgbClr>
                </a:solidFill>
                <a:latin typeface="Fagun" pitchFamily="2" charset="77"/>
                <a:ea typeface="Georgia" pitchFamily="34" charset="-122"/>
                <a:cs typeface="Georgia" pitchFamily="34" charset="-120"/>
              </a:rPr>
              <a:t>hūmānus</a:t>
            </a:r>
            <a:endParaRPr lang="en-US" sz="800" dirty="0"/>
          </a:p>
        </p:txBody>
      </p:sp>
      <p:sp>
        <p:nvSpPr>
          <p:cNvPr id="7" name="Text 4"/>
          <p:cNvSpPr/>
          <p:nvPr/>
        </p:nvSpPr>
        <p:spPr>
          <a:xfrm>
            <a:off x="5925312" y="10186416"/>
            <a:ext cx="914400" cy="274320"/>
          </a:xfrm>
          <a:prstGeom prst="rect">
            <a:avLst/>
          </a:prstGeom>
          <a:noFill/>
          <a:ln/>
        </p:spPr>
        <p:txBody>
          <a:bodyPr wrap="square" rtlCol="0" anchor="ctr"/>
          <a:lstStyle/>
          <a:p>
            <a:pPr marL="0" indent="0" algn="r">
              <a:buNone/>
            </a:pPr>
            <a:r>
              <a:rPr lang="en-US" sz="800" dirty="0">
                <a:solidFill>
                  <a:srgbClr val="FFFFFF">
                    <a:alpha val="60000"/>
                  </a:srgbClr>
                </a:solidFill>
                <a:latin typeface="Fagun" pitchFamily="2" charset="77"/>
                <a:ea typeface="Georgia" pitchFamily="34" charset="-122"/>
                <a:cs typeface="Georgia"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562088" cy="109728"/>
          </a:xfrm>
          <a:prstGeom prst="rect">
            <a:avLst/>
          </a:prstGeom>
          <a:solidFill>
            <a:srgbClr val="410F37"/>
          </a:solidFill>
          <a:ln/>
        </p:spPr>
        <p:txBody>
          <a:bodyPr/>
          <a:lstStyle/>
          <a:p>
            <a:endParaRPr lang="en-US"/>
          </a:p>
        </p:txBody>
      </p:sp>
      <p:sp>
        <p:nvSpPr>
          <p:cNvPr id="3" name="Text 1"/>
          <p:cNvSpPr/>
          <p:nvPr/>
        </p:nvSpPr>
        <p:spPr>
          <a:xfrm>
            <a:off x="722376" y="320040"/>
            <a:ext cx="6117336" cy="320040"/>
          </a:xfrm>
          <a:prstGeom prst="rect">
            <a:avLst/>
          </a:prstGeom>
          <a:noFill/>
          <a:ln/>
        </p:spPr>
        <p:txBody>
          <a:bodyPr wrap="square" rtlCol="0" anchor="ctr"/>
          <a:lstStyle/>
          <a:p>
            <a:pPr marL="0" indent="0">
              <a:buNone/>
            </a:pPr>
            <a:r>
              <a:rPr lang="en-US" sz="750" dirty="0">
                <a:solidFill>
                  <a:srgbClr val="8D7081"/>
                </a:solidFill>
                <a:latin typeface="Fagun" pitchFamily="2" charset="77"/>
                <a:ea typeface="Georgia" pitchFamily="34" charset="-122"/>
                <a:cs typeface="Georgia" pitchFamily="34" charset="-120"/>
              </a:rPr>
              <a:t>1. Rohingya in Bangladesh</a:t>
            </a:r>
            <a:endParaRPr lang="en-US" sz="750" dirty="0"/>
          </a:p>
        </p:txBody>
      </p:sp>
      <p:sp>
        <p:nvSpPr>
          <p:cNvPr id="4" name="Shape 2"/>
          <p:cNvSpPr/>
          <p:nvPr/>
        </p:nvSpPr>
        <p:spPr>
          <a:xfrm>
            <a:off x="722376" y="658368"/>
            <a:ext cx="6117336" cy="0"/>
          </a:xfrm>
          <a:prstGeom prst="line">
            <a:avLst/>
          </a:prstGeom>
          <a:noFill/>
          <a:ln w="6350">
            <a:solidFill>
              <a:srgbClr val="D9CFCB"/>
            </a:solidFill>
            <a:prstDash val="solid"/>
          </a:ln>
        </p:spPr>
        <p:txBody>
          <a:bodyPr/>
          <a:lstStyle/>
          <a:p>
            <a:endParaRPr lang="en-US"/>
          </a:p>
        </p:txBody>
      </p:sp>
      <p:sp>
        <p:nvSpPr>
          <p:cNvPr id="5" name="Text 3"/>
          <p:cNvSpPr/>
          <p:nvPr/>
        </p:nvSpPr>
        <p:spPr>
          <a:xfrm>
            <a:off x="722376" y="822960"/>
            <a:ext cx="6117336" cy="365760"/>
          </a:xfrm>
          <a:prstGeom prst="rect">
            <a:avLst/>
          </a:prstGeom>
          <a:noFill/>
          <a:ln/>
        </p:spPr>
        <p:txBody>
          <a:bodyPr wrap="square" rtlCol="0" anchor="ctr"/>
          <a:lstStyle/>
          <a:p>
            <a:pPr marL="0" indent="0">
              <a:buNone/>
            </a:pPr>
            <a:r>
              <a:rPr lang="en-US" sz="1400" dirty="0">
                <a:solidFill>
                  <a:srgbClr val="410F37"/>
                </a:solidFill>
                <a:latin typeface="Fagun" pitchFamily="2" charset="77"/>
                <a:ea typeface="Georgia" pitchFamily="34" charset="-122"/>
                <a:cs typeface="Georgia" pitchFamily="34" charset="-120"/>
              </a:rPr>
              <a:t>Rohingya Atrocities Archive</a:t>
            </a:r>
            <a:endParaRPr lang="en-US" sz="1400" dirty="0"/>
          </a:p>
        </p:txBody>
      </p:sp>
      <p:sp>
        <p:nvSpPr>
          <p:cNvPr id="6" name="Text 4"/>
          <p:cNvSpPr/>
          <p:nvPr/>
        </p:nvSpPr>
        <p:spPr>
          <a:xfrm>
            <a:off x="722376" y="1280160"/>
            <a:ext cx="6117336" cy="3200400"/>
          </a:xfrm>
          <a:prstGeom prst="rect">
            <a:avLst/>
          </a:prstGeom>
          <a:noFill/>
          <a:ln/>
        </p:spPr>
        <p:txBody>
          <a:bodyPr wrap="square" rtlCol="0" anchor="ctr"/>
          <a:lstStyle/>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The Rohingya Atrocities Archive (RAA) is a digital archive initiative designed to preserve and organise evidence of international crimes committed against Rohingya communities, and to strengthen access to structured information for accountability efforts. The RAA is the product of hūmānus' long-term partnership with the Arakan Rohingya Society for Peace and Human Rights (ARSPH), the organisation founded by Mohib Ullah, the Rohingya leader who was assassinated in 2021. The archive represents the first time that Mohib Ullah's documentation work has been made public.</a:t>
            </a:r>
            <a:endParaRPr lang="en-US" sz="1000" dirty="0"/>
          </a:p>
          <a:p>
            <a:pPr marL="0" indent="0" algn="just">
              <a:lnSpc>
                <a:spcPct val="160000"/>
              </a:lnSpc>
              <a:buNone/>
            </a:pPr>
            <a:endParaRPr lang="en-US" sz="1000" dirty="0"/>
          </a:p>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Evidence deteriorates, disappears, and is contested. The RAA exists to ensure that Rohingya survivors and community-led documentation are not treated as "inputs," but as enduring records that can support legal strategy, advocacy, and historical truth-telling.</a:t>
            </a:r>
            <a:endParaRPr lang="en-US" sz="1000" dirty="0"/>
          </a:p>
        </p:txBody>
      </p:sp>
      <p:sp>
        <p:nvSpPr>
          <p:cNvPr id="7" name="Shape 5"/>
          <p:cNvSpPr/>
          <p:nvPr/>
        </p:nvSpPr>
        <p:spPr>
          <a:xfrm>
            <a:off x="722376" y="4572000"/>
            <a:ext cx="109728" cy="1097280"/>
          </a:xfrm>
          <a:prstGeom prst="rect">
            <a:avLst/>
          </a:prstGeom>
          <a:solidFill>
            <a:srgbClr val="E12D64"/>
          </a:solidFill>
          <a:ln/>
        </p:spPr>
        <p:txBody>
          <a:bodyPr/>
          <a:lstStyle/>
          <a:p>
            <a:endParaRPr lang="en-US"/>
          </a:p>
        </p:txBody>
      </p:sp>
      <p:sp>
        <p:nvSpPr>
          <p:cNvPr id="8" name="Shape 6"/>
          <p:cNvSpPr/>
          <p:nvPr/>
        </p:nvSpPr>
        <p:spPr>
          <a:xfrm>
            <a:off x="832104" y="4572000"/>
            <a:ext cx="6007608" cy="1097280"/>
          </a:xfrm>
          <a:prstGeom prst="rect">
            <a:avLst/>
          </a:prstGeom>
          <a:solidFill>
            <a:srgbClr val="F9D6E0"/>
          </a:solidFill>
          <a:ln/>
        </p:spPr>
        <p:txBody>
          <a:bodyPr/>
          <a:lstStyle/>
          <a:p>
            <a:endParaRPr lang="en-US"/>
          </a:p>
        </p:txBody>
      </p:sp>
      <p:sp>
        <p:nvSpPr>
          <p:cNvPr id="9" name="Text 7"/>
          <p:cNvSpPr/>
          <p:nvPr/>
        </p:nvSpPr>
        <p:spPr>
          <a:xfrm>
            <a:off x="1042416" y="4617720"/>
            <a:ext cx="2743200" cy="274320"/>
          </a:xfrm>
          <a:prstGeom prst="rect">
            <a:avLst/>
          </a:prstGeom>
          <a:noFill/>
          <a:ln/>
        </p:spPr>
        <p:txBody>
          <a:bodyPr wrap="square" rtlCol="0" anchor="ctr"/>
          <a:lstStyle/>
          <a:p>
            <a:pPr marL="0" indent="0">
              <a:buNone/>
            </a:pPr>
            <a:r>
              <a:rPr lang="en-US" sz="1000" dirty="0">
                <a:solidFill>
                  <a:srgbClr val="E12D64"/>
                </a:solidFill>
                <a:latin typeface="Fagun" pitchFamily="2" charset="77"/>
                <a:ea typeface="Georgia" pitchFamily="34" charset="-122"/>
                <a:cs typeface="Georgia" pitchFamily="34" charset="-120"/>
              </a:rPr>
              <a:t>Why this matters</a:t>
            </a:r>
            <a:endParaRPr lang="en-US" sz="1000" dirty="0"/>
          </a:p>
        </p:txBody>
      </p:sp>
      <p:sp>
        <p:nvSpPr>
          <p:cNvPr id="10" name="Text 8"/>
          <p:cNvSpPr/>
          <p:nvPr/>
        </p:nvSpPr>
        <p:spPr>
          <a:xfrm>
            <a:off x="1042416" y="4892040"/>
            <a:ext cx="5477256" cy="731520"/>
          </a:xfrm>
          <a:prstGeom prst="rect">
            <a:avLst/>
          </a:prstGeom>
          <a:noFill/>
          <a:ln/>
        </p:spPr>
        <p:txBody>
          <a:bodyPr wrap="square" rtlCol="0" anchor="ctr"/>
          <a:lstStyle/>
          <a:p>
            <a:pPr marL="0" indent="0">
              <a:lnSpc>
                <a:spcPct val="150000"/>
              </a:lnSpc>
              <a:buNone/>
            </a:pPr>
            <a:r>
              <a:rPr lang="en-US" sz="950" dirty="0">
                <a:solidFill>
                  <a:srgbClr val="410F37"/>
                </a:solidFill>
                <a:latin typeface="Fagun" pitchFamily="2" charset="77"/>
                <a:ea typeface="Georgia" pitchFamily="34" charset="-122"/>
                <a:cs typeface="Georgia" pitchFamily="34" charset="-120"/>
              </a:rPr>
              <a:t>Accountability processes depend on credible, structured evidence. The RAA ensures that documentation produced and preserved by Rohingya communities retains its integrity, remains accessible, and can be deployed in legal and advocacy settings for years to come.</a:t>
            </a:r>
            <a:endParaRPr lang="en-US" sz="950" dirty="0"/>
          </a:p>
        </p:txBody>
      </p:sp>
      <p:sp>
        <p:nvSpPr>
          <p:cNvPr id="11" name="Text 9"/>
          <p:cNvSpPr/>
          <p:nvPr/>
        </p:nvSpPr>
        <p:spPr>
          <a:xfrm>
            <a:off x="722376" y="5852160"/>
            <a:ext cx="6117336" cy="1828800"/>
          </a:xfrm>
          <a:prstGeom prst="rect">
            <a:avLst/>
          </a:prstGeom>
          <a:noFill/>
          <a:ln/>
        </p:spPr>
        <p:txBody>
          <a:bodyPr wrap="square" rtlCol="0" anchor="ctr"/>
          <a:lstStyle/>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In 2025, we continued development of the digital archive, including work to create a machine-readable platform that supports advanced searching and structured use of data. We advanced work on AI-supported classification and search tooling. Public-facing engagement included exhibitions and launch events in Ontario, Canada and London, England that helped translate evidence preservation into wider awareness and support, alongside strategic outreach to media, decision-makers and stakeholders.</a:t>
            </a:r>
            <a:endParaRPr lang="en-US" sz="1000" dirty="0"/>
          </a:p>
        </p:txBody>
      </p:sp>
      <p:sp>
        <p:nvSpPr>
          <p:cNvPr id="12" name="Text 10"/>
          <p:cNvSpPr/>
          <p:nvPr/>
        </p:nvSpPr>
        <p:spPr>
          <a:xfrm>
            <a:off x="722376" y="10186416"/>
            <a:ext cx="1828800" cy="274320"/>
          </a:xfrm>
          <a:prstGeom prst="rect">
            <a:avLst/>
          </a:prstGeom>
          <a:noFill/>
          <a:ln/>
        </p:spPr>
        <p:txBody>
          <a:bodyPr wrap="square" rtlCol="0" anchor="ctr"/>
          <a:lstStyle/>
          <a:p>
            <a:pPr marL="0" indent="0">
              <a:buNone/>
            </a:pPr>
            <a:r>
              <a:rPr lang="en-US" sz="800" dirty="0">
                <a:solidFill>
                  <a:srgbClr val="410F37">
                    <a:alpha val="30000"/>
                  </a:srgbClr>
                </a:solidFill>
                <a:latin typeface="Fagun" pitchFamily="2" charset="77"/>
                <a:ea typeface="Georgia" pitchFamily="34" charset="-122"/>
                <a:cs typeface="Georgia" pitchFamily="34" charset="-120"/>
              </a:rPr>
              <a:t>hūmānus</a:t>
            </a:r>
            <a:endParaRPr lang="en-US" sz="800" dirty="0"/>
          </a:p>
        </p:txBody>
      </p:sp>
      <p:sp>
        <p:nvSpPr>
          <p:cNvPr id="13" name="Text 11"/>
          <p:cNvSpPr/>
          <p:nvPr/>
        </p:nvSpPr>
        <p:spPr>
          <a:xfrm>
            <a:off x="5925312" y="10186416"/>
            <a:ext cx="914400" cy="274320"/>
          </a:xfrm>
          <a:prstGeom prst="rect">
            <a:avLst/>
          </a:prstGeom>
          <a:noFill/>
          <a:ln/>
        </p:spPr>
        <p:txBody>
          <a:bodyPr wrap="square" rtlCol="0" anchor="ctr"/>
          <a:lstStyle/>
          <a:p>
            <a:pPr marL="0" indent="0" algn="r">
              <a:buNone/>
            </a:pPr>
            <a:r>
              <a:rPr lang="en-US" sz="800" dirty="0">
                <a:solidFill>
                  <a:srgbClr val="E12D64"/>
                </a:solidFill>
                <a:latin typeface="Fagun" pitchFamily="2" charset="77"/>
                <a:ea typeface="Georgia" pitchFamily="34" charset="-122"/>
                <a:cs typeface="Georgia"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562088" cy="109728"/>
          </a:xfrm>
          <a:prstGeom prst="rect">
            <a:avLst/>
          </a:prstGeom>
          <a:solidFill>
            <a:srgbClr val="410F37"/>
          </a:solidFill>
          <a:ln/>
        </p:spPr>
        <p:txBody>
          <a:bodyPr/>
          <a:lstStyle/>
          <a:p>
            <a:endParaRPr lang="en-US"/>
          </a:p>
        </p:txBody>
      </p:sp>
      <p:sp>
        <p:nvSpPr>
          <p:cNvPr id="3" name="Text 1"/>
          <p:cNvSpPr/>
          <p:nvPr/>
        </p:nvSpPr>
        <p:spPr>
          <a:xfrm>
            <a:off x="722376" y="320040"/>
            <a:ext cx="6117336" cy="320040"/>
          </a:xfrm>
          <a:prstGeom prst="rect">
            <a:avLst/>
          </a:prstGeom>
          <a:noFill/>
          <a:ln/>
        </p:spPr>
        <p:txBody>
          <a:bodyPr wrap="square" rtlCol="0" anchor="ctr"/>
          <a:lstStyle/>
          <a:p>
            <a:pPr marL="0" indent="0">
              <a:buNone/>
            </a:pPr>
            <a:r>
              <a:rPr lang="en-US" sz="750" dirty="0">
                <a:solidFill>
                  <a:srgbClr val="8D7081"/>
                </a:solidFill>
                <a:latin typeface="Fagun" pitchFamily="2" charset="77"/>
                <a:ea typeface="Georgia" pitchFamily="34" charset="-122"/>
                <a:cs typeface="Georgia" pitchFamily="34" charset="-120"/>
              </a:rPr>
              <a:t>1. Rohingya in Bangladesh</a:t>
            </a:r>
            <a:endParaRPr lang="en-US" sz="750" dirty="0"/>
          </a:p>
        </p:txBody>
      </p:sp>
      <p:sp>
        <p:nvSpPr>
          <p:cNvPr id="4" name="Shape 2"/>
          <p:cNvSpPr/>
          <p:nvPr/>
        </p:nvSpPr>
        <p:spPr>
          <a:xfrm>
            <a:off x="722376" y="658368"/>
            <a:ext cx="6117336" cy="0"/>
          </a:xfrm>
          <a:prstGeom prst="line">
            <a:avLst/>
          </a:prstGeom>
          <a:noFill/>
          <a:ln w="6350">
            <a:solidFill>
              <a:srgbClr val="D9CFCB"/>
            </a:solidFill>
            <a:prstDash val="solid"/>
          </a:ln>
        </p:spPr>
        <p:txBody>
          <a:bodyPr/>
          <a:lstStyle/>
          <a:p>
            <a:endParaRPr lang="en-US"/>
          </a:p>
        </p:txBody>
      </p:sp>
      <p:sp>
        <p:nvSpPr>
          <p:cNvPr id="5" name="Text 3"/>
          <p:cNvSpPr/>
          <p:nvPr/>
        </p:nvSpPr>
        <p:spPr>
          <a:xfrm>
            <a:off x="722376" y="822960"/>
            <a:ext cx="6117336" cy="365760"/>
          </a:xfrm>
          <a:prstGeom prst="rect">
            <a:avLst/>
          </a:prstGeom>
          <a:noFill/>
          <a:ln/>
        </p:spPr>
        <p:txBody>
          <a:bodyPr wrap="square" rtlCol="0" anchor="ctr"/>
          <a:lstStyle/>
          <a:p>
            <a:pPr marL="0" indent="0">
              <a:buNone/>
            </a:pPr>
            <a:r>
              <a:rPr lang="en-US" sz="1400" dirty="0">
                <a:solidFill>
                  <a:srgbClr val="410F37"/>
                </a:solidFill>
                <a:latin typeface="Fagun" pitchFamily="2" charset="77"/>
                <a:ea typeface="Georgia" pitchFamily="34" charset="-122"/>
                <a:cs typeface="Georgia" pitchFamily="34" charset="-120"/>
              </a:rPr>
              <a:t>Dialogue &amp; Leadership</a:t>
            </a:r>
            <a:endParaRPr lang="en-US" sz="1400" dirty="0"/>
          </a:p>
        </p:txBody>
      </p:sp>
      <p:sp>
        <p:nvSpPr>
          <p:cNvPr id="6" name="Text 4"/>
          <p:cNvSpPr/>
          <p:nvPr/>
        </p:nvSpPr>
        <p:spPr>
          <a:xfrm>
            <a:off x="722376" y="1280159"/>
            <a:ext cx="6117336" cy="4013519"/>
          </a:xfrm>
          <a:prstGeom prst="rect">
            <a:avLst/>
          </a:prstGeom>
          <a:noFill/>
          <a:ln/>
        </p:spPr>
        <p:txBody>
          <a:bodyPr wrap="square" rtlCol="0" anchor="ctr"/>
          <a:lstStyle/>
          <a:p>
            <a:r>
              <a:rPr lang="en-AU" sz="1000" dirty="0">
                <a:solidFill>
                  <a:srgbClr val="410F37"/>
                </a:solidFill>
                <a:latin typeface="Fagun" pitchFamily="2" charset="77"/>
              </a:rPr>
              <a:t>In partnership with the Stimson Centre, </a:t>
            </a:r>
            <a:r>
              <a:rPr lang="en-AU" sz="1000" dirty="0" err="1">
                <a:solidFill>
                  <a:srgbClr val="410F37"/>
                </a:solidFill>
                <a:latin typeface="Fagun" pitchFamily="2" charset="77"/>
              </a:rPr>
              <a:t>hūmānus</a:t>
            </a:r>
            <a:r>
              <a:rPr lang="en-AU" sz="1000" dirty="0">
                <a:solidFill>
                  <a:srgbClr val="410F37"/>
                </a:solidFill>
                <a:latin typeface="Fagun" pitchFamily="2" charset="77"/>
              </a:rPr>
              <a:t> continued our work with Rohingya leadership on dialogue and engagement. At the centre of this work are the wishes of our clients: there can be no accountability if we are not allowed to return home. Activities during the reporting period included weekly workshops that strengthened leadership confidence, with explicit focus on representation, participation, and rights-based advocacy. We facilitated inter-ethnic dialogue between Rohingya women and Rakhine women, and supported separate engagement between Bangladeshi officials and ULA personnel. </a:t>
            </a:r>
          </a:p>
          <a:p>
            <a:r>
              <a:rPr lang="en-AU" sz="1000" dirty="0">
                <a:solidFill>
                  <a:srgbClr val="410F37"/>
                </a:solidFill>
                <a:latin typeface="Fagun" pitchFamily="2" charset="77"/>
              </a:rPr>
              <a:t>Our dialogue model contributes “ground-truth” inputs that help external stakeholders, including state actors, better understand community priorities and the risks and realities of representation. This is anchored in sustained dialogue channels and real-time analysis rather than one-off consultation. The weekly rhythm of engagement means that the perspectives shared with decision-makers are current, tested in discussion, and reflective of genuine community deliberation rather than extracted talking points.</a:t>
            </a:r>
          </a:p>
          <a:p>
            <a:r>
              <a:rPr lang="en-AU" sz="1000" dirty="0">
                <a:solidFill>
                  <a:srgbClr val="410F37"/>
                </a:solidFill>
                <a:latin typeface="Fagun" pitchFamily="2" charset="77"/>
              </a:rPr>
              <a:t>In the lead-up to the High-Level Conference on Rohingya Muslims and other Ethnic Minorities, </a:t>
            </a:r>
            <a:r>
              <a:rPr lang="en-AU" sz="1000" dirty="0" err="1">
                <a:solidFill>
                  <a:srgbClr val="410F37"/>
                </a:solidFill>
                <a:latin typeface="Fagun" pitchFamily="2" charset="77"/>
              </a:rPr>
              <a:t>hūmānus</a:t>
            </a:r>
            <a:r>
              <a:rPr lang="en-AU" sz="1000" dirty="0">
                <a:solidFill>
                  <a:srgbClr val="410F37"/>
                </a:solidFill>
                <a:latin typeface="Fagun" pitchFamily="2" charset="77"/>
              </a:rPr>
              <a:t> played a pivotal role in the setting of the terms of reference including having our proposed language on social cohesion adopted for the modalities resolution. To this end we closely engaged with Member States, including our Executive Director being asked by the Canadian Permanent Representative to the United Nations to address the United Nations Informal Working Group on Myanmar on strategies to stabilise Rakhine State. Throughout the year we worked closely with the High Representative for the Rohingya crisis and at the request of Bangladeshi officials led stakeholder consultations to feed into the strategy for the High-Level Conference.</a:t>
            </a:r>
          </a:p>
          <a:p>
            <a:pPr marL="0" indent="0" algn="just">
              <a:lnSpc>
                <a:spcPct val="160000"/>
              </a:lnSpc>
              <a:buNone/>
            </a:pPr>
            <a:endParaRPr lang="en-US" sz="1000" dirty="0"/>
          </a:p>
        </p:txBody>
      </p:sp>
      <p:sp>
        <p:nvSpPr>
          <p:cNvPr id="10" name="Text 8"/>
          <p:cNvSpPr/>
          <p:nvPr/>
        </p:nvSpPr>
        <p:spPr>
          <a:xfrm>
            <a:off x="722376" y="5394960"/>
            <a:ext cx="6117336" cy="365760"/>
          </a:xfrm>
          <a:prstGeom prst="rect">
            <a:avLst/>
          </a:prstGeom>
          <a:noFill/>
          <a:ln/>
        </p:spPr>
        <p:txBody>
          <a:bodyPr wrap="square" rtlCol="0" anchor="ctr"/>
          <a:lstStyle/>
          <a:p>
            <a:pPr marL="0" indent="0">
              <a:buNone/>
            </a:pPr>
            <a:r>
              <a:rPr lang="en-US" sz="1400" dirty="0">
                <a:solidFill>
                  <a:srgbClr val="410F37"/>
                </a:solidFill>
                <a:latin typeface="Fagun" pitchFamily="2" charset="77"/>
                <a:ea typeface="Georgia" pitchFamily="34" charset="-122"/>
                <a:cs typeface="Georgia" pitchFamily="34" charset="-120"/>
              </a:rPr>
              <a:t>Meta Accountability</a:t>
            </a:r>
            <a:endParaRPr lang="en-US" sz="1400" dirty="0"/>
          </a:p>
        </p:txBody>
      </p:sp>
      <p:sp>
        <p:nvSpPr>
          <p:cNvPr id="11" name="Text 9"/>
          <p:cNvSpPr/>
          <p:nvPr/>
        </p:nvSpPr>
        <p:spPr>
          <a:xfrm>
            <a:off x="722376" y="5806440"/>
            <a:ext cx="6117336" cy="3200400"/>
          </a:xfrm>
          <a:prstGeom prst="rect">
            <a:avLst/>
          </a:prstGeom>
          <a:noFill/>
          <a:ln/>
        </p:spPr>
        <p:txBody>
          <a:bodyPr wrap="square" rtlCol="0" anchor="ctr"/>
          <a:lstStyle/>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Our work seeking accountability against Meta Inc. advanced significantly in 2025. In Ireland, we filed statements of claim, and civil proceedings continue on behalf of our sixteen plaintiffs. We also pursued accountability through the Securities and Exchange Commission, working alongside Open Society Justice Initiative and Amnesty International. We undertook an advocacy trip to Washington, D.C. with our client Sawyeddollah.</a:t>
            </a:r>
            <a:endParaRPr lang="en-US" sz="1000" dirty="0"/>
          </a:p>
          <a:p>
            <a:pPr marL="0" indent="0" algn="just">
              <a:lnSpc>
                <a:spcPct val="160000"/>
              </a:lnSpc>
              <a:buNone/>
            </a:pPr>
            <a:endParaRPr lang="en-US" sz="1000" dirty="0"/>
          </a:p>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Our OECD complaint against Meta came to an end in 2025 when we withdrew after mediation terms broke down. The experience underscored both the limitations of non-judicial mechanisms and the importance of maintaining parallel legal strategies.</a:t>
            </a:r>
            <a:endParaRPr lang="en-US" sz="1000" dirty="0"/>
          </a:p>
        </p:txBody>
      </p:sp>
      <p:sp>
        <p:nvSpPr>
          <p:cNvPr id="12" name="Text 10"/>
          <p:cNvSpPr/>
          <p:nvPr/>
        </p:nvSpPr>
        <p:spPr>
          <a:xfrm>
            <a:off x="722376" y="10186416"/>
            <a:ext cx="1828800" cy="274320"/>
          </a:xfrm>
          <a:prstGeom prst="rect">
            <a:avLst/>
          </a:prstGeom>
          <a:noFill/>
          <a:ln/>
        </p:spPr>
        <p:txBody>
          <a:bodyPr wrap="square" rtlCol="0" anchor="ctr"/>
          <a:lstStyle/>
          <a:p>
            <a:pPr marL="0" indent="0">
              <a:buNone/>
            </a:pPr>
            <a:r>
              <a:rPr lang="en-US" sz="800" dirty="0">
                <a:solidFill>
                  <a:srgbClr val="410F37">
                    <a:alpha val="30000"/>
                  </a:srgbClr>
                </a:solidFill>
                <a:latin typeface="Fagun" pitchFamily="2" charset="77"/>
                <a:ea typeface="Georgia" pitchFamily="34" charset="-122"/>
                <a:cs typeface="Georgia" pitchFamily="34" charset="-120"/>
              </a:rPr>
              <a:t>hūmānus</a:t>
            </a:r>
            <a:endParaRPr lang="en-US" sz="800" dirty="0"/>
          </a:p>
        </p:txBody>
      </p:sp>
      <p:sp>
        <p:nvSpPr>
          <p:cNvPr id="13" name="Text 11"/>
          <p:cNvSpPr/>
          <p:nvPr/>
        </p:nvSpPr>
        <p:spPr>
          <a:xfrm>
            <a:off x="5925312" y="10186416"/>
            <a:ext cx="914400" cy="274320"/>
          </a:xfrm>
          <a:prstGeom prst="rect">
            <a:avLst/>
          </a:prstGeom>
          <a:noFill/>
          <a:ln/>
        </p:spPr>
        <p:txBody>
          <a:bodyPr wrap="square" rtlCol="0" anchor="ctr"/>
          <a:lstStyle/>
          <a:p>
            <a:pPr marL="0" indent="0" algn="r">
              <a:buNone/>
            </a:pPr>
            <a:r>
              <a:rPr lang="en-US" sz="800" dirty="0">
                <a:solidFill>
                  <a:srgbClr val="E12D64"/>
                </a:solidFill>
                <a:latin typeface="Fagun" pitchFamily="2" charset="77"/>
                <a:ea typeface="Georgia" pitchFamily="34" charset="-122"/>
                <a:cs typeface="Georgia"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410F3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1000"/>
          </a:blip>
          <a:stretch>
            <a:fillRect/>
          </a:stretch>
        </p:blipFill>
        <p:spPr>
          <a:xfrm>
            <a:off x="0" y="0"/>
            <a:ext cx="7562088" cy="10689336"/>
          </a:xfrm>
          <a:prstGeom prst="rect">
            <a:avLst/>
          </a:prstGeom>
        </p:spPr>
      </p:pic>
      <p:sp>
        <p:nvSpPr>
          <p:cNvPr id="3" name="Text 0"/>
          <p:cNvSpPr/>
          <p:nvPr/>
        </p:nvSpPr>
        <p:spPr>
          <a:xfrm>
            <a:off x="722376" y="2743200"/>
            <a:ext cx="1828800" cy="2286000"/>
          </a:xfrm>
          <a:prstGeom prst="rect">
            <a:avLst/>
          </a:prstGeom>
          <a:noFill/>
          <a:ln/>
        </p:spPr>
        <p:txBody>
          <a:bodyPr wrap="square" rtlCol="0" anchor="ctr"/>
          <a:lstStyle/>
          <a:p>
            <a:pPr marL="0" indent="0">
              <a:buNone/>
            </a:pPr>
            <a:r>
              <a:rPr lang="en-US" sz="12000" dirty="0">
                <a:solidFill>
                  <a:srgbClr val="96FF14">
                    <a:alpha val="30000"/>
                  </a:srgbClr>
                </a:solidFill>
                <a:latin typeface="Fagun" pitchFamily="2" charset="77"/>
                <a:ea typeface="Georgia" pitchFamily="34" charset="-122"/>
                <a:cs typeface="Georgia" pitchFamily="34" charset="-120"/>
              </a:rPr>
              <a:t>2</a:t>
            </a:r>
            <a:endParaRPr lang="en-US" sz="12000" dirty="0"/>
          </a:p>
        </p:txBody>
      </p:sp>
      <p:sp>
        <p:nvSpPr>
          <p:cNvPr id="4" name="Text 1"/>
          <p:cNvSpPr/>
          <p:nvPr/>
        </p:nvSpPr>
        <p:spPr>
          <a:xfrm>
            <a:off x="722376" y="6858000"/>
            <a:ext cx="6117336" cy="1371600"/>
          </a:xfrm>
          <a:prstGeom prst="rect">
            <a:avLst/>
          </a:prstGeom>
          <a:noFill/>
          <a:ln/>
        </p:spPr>
        <p:txBody>
          <a:bodyPr wrap="square" rtlCol="0" anchor="ctr"/>
          <a:lstStyle/>
          <a:p>
            <a:pPr marL="0" indent="0">
              <a:lnSpc>
                <a:spcPct val="110000"/>
              </a:lnSpc>
              <a:buNone/>
            </a:pPr>
            <a:r>
              <a:rPr lang="en-US" sz="3200" dirty="0">
                <a:solidFill>
                  <a:srgbClr val="96FF14"/>
                </a:solidFill>
                <a:latin typeface="Fagun" pitchFamily="2" charset="77"/>
                <a:ea typeface="Georgia" pitchFamily="34" charset="-122"/>
                <a:cs typeface="Georgia" pitchFamily="34" charset="-120"/>
              </a:rPr>
              <a:t>India: Tracking</a:t>
            </a:r>
            <a:endParaRPr lang="en-US" sz="3200" dirty="0"/>
          </a:p>
          <a:p>
            <a:pPr marL="0" indent="0">
              <a:lnSpc>
                <a:spcPct val="110000"/>
              </a:lnSpc>
              <a:buNone/>
            </a:pPr>
            <a:r>
              <a:rPr lang="en-US" sz="3200" dirty="0">
                <a:solidFill>
                  <a:srgbClr val="96FF14"/>
                </a:solidFill>
                <a:latin typeface="Fagun" pitchFamily="2" charset="77"/>
                <a:ea typeface="Georgia" pitchFamily="34" charset="-122"/>
                <a:cs typeface="Georgia" pitchFamily="34" charset="-120"/>
              </a:rPr>
              <a:t>Detention,</a:t>
            </a:r>
            <a:endParaRPr lang="en-US" sz="3200" dirty="0"/>
          </a:p>
          <a:p>
            <a:pPr marL="0" indent="0">
              <a:lnSpc>
                <a:spcPct val="110000"/>
              </a:lnSpc>
              <a:buNone/>
            </a:pPr>
            <a:r>
              <a:rPr lang="en-US" sz="3200" dirty="0">
                <a:solidFill>
                  <a:srgbClr val="96FF14"/>
                </a:solidFill>
                <a:latin typeface="Fagun" pitchFamily="2" charset="77"/>
                <a:ea typeface="Georgia" pitchFamily="34" charset="-122"/>
                <a:cs typeface="Georgia" pitchFamily="34" charset="-120"/>
              </a:rPr>
              <a:t>Securing Freedom</a:t>
            </a:r>
            <a:endParaRPr lang="en-US" sz="3200" dirty="0"/>
          </a:p>
        </p:txBody>
      </p:sp>
      <p:sp>
        <p:nvSpPr>
          <p:cNvPr id="5" name="Text 2"/>
          <p:cNvSpPr/>
          <p:nvPr/>
        </p:nvSpPr>
        <p:spPr>
          <a:xfrm>
            <a:off x="722376" y="8229600"/>
            <a:ext cx="6117336" cy="731520"/>
          </a:xfrm>
          <a:prstGeom prst="rect">
            <a:avLst/>
          </a:prstGeom>
          <a:noFill/>
          <a:ln/>
        </p:spPr>
        <p:txBody>
          <a:bodyPr wrap="square" rtlCol="0" anchor="ctr"/>
          <a:lstStyle/>
          <a:p>
            <a:pPr marL="0" indent="0">
              <a:lnSpc>
                <a:spcPct val="140000"/>
              </a:lnSpc>
              <a:buNone/>
            </a:pPr>
            <a:r>
              <a:rPr lang="en-US" sz="1400" dirty="0">
                <a:solidFill>
                  <a:srgbClr val="FFFFFF">
                    <a:alpha val="75000"/>
                  </a:srgbClr>
                </a:solidFill>
                <a:latin typeface="Fagun" pitchFamily="2" charset="77"/>
                <a:ea typeface="Georgia" pitchFamily="34" charset="-122"/>
                <a:cs typeface="Georgia" pitchFamily="34" charset="-120"/>
              </a:rPr>
              <a:t>Building a living record of detained Rohingya refugees to support legal intervention</a:t>
            </a:r>
            <a:endParaRPr lang="en-US" sz="1400" dirty="0"/>
          </a:p>
        </p:txBody>
      </p:sp>
      <p:sp>
        <p:nvSpPr>
          <p:cNvPr id="6" name="Text 3"/>
          <p:cNvSpPr/>
          <p:nvPr/>
        </p:nvSpPr>
        <p:spPr>
          <a:xfrm>
            <a:off x="722376" y="10186416"/>
            <a:ext cx="1828800" cy="274320"/>
          </a:xfrm>
          <a:prstGeom prst="rect">
            <a:avLst/>
          </a:prstGeom>
          <a:noFill/>
          <a:ln/>
        </p:spPr>
        <p:txBody>
          <a:bodyPr wrap="square" rtlCol="0" anchor="ctr"/>
          <a:lstStyle/>
          <a:p>
            <a:pPr marL="0" indent="0">
              <a:buNone/>
            </a:pPr>
            <a:r>
              <a:rPr lang="en-US" sz="800" dirty="0">
                <a:solidFill>
                  <a:srgbClr val="96FF14">
                    <a:alpha val="30000"/>
                  </a:srgbClr>
                </a:solidFill>
                <a:latin typeface="Fagun" pitchFamily="2" charset="77"/>
                <a:ea typeface="Georgia" pitchFamily="34" charset="-122"/>
                <a:cs typeface="Georgia" pitchFamily="34" charset="-120"/>
              </a:rPr>
              <a:t>hūmānus</a:t>
            </a:r>
            <a:endParaRPr lang="en-US" sz="800" dirty="0"/>
          </a:p>
        </p:txBody>
      </p:sp>
      <p:sp>
        <p:nvSpPr>
          <p:cNvPr id="7" name="Text 4"/>
          <p:cNvSpPr/>
          <p:nvPr/>
        </p:nvSpPr>
        <p:spPr>
          <a:xfrm>
            <a:off x="5925312" y="10186416"/>
            <a:ext cx="914400" cy="274320"/>
          </a:xfrm>
          <a:prstGeom prst="rect">
            <a:avLst/>
          </a:prstGeom>
          <a:noFill/>
          <a:ln/>
        </p:spPr>
        <p:txBody>
          <a:bodyPr wrap="square" rtlCol="0" anchor="ctr"/>
          <a:lstStyle/>
          <a:p>
            <a:pPr marL="0" indent="0" algn="r">
              <a:buNone/>
            </a:pPr>
            <a:r>
              <a:rPr lang="en-US" sz="800" dirty="0">
                <a:solidFill>
                  <a:srgbClr val="FFFFFF">
                    <a:alpha val="60000"/>
                  </a:srgbClr>
                </a:solidFill>
                <a:latin typeface="Fagun" pitchFamily="2" charset="77"/>
                <a:ea typeface="Georgia" pitchFamily="34" charset="-122"/>
                <a:cs typeface="Georgia"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562088" cy="109728"/>
          </a:xfrm>
          <a:prstGeom prst="rect">
            <a:avLst/>
          </a:prstGeom>
          <a:solidFill>
            <a:srgbClr val="410F37"/>
          </a:solidFill>
          <a:ln/>
        </p:spPr>
        <p:txBody>
          <a:bodyPr/>
          <a:lstStyle/>
          <a:p>
            <a:endParaRPr lang="en-US"/>
          </a:p>
        </p:txBody>
      </p:sp>
      <p:sp>
        <p:nvSpPr>
          <p:cNvPr id="3" name="Text 1"/>
          <p:cNvSpPr/>
          <p:nvPr/>
        </p:nvSpPr>
        <p:spPr>
          <a:xfrm>
            <a:off x="722376" y="320040"/>
            <a:ext cx="6117336" cy="320040"/>
          </a:xfrm>
          <a:prstGeom prst="rect">
            <a:avLst/>
          </a:prstGeom>
          <a:noFill/>
          <a:ln/>
        </p:spPr>
        <p:txBody>
          <a:bodyPr wrap="square" rtlCol="0" anchor="ctr"/>
          <a:lstStyle/>
          <a:p>
            <a:pPr marL="0" indent="0">
              <a:buNone/>
            </a:pPr>
            <a:r>
              <a:rPr lang="en-US" sz="750" dirty="0">
                <a:solidFill>
                  <a:srgbClr val="8D7081"/>
                </a:solidFill>
                <a:latin typeface="Fagun" pitchFamily="2" charset="77"/>
                <a:ea typeface="Georgia" pitchFamily="34" charset="-122"/>
                <a:cs typeface="Georgia" pitchFamily="34" charset="-120"/>
              </a:rPr>
              <a:t>2. India: Tracking Detention, Securing Freedom</a:t>
            </a:r>
            <a:endParaRPr lang="en-US" sz="750" dirty="0"/>
          </a:p>
        </p:txBody>
      </p:sp>
      <p:sp>
        <p:nvSpPr>
          <p:cNvPr id="4" name="Shape 2"/>
          <p:cNvSpPr/>
          <p:nvPr/>
        </p:nvSpPr>
        <p:spPr>
          <a:xfrm>
            <a:off x="722376" y="658368"/>
            <a:ext cx="6117336" cy="0"/>
          </a:xfrm>
          <a:prstGeom prst="line">
            <a:avLst/>
          </a:prstGeom>
          <a:noFill/>
          <a:ln w="6350">
            <a:solidFill>
              <a:srgbClr val="D9CFCB"/>
            </a:solidFill>
            <a:prstDash val="solid"/>
          </a:ln>
        </p:spPr>
        <p:txBody>
          <a:bodyPr/>
          <a:lstStyle/>
          <a:p>
            <a:endParaRPr lang="en-US"/>
          </a:p>
        </p:txBody>
      </p:sp>
      <p:sp>
        <p:nvSpPr>
          <p:cNvPr id="5" name="Shape 3"/>
          <p:cNvSpPr/>
          <p:nvPr/>
        </p:nvSpPr>
        <p:spPr>
          <a:xfrm>
            <a:off x="722376" y="822960"/>
            <a:ext cx="1947672" cy="1097280"/>
          </a:xfrm>
          <a:prstGeom prst="rect">
            <a:avLst/>
          </a:prstGeom>
          <a:solidFill>
            <a:srgbClr val="410F37"/>
          </a:solidFill>
          <a:ln/>
        </p:spPr>
        <p:txBody>
          <a:bodyPr/>
          <a:lstStyle/>
          <a:p>
            <a:endParaRPr lang="en-US"/>
          </a:p>
        </p:txBody>
      </p:sp>
      <p:sp>
        <p:nvSpPr>
          <p:cNvPr id="6" name="Text 4"/>
          <p:cNvSpPr/>
          <p:nvPr/>
        </p:nvSpPr>
        <p:spPr>
          <a:xfrm>
            <a:off x="722376" y="868680"/>
            <a:ext cx="1947672" cy="594360"/>
          </a:xfrm>
          <a:prstGeom prst="rect">
            <a:avLst/>
          </a:prstGeom>
          <a:noFill/>
          <a:ln/>
        </p:spPr>
        <p:txBody>
          <a:bodyPr wrap="square" rtlCol="0" anchor="ctr"/>
          <a:lstStyle/>
          <a:p>
            <a:pPr marL="0" indent="0" algn="ctr">
              <a:buNone/>
            </a:pPr>
            <a:r>
              <a:rPr lang="en-US" sz="3200" dirty="0">
                <a:solidFill>
                  <a:srgbClr val="96FF14"/>
                </a:solidFill>
                <a:latin typeface="Fagun" pitchFamily="2" charset="77"/>
                <a:ea typeface="Georgia" pitchFamily="34" charset="-122"/>
                <a:cs typeface="Georgia" pitchFamily="34" charset="-120"/>
              </a:rPr>
              <a:t>94</a:t>
            </a:r>
            <a:endParaRPr lang="en-US" sz="3200" dirty="0"/>
          </a:p>
        </p:txBody>
      </p:sp>
      <p:sp>
        <p:nvSpPr>
          <p:cNvPr id="7" name="Text 5"/>
          <p:cNvSpPr/>
          <p:nvPr/>
        </p:nvSpPr>
        <p:spPr>
          <a:xfrm>
            <a:off x="722376" y="1417320"/>
            <a:ext cx="1947672" cy="457200"/>
          </a:xfrm>
          <a:prstGeom prst="rect">
            <a:avLst/>
          </a:prstGeom>
          <a:noFill/>
          <a:ln/>
        </p:spPr>
        <p:txBody>
          <a:bodyPr wrap="square" rtlCol="0" anchor="ctr"/>
          <a:lstStyle/>
          <a:p>
            <a:pPr marL="0" indent="0" algn="ctr">
              <a:lnSpc>
                <a:spcPct val="130000"/>
              </a:lnSpc>
              <a:buNone/>
            </a:pPr>
            <a:r>
              <a:rPr lang="en-US" sz="800" dirty="0">
                <a:solidFill>
                  <a:srgbClr val="FFFFFF">
                    <a:alpha val="85000"/>
                  </a:srgbClr>
                </a:solidFill>
                <a:latin typeface="Fagun" pitchFamily="2" charset="77"/>
                <a:ea typeface="Georgia" pitchFamily="34" charset="-122"/>
                <a:cs typeface="Georgia" pitchFamily="34" charset="-120"/>
              </a:rPr>
              <a:t>detention cases</a:t>
            </a:r>
            <a:endParaRPr lang="en-US" sz="800" dirty="0"/>
          </a:p>
          <a:p>
            <a:pPr marL="0" indent="0" algn="ctr">
              <a:lnSpc>
                <a:spcPct val="130000"/>
              </a:lnSpc>
              <a:buNone/>
            </a:pPr>
            <a:r>
              <a:rPr lang="en-US" sz="800" dirty="0">
                <a:solidFill>
                  <a:srgbClr val="FFFFFF">
                    <a:alpha val="85000"/>
                  </a:srgbClr>
                </a:solidFill>
                <a:latin typeface="Fagun" pitchFamily="2" charset="77"/>
                <a:ea typeface="Georgia" pitchFamily="34" charset="-122"/>
                <a:cs typeface="Georgia" pitchFamily="34" charset="-120"/>
              </a:rPr>
              <a:t>documented</a:t>
            </a:r>
            <a:endParaRPr lang="en-US" sz="800" dirty="0"/>
          </a:p>
        </p:txBody>
      </p:sp>
      <p:sp>
        <p:nvSpPr>
          <p:cNvPr id="8" name="Shape 6"/>
          <p:cNvSpPr/>
          <p:nvPr/>
        </p:nvSpPr>
        <p:spPr>
          <a:xfrm>
            <a:off x="2807208" y="822960"/>
            <a:ext cx="1947672" cy="1097280"/>
          </a:xfrm>
          <a:prstGeom prst="rect">
            <a:avLst/>
          </a:prstGeom>
          <a:solidFill>
            <a:srgbClr val="410F37"/>
          </a:solidFill>
          <a:ln/>
        </p:spPr>
        <p:txBody>
          <a:bodyPr/>
          <a:lstStyle/>
          <a:p>
            <a:endParaRPr lang="en-US"/>
          </a:p>
        </p:txBody>
      </p:sp>
      <p:sp>
        <p:nvSpPr>
          <p:cNvPr id="9" name="Text 7"/>
          <p:cNvSpPr/>
          <p:nvPr/>
        </p:nvSpPr>
        <p:spPr>
          <a:xfrm>
            <a:off x="2807208" y="868680"/>
            <a:ext cx="1947672" cy="594360"/>
          </a:xfrm>
          <a:prstGeom prst="rect">
            <a:avLst/>
          </a:prstGeom>
          <a:noFill/>
          <a:ln/>
        </p:spPr>
        <p:txBody>
          <a:bodyPr wrap="square" rtlCol="0" anchor="ctr"/>
          <a:lstStyle/>
          <a:p>
            <a:pPr marL="0" indent="0" algn="ctr">
              <a:buNone/>
            </a:pPr>
            <a:r>
              <a:rPr lang="en-US" sz="3200" dirty="0">
                <a:solidFill>
                  <a:srgbClr val="96FF14"/>
                </a:solidFill>
                <a:latin typeface="Fagun" pitchFamily="2" charset="77"/>
                <a:ea typeface="Georgia" pitchFamily="34" charset="-122"/>
                <a:cs typeface="Georgia" pitchFamily="34" charset="-120"/>
              </a:rPr>
              <a:t>9</a:t>
            </a:r>
            <a:endParaRPr lang="en-US" sz="3200" dirty="0"/>
          </a:p>
        </p:txBody>
      </p:sp>
      <p:sp>
        <p:nvSpPr>
          <p:cNvPr id="10" name="Text 8"/>
          <p:cNvSpPr/>
          <p:nvPr/>
        </p:nvSpPr>
        <p:spPr>
          <a:xfrm>
            <a:off x="2807208" y="1417320"/>
            <a:ext cx="1947672" cy="457200"/>
          </a:xfrm>
          <a:prstGeom prst="rect">
            <a:avLst/>
          </a:prstGeom>
          <a:noFill/>
          <a:ln/>
        </p:spPr>
        <p:txBody>
          <a:bodyPr wrap="square" rtlCol="0" anchor="ctr"/>
          <a:lstStyle/>
          <a:p>
            <a:pPr marL="0" indent="0" algn="ctr">
              <a:lnSpc>
                <a:spcPct val="130000"/>
              </a:lnSpc>
              <a:buNone/>
            </a:pPr>
            <a:r>
              <a:rPr lang="en-US" sz="800" dirty="0">
                <a:solidFill>
                  <a:srgbClr val="FFFFFF">
                    <a:alpha val="85000"/>
                  </a:srgbClr>
                </a:solidFill>
                <a:latin typeface="Fagun" pitchFamily="2" charset="77"/>
                <a:ea typeface="Georgia" pitchFamily="34" charset="-122"/>
                <a:cs typeface="Georgia" pitchFamily="34" charset="-120"/>
              </a:rPr>
              <a:t>Indian states</a:t>
            </a:r>
            <a:endParaRPr lang="en-US" sz="800" dirty="0"/>
          </a:p>
          <a:p>
            <a:pPr marL="0" indent="0" algn="ctr">
              <a:lnSpc>
                <a:spcPct val="130000"/>
              </a:lnSpc>
              <a:buNone/>
            </a:pPr>
            <a:r>
              <a:rPr lang="en-US" sz="800" dirty="0">
                <a:solidFill>
                  <a:srgbClr val="FFFFFF">
                    <a:alpha val="85000"/>
                  </a:srgbClr>
                </a:solidFill>
                <a:latin typeface="Fagun" pitchFamily="2" charset="77"/>
                <a:ea typeface="Georgia" pitchFamily="34" charset="-122"/>
                <a:cs typeface="Georgia" pitchFamily="34" charset="-120"/>
              </a:rPr>
              <a:t>covered</a:t>
            </a:r>
            <a:endParaRPr lang="en-US" sz="800" dirty="0"/>
          </a:p>
        </p:txBody>
      </p:sp>
      <p:sp>
        <p:nvSpPr>
          <p:cNvPr id="11" name="Shape 9"/>
          <p:cNvSpPr/>
          <p:nvPr/>
        </p:nvSpPr>
        <p:spPr>
          <a:xfrm>
            <a:off x="4892040" y="822960"/>
            <a:ext cx="1947672" cy="1097280"/>
          </a:xfrm>
          <a:prstGeom prst="rect">
            <a:avLst/>
          </a:prstGeom>
          <a:solidFill>
            <a:srgbClr val="410F37"/>
          </a:solidFill>
          <a:ln/>
        </p:spPr>
        <p:txBody>
          <a:bodyPr/>
          <a:lstStyle/>
          <a:p>
            <a:endParaRPr lang="en-US"/>
          </a:p>
        </p:txBody>
      </p:sp>
      <p:sp>
        <p:nvSpPr>
          <p:cNvPr id="12" name="Text 10"/>
          <p:cNvSpPr/>
          <p:nvPr/>
        </p:nvSpPr>
        <p:spPr>
          <a:xfrm>
            <a:off x="4892040" y="868680"/>
            <a:ext cx="1947672" cy="594360"/>
          </a:xfrm>
          <a:prstGeom prst="rect">
            <a:avLst/>
          </a:prstGeom>
          <a:noFill/>
          <a:ln/>
        </p:spPr>
        <p:txBody>
          <a:bodyPr wrap="square" rtlCol="0" anchor="ctr"/>
          <a:lstStyle/>
          <a:p>
            <a:pPr marL="0" indent="0" algn="ctr">
              <a:buNone/>
            </a:pPr>
            <a:r>
              <a:rPr lang="en-US" sz="3200" dirty="0">
                <a:solidFill>
                  <a:srgbClr val="96FF14"/>
                </a:solidFill>
                <a:latin typeface="Fagun" pitchFamily="2" charset="77"/>
                <a:ea typeface="Georgia" pitchFamily="34" charset="-122"/>
                <a:cs typeface="Georgia" pitchFamily="34" charset="-120"/>
              </a:rPr>
              <a:t>120+</a:t>
            </a:r>
            <a:endParaRPr lang="en-US" sz="3200" dirty="0"/>
          </a:p>
        </p:txBody>
      </p:sp>
      <p:sp>
        <p:nvSpPr>
          <p:cNvPr id="13" name="Text 11"/>
          <p:cNvSpPr/>
          <p:nvPr/>
        </p:nvSpPr>
        <p:spPr>
          <a:xfrm>
            <a:off x="4892040" y="1417320"/>
            <a:ext cx="1947672" cy="457200"/>
          </a:xfrm>
          <a:prstGeom prst="rect">
            <a:avLst/>
          </a:prstGeom>
          <a:noFill/>
          <a:ln/>
        </p:spPr>
        <p:txBody>
          <a:bodyPr wrap="square" rtlCol="0" anchor="ctr"/>
          <a:lstStyle/>
          <a:p>
            <a:pPr marL="0" indent="0" algn="ctr">
              <a:lnSpc>
                <a:spcPct val="130000"/>
              </a:lnSpc>
              <a:buNone/>
            </a:pPr>
            <a:r>
              <a:rPr lang="en-US" sz="800" dirty="0">
                <a:solidFill>
                  <a:srgbClr val="FFFFFF">
                    <a:alpha val="85000"/>
                  </a:srgbClr>
                </a:solidFill>
                <a:latin typeface="Fagun" pitchFamily="2" charset="77"/>
                <a:ea typeface="Georgia" pitchFamily="34" charset="-122"/>
                <a:cs typeface="Georgia" pitchFamily="34" charset="-120"/>
              </a:rPr>
              <a:t>deportations</a:t>
            </a:r>
            <a:endParaRPr lang="en-US" sz="800" dirty="0"/>
          </a:p>
          <a:p>
            <a:pPr marL="0" indent="0" algn="ctr">
              <a:lnSpc>
                <a:spcPct val="130000"/>
              </a:lnSpc>
              <a:buNone/>
            </a:pPr>
            <a:r>
              <a:rPr lang="en-US" sz="800" dirty="0">
                <a:solidFill>
                  <a:srgbClr val="FFFFFF">
                    <a:alpha val="85000"/>
                  </a:srgbClr>
                </a:solidFill>
                <a:latin typeface="Fagun" pitchFamily="2" charset="77"/>
                <a:ea typeface="Georgia" pitchFamily="34" charset="-122"/>
                <a:cs typeface="Georgia" pitchFamily="34" charset="-120"/>
              </a:rPr>
              <a:t>recorded</a:t>
            </a:r>
            <a:endParaRPr lang="en-US" sz="800" dirty="0"/>
          </a:p>
        </p:txBody>
      </p:sp>
      <p:sp>
        <p:nvSpPr>
          <p:cNvPr id="14" name="Text 12"/>
          <p:cNvSpPr/>
          <p:nvPr/>
        </p:nvSpPr>
        <p:spPr>
          <a:xfrm>
            <a:off x="722376" y="2103120"/>
            <a:ext cx="6117336" cy="2926080"/>
          </a:xfrm>
          <a:prstGeom prst="rect">
            <a:avLst/>
          </a:prstGeom>
          <a:noFill/>
          <a:ln/>
        </p:spPr>
        <p:txBody>
          <a:bodyPr wrap="square" rtlCol="0" anchor="ctr"/>
          <a:lstStyle/>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The India detention database project, led by Advocate Arati Ranade, builds a living record of detained Rohingya refugees across India to support legal intervention, track trends, and enable faster response to new detentions and deportation risks. The project is a partnership between hūmānus and the Azadi Project working together with community-led women field researchers.</a:t>
            </a:r>
            <a:endParaRPr lang="en-US" sz="1000" dirty="0"/>
          </a:p>
          <a:p>
            <a:pPr marL="0" indent="0" algn="just">
              <a:lnSpc>
                <a:spcPct val="160000"/>
              </a:lnSpc>
              <a:buNone/>
            </a:pPr>
            <a:endParaRPr lang="en-US" sz="1000" dirty="0"/>
          </a:p>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By the end of the reporting period, the project had documented 94 detention cases across nine Indian states: Delhi, Assam, West Bengal, Uttar Pradesh, Haryana, Telangana, Rajasthan, Jammu, and Tripura. It recorded over 120 deportations, and the data is now actively used to support bail applications and legal advocacy.</a:t>
            </a:r>
            <a:endParaRPr lang="en-US" sz="1000" dirty="0"/>
          </a:p>
        </p:txBody>
      </p:sp>
      <p:sp>
        <p:nvSpPr>
          <p:cNvPr id="15" name="Shape 13"/>
          <p:cNvSpPr/>
          <p:nvPr/>
        </p:nvSpPr>
        <p:spPr>
          <a:xfrm>
            <a:off x="722376" y="5120640"/>
            <a:ext cx="109728" cy="1463040"/>
          </a:xfrm>
          <a:prstGeom prst="rect">
            <a:avLst/>
          </a:prstGeom>
          <a:solidFill>
            <a:srgbClr val="E12D64"/>
          </a:solidFill>
          <a:ln/>
        </p:spPr>
        <p:txBody>
          <a:bodyPr/>
          <a:lstStyle/>
          <a:p>
            <a:endParaRPr lang="en-US"/>
          </a:p>
        </p:txBody>
      </p:sp>
      <p:sp>
        <p:nvSpPr>
          <p:cNvPr id="16" name="Shape 14"/>
          <p:cNvSpPr/>
          <p:nvPr/>
        </p:nvSpPr>
        <p:spPr>
          <a:xfrm>
            <a:off x="832104" y="5120639"/>
            <a:ext cx="6007608" cy="1463041"/>
          </a:xfrm>
          <a:prstGeom prst="rect">
            <a:avLst/>
          </a:prstGeom>
          <a:solidFill>
            <a:srgbClr val="F9D6E0"/>
          </a:solidFill>
          <a:ln/>
        </p:spPr>
        <p:txBody>
          <a:bodyPr/>
          <a:lstStyle/>
          <a:p>
            <a:endParaRPr lang="en-US"/>
          </a:p>
        </p:txBody>
      </p:sp>
      <p:sp>
        <p:nvSpPr>
          <p:cNvPr id="17" name="Text 15"/>
          <p:cNvSpPr/>
          <p:nvPr/>
        </p:nvSpPr>
        <p:spPr>
          <a:xfrm>
            <a:off x="1042416" y="5166360"/>
            <a:ext cx="2743200" cy="274320"/>
          </a:xfrm>
          <a:prstGeom prst="rect">
            <a:avLst/>
          </a:prstGeom>
          <a:noFill/>
          <a:ln/>
        </p:spPr>
        <p:txBody>
          <a:bodyPr wrap="square" rtlCol="0" anchor="ctr"/>
          <a:lstStyle/>
          <a:p>
            <a:pPr marL="0" indent="0">
              <a:buNone/>
            </a:pPr>
            <a:r>
              <a:rPr lang="en-US" sz="1000" dirty="0">
                <a:solidFill>
                  <a:srgbClr val="E12D64"/>
                </a:solidFill>
                <a:latin typeface="Fagun" pitchFamily="2" charset="77"/>
                <a:ea typeface="Georgia" pitchFamily="34" charset="-122"/>
                <a:cs typeface="Georgia" pitchFamily="34" charset="-120"/>
              </a:rPr>
              <a:t>Three key outcomes</a:t>
            </a:r>
            <a:endParaRPr lang="en-US" sz="1000" dirty="0"/>
          </a:p>
        </p:txBody>
      </p:sp>
      <p:sp>
        <p:nvSpPr>
          <p:cNvPr id="18" name="Text 16"/>
          <p:cNvSpPr/>
          <p:nvPr/>
        </p:nvSpPr>
        <p:spPr>
          <a:xfrm>
            <a:off x="1042416" y="5440680"/>
            <a:ext cx="5477256" cy="822960"/>
          </a:xfrm>
          <a:prstGeom prst="rect">
            <a:avLst/>
          </a:prstGeom>
          <a:noFill/>
          <a:ln/>
        </p:spPr>
        <p:txBody>
          <a:bodyPr wrap="square" rtlCol="0" anchor="ctr"/>
          <a:lstStyle/>
          <a:p>
            <a:pPr marL="228600" indent="-228600">
              <a:lnSpc>
                <a:spcPct val="150000"/>
              </a:lnSpc>
              <a:buAutoNum type="arabicPeriod"/>
            </a:pPr>
            <a:r>
              <a:rPr lang="en-US" sz="950" dirty="0">
                <a:solidFill>
                  <a:srgbClr val="410F37"/>
                </a:solidFill>
                <a:latin typeface="Fagun" pitchFamily="2" charset="77"/>
                <a:ea typeface="Georgia" pitchFamily="34" charset="-122"/>
                <a:cs typeface="Georgia" pitchFamily="34" charset="-120"/>
              </a:rPr>
              <a:t>Building a cross-state network of human rights lawyers equipped to take on Rohingya detention cases. </a:t>
            </a:r>
          </a:p>
          <a:p>
            <a:pPr marL="228600" indent="-228600">
              <a:lnSpc>
                <a:spcPct val="150000"/>
              </a:lnSpc>
              <a:buAutoNum type="arabicPeriod"/>
            </a:pPr>
            <a:r>
              <a:rPr lang="en-US" sz="950" dirty="0">
                <a:solidFill>
                  <a:srgbClr val="410F37"/>
                </a:solidFill>
                <a:latin typeface="Fagun" pitchFamily="2" charset="77"/>
                <a:ea typeface="Georgia" pitchFamily="34" charset="-122"/>
                <a:cs typeface="Georgia" pitchFamily="34" charset="-120"/>
              </a:rPr>
              <a:t>2. A growing body of legal research including bail applications and rights-based documentation. </a:t>
            </a:r>
          </a:p>
          <a:p>
            <a:pPr marL="228600" indent="-228600">
              <a:lnSpc>
                <a:spcPct val="150000"/>
              </a:lnSpc>
              <a:buAutoNum type="arabicPeriod"/>
            </a:pPr>
            <a:r>
              <a:rPr lang="en-US" sz="950" dirty="0">
                <a:solidFill>
                  <a:srgbClr val="410F37"/>
                </a:solidFill>
                <a:latin typeface="Fagun" pitchFamily="2" charset="77"/>
                <a:ea typeface="Georgia" pitchFamily="34" charset="-122"/>
                <a:cs typeface="Georgia" pitchFamily="34" charset="-120"/>
              </a:rPr>
              <a:t>3. Direct legal intervention through petitions and representation before local courts.</a:t>
            </a:r>
            <a:endParaRPr lang="en-US" sz="950" dirty="0"/>
          </a:p>
        </p:txBody>
      </p:sp>
      <p:sp>
        <p:nvSpPr>
          <p:cNvPr id="19" name="Text 17"/>
          <p:cNvSpPr/>
          <p:nvPr/>
        </p:nvSpPr>
        <p:spPr>
          <a:xfrm>
            <a:off x="722376" y="6583680"/>
            <a:ext cx="6117336" cy="2011680"/>
          </a:xfrm>
          <a:prstGeom prst="rect">
            <a:avLst/>
          </a:prstGeom>
          <a:noFill/>
          <a:ln/>
        </p:spPr>
        <p:txBody>
          <a:bodyPr wrap="square" rtlCol="0" anchor="ctr"/>
          <a:lstStyle/>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The work responds to persistent gaps in protection. UNHCR does not track Rohingya refugees after issuing identity documents, and UNHCR cards are not recognised by Indian authorities. The database serves both an immediate protective function—enabling faster legal response—and a longer-term evidentiary function, building a structured record of detention patterns that can inform policy advocacy.</a:t>
            </a:r>
            <a:endParaRPr lang="en-US" sz="1000" dirty="0"/>
          </a:p>
        </p:txBody>
      </p:sp>
      <p:sp>
        <p:nvSpPr>
          <p:cNvPr id="20" name="Text 18"/>
          <p:cNvSpPr/>
          <p:nvPr/>
        </p:nvSpPr>
        <p:spPr>
          <a:xfrm>
            <a:off x="722376" y="10186416"/>
            <a:ext cx="1828800" cy="274320"/>
          </a:xfrm>
          <a:prstGeom prst="rect">
            <a:avLst/>
          </a:prstGeom>
          <a:noFill/>
          <a:ln/>
        </p:spPr>
        <p:txBody>
          <a:bodyPr wrap="square" rtlCol="0" anchor="ctr"/>
          <a:lstStyle/>
          <a:p>
            <a:pPr marL="0" indent="0">
              <a:buNone/>
            </a:pPr>
            <a:r>
              <a:rPr lang="en-US" sz="800" dirty="0">
                <a:solidFill>
                  <a:srgbClr val="410F37">
                    <a:alpha val="30000"/>
                  </a:srgbClr>
                </a:solidFill>
                <a:latin typeface="Fagun" pitchFamily="2" charset="77"/>
                <a:ea typeface="Georgia" pitchFamily="34" charset="-122"/>
                <a:cs typeface="Georgia" pitchFamily="34" charset="-120"/>
              </a:rPr>
              <a:t>hūmānus</a:t>
            </a:r>
            <a:endParaRPr lang="en-US" sz="800" dirty="0"/>
          </a:p>
        </p:txBody>
      </p:sp>
      <p:sp>
        <p:nvSpPr>
          <p:cNvPr id="21" name="Text 19"/>
          <p:cNvSpPr/>
          <p:nvPr/>
        </p:nvSpPr>
        <p:spPr>
          <a:xfrm>
            <a:off x="5925312" y="10186416"/>
            <a:ext cx="914400" cy="274320"/>
          </a:xfrm>
          <a:prstGeom prst="rect">
            <a:avLst/>
          </a:prstGeom>
          <a:noFill/>
          <a:ln/>
        </p:spPr>
        <p:txBody>
          <a:bodyPr wrap="square" rtlCol="0" anchor="ctr"/>
          <a:lstStyle/>
          <a:p>
            <a:pPr marL="0" indent="0" algn="r">
              <a:buNone/>
            </a:pPr>
            <a:r>
              <a:rPr lang="en-US" sz="800" dirty="0">
                <a:solidFill>
                  <a:srgbClr val="E12D64"/>
                </a:solidFill>
                <a:latin typeface="Fagun" pitchFamily="2" charset="77"/>
                <a:ea typeface="Georgia" pitchFamily="34" charset="-122"/>
                <a:cs typeface="Georgia"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10F3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1000"/>
          </a:blip>
          <a:stretch>
            <a:fillRect/>
          </a:stretch>
        </p:blipFill>
        <p:spPr>
          <a:xfrm>
            <a:off x="0" y="0"/>
            <a:ext cx="7562088" cy="10689336"/>
          </a:xfrm>
          <a:prstGeom prst="rect">
            <a:avLst/>
          </a:prstGeom>
        </p:spPr>
      </p:pic>
      <p:sp>
        <p:nvSpPr>
          <p:cNvPr id="3" name="Text 0"/>
          <p:cNvSpPr/>
          <p:nvPr/>
        </p:nvSpPr>
        <p:spPr>
          <a:xfrm>
            <a:off x="722376" y="2743200"/>
            <a:ext cx="1828800" cy="2286000"/>
          </a:xfrm>
          <a:prstGeom prst="rect">
            <a:avLst/>
          </a:prstGeom>
          <a:noFill/>
          <a:ln/>
        </p:spPr>
        <p:txBody>
          <a:bodyPr wrap="square" rtlCol="0" anchor="ctr"/>
          <a:lstStyle/>
          <a:p>
            <a:pPr marL="0" indent="0">
              <a:buNone/>
            </a:pPr>
            <a:r>
              <a:rPr lang="en-US" sz="12000" dirty="0">
                <a:solidFill>
                  <a:srgbClr val="96FF14">
                    <a:alpha val="30000"/>
                  </a:srgbClr>
                </a:solidFill>
                <a:latin typeface="Fagun" pitchFamily="2" charset="77"/>
                <a:ea typeface="Georgia" pitchFamily="34" charset="-122"/>
                <a:cs typeface="Georgia" pitchFamily="34" charset="-120"/>
              </a:rPr>
              <a:t>3</a:t>
            </a:r>
            <a:endParaRPr lang="en-US" sz="12000" dirty="0"/>
          </a:p>
        </p:txBody>
      </p:sp>
      <p:sp>
        <p:nvSpPr>
          <p:cNvPr id="4" name="Text 1"/>
          <p:cNvSpPr/>
          <p:nvPr/>
        </p:nvSpPr>
        <p:spPr>
          <a:xfrm>
            <a:off x="722376" y="6858000"/>
            <a:ext cx="6117336" cy="1371600"/>
          </a:xfrm>
          <a:prstGeom prst="rect">
            <a:avLst/>
          </a:prstGeom>
          <a:noFill/>
          <a:ln/>
        </p:spPr>
        <p:txBody>
          <a:bodyPr wrap="square" rtlCol="0" anchor="ctr"/>
          <a:lstStyle/>
          <a:p>
            <a:pPr marL="0" indent="0">
              <a:lnSpc>
                <a:spcPct val="110000"/>
              </a:lnSpc>
              <a:buNone/>
            </a:pPr>
            <a:r>
              <a:rPr lang="en-US" sz="3200" dirty="0">
                <a:solidFill>
                  <a:srgbClr val="96FF14"/>
                </a:solidFill>
                <a:latin typeface="Fagun" pitchFamily="2" charset="77"/>
                <a:ea typeface="Georgia" pitchFamily="34" charset="-122"/>
                <a:cs typeface="Georgia" pitchFamily="34" charset="-120"/>
              </a:rPr>
              <a:t>Somalia: AFRICOM</a:t>
            </a:r>
            <a:endParaRPr lang="en-US" sz="3200" dirty="0"/>
          </a:p>
          <a:p>
            <a:pPr marL="0" indent="0">
              <a:lnSpc>
                <a:spcPct val="110000"/>
              </a:lnSpc>
              <a:buNone/>
            </a:pPr>
            <a:r>
              <a:rPr lang="en-US" sz="3200" dirty="0">
                <a:solidFill>
                  <a:srgbClr val="96FF14"/>
                </a:solidFill>
                <a:latin typeface="Fagun" pitchFamily="2" charset="77"/>
                <a:ea typeface="Georgia" pitchFamily="34" charset="-122"/>
                <a:cs typeface="Georgia" pitchFamily="34" charset="-120"/>
              </a:rPr>
              <a:t>Responses on</a:t>
            </a:r>
            <a:endParaRPr lang="en-US" sz="3200" dirty="0"/>
          </a:p>
          <a:p>
            <a:pPr marL="0" indent="0">
              <a:lnSpc>
                <a:spcPct val="110000"/>
              </a:lnSpc>
              <a:buNone/>
            </a:pPr>
            <a:r>
              <a:rPr lang="en-US" sz="3200" dirty="0">
                <a:solidFill>
                  <a:srgbClr val="96FF14"/>
                </a:solidFill>
                <a:latin typeface="Fagun" pitchFamily="2" charset="77"/>
                <a:ea typeface="Georgia" pitchFamily="34" charset="-122"/>
                <a:cs typeface="Georgia" pitchFamily="34" charset="-120"/>
              </a:rPr>
              <a:t>Civilian Harm</a:t>
            </a:r>
            <a:endParaRPr lang="en-US" sz="3200" dirty="0"/>
          </a:p>
        </p:txBody>
      </p:sp>
      <p:sp>
        <p:nvSpPr>
          <p:cNvPr id="5" name="Text 2"/>
          <p:cNvSpPr/>
          <p:nvPr/>
        </p:nvSpPr>
        <p:spPr>
          <a:xfrm>
            <a:off x="722376" y="8229600"/>
            <a:ext cx="6117336" cy="731520"/>
          </a:xfrm>
          <a:prstGeom prst="rect">
            <a:avLst/>
          </a:prstGeom>
          <a:noFill/>
          <a:ln/>
        </p:spPr>
        <p:txBody>
          <a:bodyPr wrap="square" rtlCol="0" anchor="ctr"/>
          <a:lstStyle/>
          <a:p>
            <a:pPr marL="0" indent="0">
              <a:lnSpc>
                <a:spcPct val="140000"/>
              </a:lnSpc>
              <a:buNone/>
            </a:pPr>
            <a:r>
              <a:rPr lang="en-US" sz="1400" dirty="0">
                <a:solidFill>
                  <a:srgbClr val="FFFFFF">
                    <a:alpha val="75000"/>
                  </a:srgbClr>
                </a:solidFill>
                <a:latin typeface="Fagun" pitchFamily="2" charset="77"/>
                <a:ea typeface="Georgia" pitchFamily="34" charset="-122"/>
                <a:cs typeface="Georgia" pitchFamily="34" charset="-120"/>
              </a:rPr>
              <a:t>Pursuing remedy-focused accountability for civilian harm</a:t>
            </a:r>
            <a:endParaRPr lang="en-US" sz="1400" dirty="0"/>
          </a:p>
        </p:txBody>
      </p:sp>
      <p:sp>
        <p:nvSpPr>
          <p:cNvPr id="6" name="Text 3"/>
          <p:cNvSpPr/>
          <p:nvPr/>
        </p:nvSpPr>
        <p:spPr>
          <a:xfrm>
            <a:off x="722376" y="10186416"/>
            <a:ext cx="1828800" cy="274320"/>
          </a:xfrm>
          <a:prstGeom prst="rect">
            <a:avLst/>
          </a:prstGeom>
          <a:noFill/>
          <a:ln/>
        </p:spPr>
        <p:txBody>
          <a:bodyPr wrap="square" rtlCol="0" anchor="ctr"/>
          <a:lstStyle/>
          <a:p>
            <a:pPr marL="0" indent="0">
              <a:buNone/>
            </a:pPr>
            <a:r>
              <a:rPr lang="en-US" sz="800" dirty="0">
                <a:solidFill>
                  <a:srgbClr val="96FF14">
                    <a:alpha val="30000"/>
                  </a:srgbClr>
                </a:solidFill>
                <a:latin typeface="Fagun" pitchFamily="2" charset="77"/>
                <a:ea typeface="Georgia" pitchFamily="34" charset="-122"/>
                <a:cs typeface="Georgia" pitchFamily="34" charset="-120"/>
              </a:rPr>
              <a:t>hūmānus</a:t>
            </a:r>
            <a:endParaRPr lang="en-US" sz="800" dirty="0"/>
          </a:p>
        </p:txBody>
      </p:sp>
      <p:sp>
        <p:nvSpPr>
          <p:cNvPr id="7" name="Text 4"/>
          <p:cNvSpPr/>
          <p:nvPr/>
        </p:nvSpPr>
        <p:spPr>
          <a:xfrm>
            <a:off x="5925312" y="10186416"/>
            <a:ext cx="914400" cy="274320"/>
          </a:xfrm>
          <a:prstGeom prst="rect">
            <a:avLst/>
          </a:prstGeom>
          <a:noFill/>
          <a:ln/>
        </p:spPr>
        <p:txBody>
          <a:bodyPr wrap="square" rtlCol="0" anchor="ctr"/>
          <a:lstStyle/>
          <a:p>
            <a:pPr marL="0" indent="0" algn="r">
              <a:buNone/>
            </a:pPr>
            <a:r>
              <a:rPr lang="en-US" sz="800" dirty="0">
                <a:solidFill>
                  <a:srgbClr val="FFFFFF">
                    <a:alpha val="60000"/>
                  </a:srgbClr>
                </a:solidFill>
                <a:latin typeface="Fagun" pitchFamily="2" charset="77"/>
                <a:ea typeface="Georgia" pitchFamily="34" charset="-122"/>
                <a:cs typeface="Georgia"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562088" cy="109728"/>
          </a:xfrm>
          <a:prstGeom prst="rect">
            <a:avLst/>
          </a:prstGeom>
          <a:solidFill>
            <a:srgbClr val="410F37"/>
          </a:solidFill>
          <a:ln/>
        </p:spPr>
        <p:txBody>
          <a:bodyPr/>
          <a:lstStyle/>
          <a:p>
            <a:endParaRPr lang="en-US"/>
          </a:p>
        </p:txBody>
      </p:sp>
      <p:sp>
        <p:nvSpPr>
          <p:cNvPr id="3" name="Text 1"/>
          <p:cNvSpPr/>
          <p:nvPr/>
        </p:nvSpPr>
        <p:spPr>
          <a:xfrm>
            <a:off x="722376" y="320040"/>
            <a:ext cx="6117336" cy="320040"/>
          </a:xfrm>
          <a:prstGeom prst="rect">
            <a:avLst/>
          </a:prstGeom>
          <a:noFill/>
          <a:ln/>
        </p:spPr>
        <p:txBody>
          <a:bodyPr wrap="square" rtlCol="0" anchor="ctr"/>
          <a:lstStyle/>
          <a:p>
            <a:pPr marL="0" indent="0">
              <a:buNone/>
            </a:pPr>
            <a:r>
              <a:rPr lang="en-US" sz="750" dirty="0">
                <a:solidFill>
                  <a:srgbClr val="8D7081"/>
                </a:solidFill>
                <a:latin typeface="Fagun" pitchFamily="2" charset="77"/>
                <a:ea typeface="Georgia" pitchFamily="34" charset="-122"/>
                <a:cs typeface="Georgia" pitchFamily="34" charset="-120"/>
              </a:rPr>
              <a:t>3. Somalia: AFRICOM</a:t>
            </a:r>
            <a:endParaRPr lang="en-US" sz="750" dirty="0"/>
          </a:p>
        </p:txBody>
      </p:sp>
      <p:sp>
        <p:nvSpPr>
          <p:cNvPr id="4" name="Shape 2"/>
          <p:cNvSpPr/>
          <p:nvPr/>
        </p:nvSpPr>
        <p:spPr>
          <a:xfrm>
            <a:off x="722376" y="658368"/>
            <a:ext cx="6117336" cy="0"/>
          </a:xfrm>
          <a:prstGeom prst="line">
            <a:avLst/>
          </a:prstGeom>
          <a:noFill/>
          <a:ln w="6350">
            <a:solidFill>
              <a:srgbClr val="D9CFCB"/>
            </a:solidFill>
            <a:prstDash val="solid"/>
          </a:ln>
        </p:spPr>
        <p:txBody>
          <a:bodyPr/>
          <a:lstStyle/>
          <a:p>
            <a:endParaRPr lang="en-US"/>
          </a:p>
        </p:txBody>
      </p:sp>
      <p:sp>
        <p:nvSpPr>
          <p:cNvPr id="5" name="Text 3"/>
          <p:cNvSpPr/>
          <p:nvPr/>
        </p:nvSpPr>
        <p:spPr>
          <a:xfrm>
            <a:off x="722376" y="822960"/>
            <a:ext cx="6117336" cy="914400"/>
          </a:xfrm>
          <a:prstGeom prst="rect">
            <a:avLst/>
          </a:prstGeom>
          <a:noFill/>
          <a:ln/>
        </p:spPr>
        <p:txBody>
          <a:bodyPr wrap="square" rtlCol="0" anchor="ctr"/>
          <a:lstStyle/>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In Somalia, hūmānus pursued remedy-focused accountability by supporting civilian harm cases and pressing for transparent determinations and meaningful redress from the United States Africa Command (AFRICOM).</a:t>
            </a:r>
            <a:endParaRPr lang="en-US" sz="1000" dirty="0"/>
          </a:p>
        </p:txBody>
      </p:sp>
      <p:sp>
        <p:nvSpPr>
          <p:cNvPr id="6" name="Shape 4"/>
          <p:cNvSpPr/>
          <p:nvPr/>
        </p:nvSpPr>
        <p:spPr>
          <a:xfrm>
            <a:off x="2638044" y="1920240"/>
            <a:ext cx="2286000" cy="1097280"/>
          </a:xfrm>
          <a:prstGeom prst="rect">
            <a:avLst/>
          </a:prstGeom>
          <a:solidFill>
            <a:srgbClr val="410F37"/>
          </a:solidFill>
          <a:ln/>
        </p:spPr>
        <p:txBody>
          <a:bodyPr/>
          <a:lstStyle/>
          <a:p>
            <a:endParaRPr lang="en-US"/>
          </a:p>
        </p:txBody>
      </p:sp>
      <p:sp>
        <p:nvSpPr>
          <p:cNvPr id="7" name="Text 5"/>
          <p:cNvSpPr/>
          <p:nvPr/>
        </p:nvSpPr>
        <p:spPr>
          <a:xfrm>
            <a:off x="2638044" y="1965960"/>
            <a:ext cx="2286000" cy="594360"/>
          </a:xfrm>
          <a:prstGeom prst="rect">
            <a:avLst/>
          </a:prstGeom>
          <a:noFill/>
          <a:ln/>
        </p:spPr>
        <p:txBody>
          <a:bodyPr wrap="square" rtlCol="0" anchor="ctr"/>
          <a:lstStyle/>
          <a:p>
            <a:pPr marL="0" indent="0" algn="ctr">
              <a:buNone/>
            </a:pPr>
            <a:r>
              <a:rPr lang="en-US" sz="3200" dirty="0">
                <a:solidFill>
                  <a:srgbClr val="96FF14"/>
                </a:solidFill>
                <a:latin typeface="Fagun" pitchFamily="2" charset="77"/>
                <a:ea typeface="Georgia" pitchFamily="34" charset="-122"/>
                <a:cs typeface="Georgia" pitchFamily="34" charset="-120"/>
              </a:rPr>
              <a:t>3</a:t>
            </a:r>
            <a:endParaRPr lang="en-US" sz="3200" dirty="0"/>
          </a:p>
        </p:txBody>
      </p:sp>
      <p:sp>
        <p:nvSpPr>
          <p:cNvPr id="8" name="Text 6"/>
          <p:cNvSpPr/>
          <p:nvPr/>
        </p:nvSpPr>
        <p:spPr>
          <a:xfrm>
            <a:off x="2638044" y="2514600"/>
            <a:ext cx="2286000" cy="457200"/>
          </a:xfrm>
          <a:prstGeom prst="rect">
            <a:avLst/>
          </a:prstGeom>
          <a:noFill/>
          <a:ln/>
        </p:spPr>
        <p:txBody>
          <a:bodyPr wrap="square" rtlCol="0" anchor="ctr"/>
          <a:lstStyle/>
          <a:p>
            <a:pPr marL="0" indent="0" algn="ctr">
              <a:lnSpc>
                <a:spcPct val="130000"/>
              </a:lnSpc>
              <a:buNone/>
            </a:pPr>
            <a:r>
              <a:rPr lang="en-US" sz="800" dirty="0">
                <a:solidFill>
                  <a:srgbClr val="FFFFFF"/>
                </a:solidFill>
                <a:latin typeface="Fagun" pitchFamily="2" charset="77"/>
                <a:ea typeface="Georgia" pitchFamily="34" charset="-122"/>
                <a:cs typeface="Georgia" pitchFamily="34" charset="-120"/>
              </a:rPr>
              <a:t>civilian harm cases</a:t>
            </a:r>
            <a:endParaRPr lang="en-US" sz="800" dirty="0"/>
          </a:p>
          <a:p>
            <a:pPr marL="0" indent="0" algn="ctr">
              <a:lnSpc>
                <a:spcPct val="130000"/>
              </a:lnSpc>
              <a:buNone/>
            </a:pPr>
            <a:r>
              <a:rPr lang="en-US" sz="800" dirty="0">
                <a:solidFill>
                  <a:srgbClr val="FFFFFF"/>
                </a:solidFill>
                <a:latin typeface="Fagun" pitchFamily="2" charset="77"/>
                <a:ea typeface="Georgia" pitchFamily="34" charset="-122"/>
                <a:cs typeface="Georgia" pitchFamily="34" charset="-120"/>
              </a:rPr>
              <a:t>recognised by AFRICOM</a:t>
            </a:r>
            <a:endParaRPr lang="en-US" sz="800" dirty="0"/>
          </a:p>
        </p:txBody>
      </p:sp>
      <p:sp>
        <p:nvSpPr>
          <p:cNvPr id="9" name="Text 7"/>
          <p:cNvSpPr/>
          <p:nvPr/>
        </p:nvSpPr>
        <p:spPr>
          <a:xfrm>
            <a:off x="722376" y="3291840"/>
            <a:ext cx="6117336" cy="1645920"/>
          </a:xfrm>
          <a:prstGeom prst="rect">
            <a:avLst/>
          </a:prstGeom>
          <a:noFill/>
          <a:ln/>
        </p:spPr>
        <p:txBody>
          <a:bodyPr wrap="square" rtlCol="0" anchor="ctr"/>
          <a:lstStyle/>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In 2025, AFRICOM communicated written determinations across three cases we supported, including recognition of civilian harm in all three. Determination letters dated September 2025 formally recognised civilian harm. Despite these determinations, condolence payments were refused and broader questions of remedy continued to require sustained advocacy.</a:t>
            </a:r>
            <a:endParaRPr lang="en-US" sz="1000" dirty="0"/>
          </a:p>
        </p:txBody>
      </p:sp>
      <p:sp>
        <p:nvSpPr>
          <p:cNvPr id="10" name="Shape 8"/>
          <p:cNvSpPr/>
          <p:nvPr/>
        </p:nvSpPr>
        <p:spPr>
          <a:xfrm>
            <a:off x="722376" y="5029200"/>
            <a:ext cx="6117336" cy="640080"/>
          </a:xfrm>
          <a:prstGeom prst="rect">
            <a:avLst/>
          </a:prstGeom>
          <a:solidFill>
            <a:srgbClr val="410F37"/>
          </a:solidFill>
          <a:ln/>
        </p:spPr>
        <p:txBody>
          <a:bodyPr/>
          <a:lstStyle/>
          <a:p>
            <a:endParaRPr lang="en-US"/>
          </a:p>
        </p:txBody>
      </p:sp>
      <p:sp>
        <p:nvSpPr>
          <p:cNvPr id="11" name="Text 9"/>
          <p:cNvSpPr/>
          <p:nvPr/>
        </p:nvSpPr>
        <p:spPr>
          <a:xfrm>
            <a:off x="1088136" y="5074920"/>
            <a:ext cx="5385816" cy="548640"/>
          </a:xfrm>
          <a:prstGeom prst="rect">
            <a:avLst/>
          </a:prstGeom>
          <a:noFill/>
          <a:ln/>
        </p:spPr>
        <p:txBody>
          <a:bodyPr wrap="square" rtlCol="0" anchor="ctr"/>
          <a:lstStyle/>
          <a:p>
            <a:pPr marL="0" indent="0">
              <a:buNone/>
            </a:pPr>
            <a:r>
              <a:rPr lang="en-US" sz="1400" dirty="0">
                <a:solidFill>
                  <a:srgbClr val="96FF14"/>
                </a:solidFill>
                <a:latin typeface="Fagun" pitchFamily="2" charset="77"/>
                <a:ea typeface="Georgia" pitchFamily="34" charset="-122"/>
                <a:cs typeface="Georgia" pitchFamily="34" charset="-120"/>
              </a:rPr>
              <a:t>Acknowledgment without remedy is not accountability.</a:t>
            </a:r>
            <a:endParaRPr lang="en-US" sz="1400" dirty="0"/>
          </a:p>
        </p:txBody>
      </p:sp>
      <p:sp>
        <p:nvSpPr>
          <p:cNvPr id="12" name="Text 10"/>
          <p:cNvSpPr/>
          <p:nvPr/>
        </p:nvSpPr>
        <p:spPr>
          <a:xfrm>
            <a:off x="722376" y="5943600"/>
            <a:ext cx="6117336" cy="1828800"/>
          </a:xfrm>
          <a:prstGeom prst="rect">
            <a:avLst/>
          </a:prstGeom>
          <a:noFill/>
          <a:ln/>
        </p:spPr>
        <p:txBody>
          <a:bodyPr wrap="square" rtlCol="0" anchor="ctr"/>
          <a:lstStyle/>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The written determinations represent a significant step: AFRICOM formally acknowledged that its operations caused civilian harm. However, the gap between acknowledgment and actual compensation remains a persistent challenge. hūmānus continues to press for full implementation, including financial payments and transparency about assessment processes.</a:t>
            </a:r>
            <a:endParaRPr lang="en-US" sz="1000" dirty="0"/>
          </a:p>
        </p:txBody>
      </p:sp>
      <p:sp>
        <p:nvSpPr>
          <p:cNvPr id="13" name="Text 11"/>
          <p:cNvSpPr/>
          <p:nvPr/>
        </p:nvSpPr>
        <p:spPr>
          <a:xfrm>
            <a:off x="722376" y="10186416"/>
            <a:ext cx="1828800" cy="274320"/>
          </a:xfrm>
          <a:prstGeom prst="rect">
            <a:avLst/>
          </a:prstGeom>
          <a:noFill/>
          <a:ln/>
        </p:spPr>
        <p:txBody>
          <a:bodyPr wrap="square" rtlCol="0" anchor="ctr"/>
          <a:lstStyle/>
          <a:p>
            <a:pPr marL="0" indent="0">
              <a:buNone/>
            </a:pPr>
            <a:r>
              <a:rPr lang="en-US" sz="800" dirty="0">
                <a:solidFill>
                  <a:srgbClr val="410F37">
                    <a:alpha val="30000"/>
                  </a:srgbClr>
                </a:solidFill>
                <a:latin typeface="Fagun" pitchFamily="2" charset="77"/>
                <a:ea typeface="Georgia" pitchFamily="34" charset="-122"/>
                <a:cs typeface="Georgia" pitchFamily="34" charset="-120"/>
              </a:rPr>
              <a:t>hūmānus</a:t>
            </a:r>
            <a:endParaRPr lang="en-US" sz="800" dirty="0"/>
          </a:p>
        </p:txBody>
      </p:sp>
      <p:sp>
        <p:nvSpPr>
          <p:cNvPr id="14" name="Text 12"/>
          <p:cNvSpPr/>
          <p:nvPr/>
        </p:nvSpPr>
        <p:spPr>
          <a:xfrm>
            <a:off x="5925312" y="10186416"/>
            <a:ext cx="914400" cy="274320"/>
          </a:xfrm>
          <a:prstGeom prst="rect">
            <a:avLst/>
          </a:prstGeom>
          <a:noFill/>
          <a:ln/>
        </p:spPr>
        <p:txBody>
          <a:bodyPr wrap="square" rtlCol="0" anchor="ctr"/>
          <a:lstStyle/>
          <a:p>
            <a:pPr marL="0" indent="0" algn="r">
              <a:buNone/>
            </a:pPr>
            <a:r>
              <a:rPr lang="en-US" sz="800" dirty="0">
                <a:solidFill>
                  <a:srgbClr val="E12D64"/>
                </a:solidFill>
                <a:latin typeface="Fagun" pitchFamily="2" charset="77"/>
                <a:ea typeface="Georgia" pitchFamily="34" charset="-122"/>
                <a:cs typeface="Georgia"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410F3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1000"/>
          </a:blip>
          <a:stretch>
            <a:fillRect/>
          </a:stretch>
        </p:blipFill>
        <p:spPr>
          <a:xfrm>
            <a:off x="0" y="0"/>
            <a:ext cx="7562088" cy="10689336"/>
          </a:xfrm>
          <a:prstGeom prst="rect">
            <a:avLst/>
          </a:prstGeom>
        </p:spPr>
      </p:pic>
      <p:sp>
        <p:nvSpPr>
          <p:cNvPr id="3" name="Text 0"/>
          <p:cNvSpPr/>
          <p:nvPr/>
        </p:nvSpPr>
        <p:spPr>
          <a:xfrm>
            <a:off x="722376" y="2743200"/>
            <a:ext cx="1828800" cy="2286000"/>
          </a:xfrm>
          <a:prstGeom prst="rect">
            <a:avLst/>
          </a:prstGeom>
          <a:noFill/>
          <a:ln/>
        </p:spPr>
        <p:txBody>
          <a:bodyPr wrap="square" rtlCol="0" anchor="ctr"/>
          <a:lstStyle/>
          <a:p>
            <a:pPr marL="0" indent="0">
              <a:buNone/>
            </a:pPr>
            <a:r>
              <a:rPr lang="en-US" sz="12000" dirty="0">
                <a:solidFill>
                  <a:srgbClr val="96FF14">
                    <a:alpha val="30000"/>
                  </a:srgbClr>
                </a:solidFill>
                <a:latin typeface="Fagun" pitchFamily="2" charset="77"/>
                <a:ea typeface="Georgia" pitchFamily="34" charset="-122"/>
                <a:cs typeface="Georgia" pitchFamily="34" charset="-120"/>
              </a:rPr>
              <a:t>4</a:t>
            </a:r>
            <a:endParaRPr lang="en-US" sz="12000" dirty="0"/>
          </a:p>
        </p:txBody>
      </p:sp>
      <p:sp>
        <p:nvSpPr>
          <p:cNvPr id="4" name="Text 1"/>
          <p:cNvSpPr/>
          <p:nvPr/>
        </p:nvSpPr>
        <p:spPr>
          <a:xfrm>
            <a:off x="722376" y="6858000"/>
            <a:ext cx="6117336" cy="1371600"/>
          </a:xfrm>
          <a:prstGeom prst="rect">
            <a:avLst/>
          </a:prstGeom>
          <a:noFill/>
          <a:ln/>
        </p:spPr>
        <p:txBody>
          <a:bodyPr wrap="square" rtlCol="0" anchor="ctr"/>
          <a:lstStyle/>
          <a:p>
            <a:pPr marL="0" indent="0">
              <a:lnSpc>
                <a:spcPct val="110000"/>
              </a:lnSpc>
              <a:buNone/>
            </a:pPr>
            <a:r>
              <a:rPr lang="en-US" sz="3200" dirty="0">
                <a:solidFill>
                  <a:srgbClr val="96FF14"/>
                </a:solidFill>
                <a:latin typeface="Fagun" pitchFamily="2" charset="77"/>
                <a:ea typeface="Georgia" pitchFamily="34" charset="-122"/>
                <a:cs typeface="Georgia" pitchFamily="34" charset="-120"/>
              </a:rPr>
              <a:t>Colombia:</a:t>
            </a:r>
            <a:endParaRPr lang="en-US" sz="3200" dirty="0"/>
          </a:p>
          <a:p>
            <a:pPr marL="0" indent="0">
              <a:lnSpc>
                <a:spcPct val="110000"/>
              </a:lnSpc>
              <a:buNone/>
            </a:pPr>
            <a:r>
              <a:rPr lang="en-US" sz="3200" dirty="0">
                <a:solidFill>
                  <a:srgbClr val="96FF14"/>
                </a:solidFill>
                <a:latin typeface="Fagun" pitchFamily="2" charset="77"/>
                <a:ea typeface="Georgia" pitchFamily="34" charset="-122"/>
                <a:cs typeface="Georgia" pitchFamily="34" charset="-120"/>
              </a:rPr>
              <a:t>Forces of</a:t>
            </a:r>
            <a:endParaRPr lang="en-US" sz="3200" dirty="0"/>
          </a:p>
          <a:p>
            <a:pPr marL="0" indent="0">
              <a:lnSpc>
                <a:spcPct val="110000"/>
              </a:lnSpc>
              <a:buNone/>
            </a:pPr>
            <a:r>
              <a:rPr lang="en-US" sz="3200" dirty="0">
                <a:solidFill>
                  <a:srgbClr val="96FF14"/>
                </a:solidFill>
                <a:latin typeface="Fagun" pitchFamily="2" charset="77"/>
                <a:ea typeface="Georgia" pitchFamily="34" charset="-122"/>
                <a:cs typeface="Georgia" pitchFamily="34" charset="-120"/>
              </a:rPr>
              <a:t>Inspiration</a:t>
            </a:r>
            <a:endParaRPr lang="en-US" sz="3200" dirty="0"/>
          </a:p>
        </p:txBody>
      </p:sp>
      <p:sp>
        <p:nvSpPr>
          <p:cNvPr id="5" name="Text 2"/>
          <p:cNvSpPr/>
          <p:nvPr/>
        </p:nvSpPr>
        <p:spPr>
          <a:xfrm>
            <a:off x="722376" y="8229600"/>
            <a:ext cx="6117336" cy="731520"/>
          </a:xfrm>
          <a:prstGeom prst="rect">
            <a:avLst/>
          </a:prstGeom>
          <a:noFill/>
          <a:ln/>
        </p:spPr>
        <p:txBody>
          <a:bodyPr wrap="square" rtlCol="0" anchor="ctr"/>
          <a:lstStyle/>
          <a:p>
            <a:pPr marL="0" indent="0">
              <a:lnSpc>
                <a:spcPct val="140000"/>
              </a:lnSpc>
              <a:buNone/>
            </a:pPr>
            <a:r>
              <a:rPr lang="en-US" sz="1400" dirty="0">
                <a:solidFill>
                  <a:srgbClr val="FFFFFF">
                    <a:alpha val="75000"/>
                  </a:srgbClr>
                </a:solidFill>
                <a:latin typeface="Fagun" pitchFamily="2" charset="77"/>
                <a:ea typeface="Georgia" pitchFamily="34" charset="-122"/>
                <a:cs typeface="Georgia" pitchFamily="34" charset="-120"/>
              </a:rPr>
              <a:t>Sport, solidarity, and the power of visibility</a:t>
            </a:r>
            <a:endParaRPr lang="en-US" sz="1400" dirty="0"/>
          </a:p>
        </p:txBody>
      </p:sp>
      <p:sp>
        <p:nvSpPr>
          <p:cNvPr id="6" name="Text 3"/>
          <p:cNvSpPr/>
          <p:nvPr/>
        </p:nvSpPr>
        <p:spPr>
          <a:xfrm>
            <a:off x="722376" y="10186416"/>
            <a:ext cx="1828800" cy="274320"/>
          </a:xfrm>
          <a:prstGeom prst="rect">
            <a:avLst/>
          </a:prstGeom>
          <a:noFill/>
          <a:ln/>
        </p:spPr>
        <p:txBody>
          <a:bodyPr wrap="square" rtlCol="0" anchor="ctr"/>
          <a:lstStyle/>
          <a:p>
            <a:pPr marL="0" indent="0">
              <a:buNone/>
            </a:pPr>
            <a:r>
              <a:rPr lang="en-US" sz="800" dirty="0">
                <a:solidFill>
                  <a:srgbClr val="96FF14">
                    <a:alpha val="30000"/>
                  </a:srgbClr>
                </a:solidFill>
                <a:latin typeface="Fagun" pitchFamily="2" charset="77"/>
                <a:ea typeface="Georgia" pitchFamily="34" charset="-122"/>
                <a:cs typeface="Georgia" pitchFamily="34" charset="-120"/>
              </a:rPr>
              <a:t>hūmānus</a:t>
            </a:r>
            <a:endParaRPr lang="en-US" sz="800" dirty="0"/>
          </a:p>
        </p:txBody>
      </p:sp>
      <p:sp>
        <p:nvSpPr>
          <p:cNvPr id="7" name="Text 4"/>
          <p:cNvSpPr/>
          <p:nvPr/>
        </p:nvSpPr>
        <p:spPr>
          <a:xfrm>
            <a:off x="5925312" y="10186416"/>
            <a:ext cx="914400" cy="274320"/>
          </a:xfrm>
          <a:prstGeom prst="rect">
            <a:avLst/>
          </a:prstGeom>
          <a:noFill/>
          <a:ln/>
        </p:spPr>
        <p:txBody>
          <a:bodyPr wrap="square" rtlCol="0" anchor="ctr"/>
          <a:lstStyle/>
          <a:p>
            <a:pPr marL="0" indent="0" algn="r">
              <a:buNone/>
            </a:pPr>
            <a:r>
              <a:rPr lang="en-US" sz="800" dirty="0">
                <a:solidFill>
                  <a:srgbClr val="FFFFFF">
                    <a:alpha val="60000"/>
                  </a:srgbClr>
                </a:solidFill>
                <a:latin typeface="Fagun" pitchFamily="2" charset="77"/>
                <a:ea typeface="Georgia" pitchFamily="34" charset="-122"/>
                <a:cs typeface="Georgia"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562088" cy="109728"/>
          </a:xfrm>
          <a:prstGeom prst="rect">
            <a:avLst/>
          </a:prstGeom>
          <a:solidFill>
            <a:srgbClr val="410F37"/>
          </a:solidFill>
          <a:ln/>
        </p:spPr>
        <p:txBody>
          <a:bodyPr/>
          <a:lstStyle/>
          <a:p>
            <a:endParaRPr lang="en-US"/>
          </a:p>
        </p:txBody>
      </p:sp>
      <p:sp>
        <p:nvSpPr>
          <p:cNvPr id="3" name="Text 1"/>
          <p:cNvSpPr/>
          <p:nvPr/>
        </p:nvSpPr>
        <p:spPr>
          <a:xfrm>
            <a:off x="722376" y="320040"/>
            <a:ext cx="6117336" cy="320040"/>
          </a:xfrm>
          <a:prstGeom prst="rect">
            <a:avLst/>
          </a:prstGeom>
          <a:noFill/>
          <a:ln/>
        </p:spPr>
        <p:txBody>
          <a:bodyPr wrap="square" rtlCol="0" anchor="ctr"/>
          <a:lstStyle/>
          <a:p>
            <a:pPr marL="0" indent="0">
              <a:buNone/>
            </a:pPr>
            <a:r>
              <a:rPr lang="en-US" sz="750" dirty="0">
                <a:solidFill>
                  <a:srgbClr val="8D7081"/>
                </a:solidFill>
                <a:latin typeface="Fagun" pitchFamily="2" charset="77"/>
                <a:ea typeface="Georgia" pitchFamily="34" charset="-122"/>
                <a:cs typeface="Georgia" pitchFamily="34" charset="-120"/>
              </a:rPr>
              <a:t>4. Colombia: Forces of Inspiration</a:t>
            </a:r>
            <a:endParaRPr lang="en-US" sz="750" dirty="0"/>
          </a:p>
        </p:txBody>
      </p:sp>
      <p:sp>
        <p:nvSpPr>
          <p:cNvPr id="4" name="Shape 2"/>
          <p:cNvSpPr/>
          <p:nvPr/>
        </p:nvSpPr>
        <p:spPr>
          <a:xfrm>
            <a:off x="722376" y="658368"/>
            <a:ext cx="6117336" cy="0"/>
          </a:xfrm>
          <a:prstGeom prst="line">
            <a:avLst/>
          </a:prstGeom>
          <a:noFill/>
          <a:ln w="6350">
            <a:solidFill>
              <a:srgbClr val="D9CFCB"/>
            </a:solidFill>
            <a:prstDash val="solid"/>
          </a:ln>
        </p:spPr>
        <p:txBody>
          <a:bodyPr/>
          <a:lstStyle/>
          <a:p>
            <a:endParaRPr lang="en-US"/>
          </a:p>
        </p:txBody>
      </p:sp>
      <p:sp>
        <p:nvSpPr>
          <p:cNvPr id="7" name="Text 5"/>
          <p:cNvSpPr/>
          <p:nvPr/>
        </p:nvSpPr>
        <p:spPr>
          <a:xfrm>
            <a:off x="722376" y="1417320"/>
            <a:ext cx="2967228" cy="457200"/>
          </a:xfrm>
          <a:prstGeom prst="rect">
            <a:avLst/>
          </a:prstGeom>
          <a:noFill/>
          <a:ln/>
        </p:spPr>
        <p:txBody>
          <a:bodyPr wrap="square" rtlCol="0" anchor="ctr"/>
          <a:lstStyle/>
          <a:p>
            <a:pPr marL="0" indent="0" algn="ctr">
              <a:lnSpc>
                <a:spcPct val="130000"/>
              </a:lnSpc>
              <a:buNone/>
            </a:pPr>
            <a:r>
              <a:rPr lang="en-US" sz="800" dirty="0">
                <a:solidFill>
                  <a:srgbClr val="FFFFFF"/>
                </a:solidFill>
                <a:latin typeface="Fagun" pitchFamily="2" charset="77"/>
                <a:ea typeface="Georgia" pitchFamily="34" charset="-122"/>
                <a:cs typeface="Georgia" pitchFamily="34" charset="-120"/>
              </a:rPr>
              <a:t>open water swim</a:t>
            </a:r>
            <a:endParaRPr lang="en-US" sz="800" dirty="0"/>
          </a:p>
          <a:p>
            <a:pPr marL="0" indent="0" algn="ctr">
              <a:lnSpc>
                <a:spcPct val="130000"/>
              </a:lnSpc>
              <a:buNone/>
            </a:pPr>
            <a:r>
              <a:rPr lang="en-US" sz="800" dirty="0">
                <a:solidFill>
                  <a:srgbClr val="FFFFFF"/>
                </a:solidFill>
                <a:latin typeface="Fagun" pitchFamily="2" charset="77"/>
                <a:ea typeface="Georgia" pitchFamily="34" charset="-122"/>
                <a:cs typeface="Georgia" pitchFamily="34" charset="-120"/>
              </a:rPr>
              <a:t>Juanchaco to Buenaventura</a:t>
            </a:r>
            <a:endParaRPr lang="en-US" sz="800" dirty="0"/>
          </a:p>
        </p:txBody>
      </p:sp>
      <p:sp>
        <p:nvSpPr>
          <p:cNvPr id="10" name="Text 8"/>
          <p:cNvSpPr/>
          <p:nvPr/>
        </p:nvSpPr>
        <p:spPr>
          <a:xfrm>
            <a:off x="3872484" y="1417320"/>
            <a:ext cx="2967228" cy="457200"/>
          </a:xfrm>
          <a:prstGeom prst="rect">
            <a:avLst/>
          </a:prstGeom>
          <a:noFill/>
          <a:ln/>
        </p:spPr>
        <p:txBody>
          <a:bodyPr wrap="square" rtlCol="0" anchor="ctr"/>
          <a:lstStyle/>
          <a:p>
            <a:pPr marL="0" indent="0" algn="ctr">
              <a:lnSpc>
                <a:spcPct val="130000"/>
              </a:lnSpc>
              <a:buNone/>
            </a:pPr>
            <a:r>
              <a:rPr lang="en-US" sz="800" dirty="0">
                <a:solidFill>
                  <a:srgbClr val="FFFFFF"/>
                </a:solidFill>
                <a:latin typeface="Fagun" pitchFamily="2" charset="77"/>
                <a:ea typeface="Georgia" pitchFamily="34" charset="-122"/>
                <a:cs typeface="Georgia" pitchFamily="34" charset="-120"/>
              </a:rPr>
              <a:t>increase in hotel</a:t>
            </a:r>
            <a:endParaRPr lang="en-US" sz="800" dirty="0"/>
          </a:p>
          <a:p>
            <a:pPr marL="0" indent="0" algn="ctr">
              <a:lnSpc>
                <a:spcPct val="130000"/>
              </a:lnSpc>
              <a:buNone/>
            </a:pPr>
            <a:r>
              <a:rPr lang="en-US" sz="800" dirty="0">
                <a:solidFill>
                  <a:srgbClr val="FFFFFF"/>
                </a:solidFill>
                <a:latin typeface="Fagun" pitchFamily="2" charset="77"/>
                <a:ea typeface="Georgia" pitchFamily="34" charset="-122"/>
                <a:cs typeface="Georgia" pitchFamily="34" charset="-120"/>
              </a:rPr>
              <a:t>occupancy post-event</a:t>
            </a:r>
            <a:endParaRPr lang="en-US" sz="800" dirty="0"/>
          </a:p>
        </p:txBody>
      </p:sp>
      <p:sp>
        <p:nvSpPr>
          <p:cNvPr id="11" name="Text 9"/>
          <p:cNvSpPr/>
          <p:nvPr/>
        </p:nvSpPr>
        <p:spPr>
          <a:xfrm>
            <a:off x="722376" y="2103120"/>
            <a:ext cx="6117336" cy="2743200"/>
          </a:xfrm>
          <a:prstGeom prst="rect">
            <a:avLst/>
          </a:prstGeom>
          <a:noFill/>
          <a:ln/>
        </p:spPr>
        <p:txBody>
          <a:bodyPr wrap="square" rtlCol="0" anchor="ctr"/>
          <a:lstStyle/>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In 2025, hūmānus' Executive Director Eva Buzo undertook a 40-kilometre open water swim from Juanchaco to Buenaventura along Colombia's Pacific coast, hosted by the Open Society Foundations as part of their "Forces of Inspiration" campaign. The swim was designed to celebrate and amplify the work of civil society groups in Buenaventura leading anti-violence initiatives.</a:t>
            </a:r>
            <a:endParaRPr lang="en-US" sz="1000" dirty="0"/>
          </a:p>
          <a:p>
            <a:pPr marL="0" indent="0" algn="just">
              <a:lnSpc>
                <a:spcPct val="160000"/>
              </a:lnSpc>
              <a:buNone/>
            </a:pPr>
            <a:endParaRPr lang="en-US" sz="1000" dirty="0"/>
          </a:p>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The event took place against a challenging backdrop. In the week before the swim, Colombia was struck by attacks by armed actors, including in Buenaventura and nearby Cali. After consulting with local partners, the decision was made to proceed.</a:t>
            </a:r>
            <a:endParaRPr lang="en-US" sz="1000" dirty="0"/>
          </a:p>
        </p:txBody>
      </p:sp>
      <p:sp>
        <p:nvSpPr>
          <p:cNvPr id="12" name="Shape 10"/>
          <p:cNvSpPr/>
          <p:nvPr/>
        </p:nvSpPr>
        <p:spPr>
          <a:xfrm>
            <a:off x="722376" y="5029200"/>
            <a:ext cx="6117336" cy="640080"/>
          </a:xfrm>
          <a:prstGeom prst="rect">
            <a:avLst/>
          </a:prstGeom>
          <a:solidFill>
            <a:srgbClr val="410F37"/>
          </a:solidFill>
          <a:ln/>
        </p:spPr>
        <p:txBody>
          <a:bodyPr/>
          <a:lstStyle/>
          <a:p>
            <a:endParaRPr lang="en-US"/>
          </a:p>
        </p:txBody>
      </p:sp>
      <p:sp>
        <p:nvSpPr>
          <p:cNvPr id="13" name="Text 11"/>
          <p:cNvSpPr/>
          <p:nvPr/>
        </p:nvSpPr>
        <p:spPr>
          <a:xfrm>
            <a:off x="1088136" y="5074920"/>
            <a:ext cx="5385816" cy="548640"/>
          </a:xfrm>
          <a:prstGeom prst="rect">
            <a:avLst/>
          </a:prstGeom>
          <a:noFill/>
          <a:ln/>
        </p:spPr>
        <p:txBody>
          <a:bodyPr wrap="square" rtlCol="0" anchor="ctr"/>
          <a:lstStyle/>
          <a:p>
            <a:pPr marL="0" indent="0">
              <a:buNone/>
            </a:pPr>
            <a:r>
              <a:rPr lang="en-US" sz="1400" dirty="0">
                <a:solidFill>
                  <a:srgbClr val="96FF14"/>
                </a:solidFill>
                <a:latin typeface="Fagun" pitchFamily="2" charset="77"/>
                <a:ea typeface="Georgia" pitchFamily="34" charset="-122"/>
                <a:cs typeface="Georgia" pitchFamily="34" charset="-120"/>
              </a:rPr>
              <a:t>A message of peace and resilience was needed more than ever.</a:t>
            </a:r>
            <a:endParaRPr lang="en-US" sz="1400" dirty="0"/>
          </a:p>
        </p:txBody>
      </p:sp>
      <p:sp>
        <p:nvSpPr>
          <p:cNvPr id="14" name="Text 12"/>
          <p:cNvSpPr/>
          <p:nvPr/>
        </p:nvSpPr>
        <p:spPr>
          <a:xfrm>
            <a:off x="722376" y="5943600"/>
            <a:ext cx="6117336" cy="2286000"/>
          </a:xfrm>
          <a:prstGeom prst="rect">
            <a:avLst/>
          </a:prstGeom>
          <a:noFill/>
          <a:ln/>
        </p:spPr>
        <p:txBody>
          <a:bodyPr wrap="square" rtlCol="0" anchor="ctr"/>
          <a:lstStyle/>
          <a:p>
            <a:pPr marL="0" indent="0" algn="just">
              <a:lnSpc>
                <a:spcPct val="160000"/>
              </a:lnSpc>
              <a:buNone/>
            </a:pPr>
            <a:r>
              <a:rPr lang="en-US" sz="1000" dirty="0">
                <a:solidFill>
                  <a:srgbClr val="410F37"/>
                </a:solidFill>
                <a:latin typeface="Fagun" pitchFamily="2" charset="77"/>
                <a:ea typeface="Georgia" pitchFamily="34" charset="-122"/>
                <a:cs typeface="Georgia" pitchFamily="34" charset="-120"/>
              </a:rPr>
              <a:t>The swim was gruelling: starting at 2:00 a.m. in darkness, navigating torrential storms, unpredictable tides, and the notoriously rough stretch known locally as el paso de tigre. Thousands gathered at Buenaventura's Malecón to welcome the completion. Hotel occupancy increased by 40 percent. The swim served as a circuit breaker from the city's narrative of violence, and provided a platform for local civil society groups to be recognised for their work building peace.</a:t>
            </a:r>
            <a:endParaRPr lang="en-US" sz="1000" dirty="0"/>
          </a:p>
        </p:txBody>
      </p:sp>
      <p:sp>
        <p:nvSpPr>
          <p:cNvPr id="15" name="Text 13"/>
          <p:cNvSpPr/>
          <p:nvPr/>
        </p:nvSpPr>
        <p:spPr>
          <a:xfrm>
            <a:off x="722376" y="10186416"/>
            <a:ext cx="1828800" cy="274320"/>
          </a:xfrm>
          <a:prstGeom prst="rect">
            <a:avLst/>
          </a:prstGeom>
          <a:noFill/>
          <a:ln/>
        </p:spPr>
        <p:txBody>
          <a:bodyPr wrap="square" rtlCol="0" anchor="ctr"/>
          <a:lstStyle/>
          <a:p>
            <a:pPr marL="0" indent="0">
              <a:buNone/>
            </a:pPr>
            <a:r>
              <a:rPr lang="en-US" sz="800" dirty="0">
                <a:solidFill>
                  <a:srgbClr val="410F37">
                    <a:alpha val="30000"/>
                  </a:srgbClr>
                </a:solidFill>
                <a:latin typeface="Fagun" pitchFamily="2" charset="77"/>
                <a:ea typeface="Georgia" pitchFamily="34" charset="-122"/>
                <a:cs typeface="Georgia" pitchFamily="34" charset="-120"/>
              </a:rPr>
              <a:t>hūmānus</a:t>
            </a:r>
            <a:endParaRPr lang="en-US" sz="800" dirty="0"/>
          </a:p>
        </p:txBody>
      </p:sp>
      <p:sp>
        <p:nvSpPr>
          <p:cNvPr id="16" name="Text 14"/>
          <p:cNvSpPr/>
          <p:nvPr/>
        </p:nvSpPr>
        <p:spPr>
          <a:xfrm>
            <a:off x="5925312" y="10186416"/>
            <a:ext cx="914400" cy="274320"/>
          </a:xfrm>
          <a:prstGeom prst="rect">
            <a:avLst/>
          </a:prstGeom>
          <a:noFill/>
          <a:ln/>
        </p:spPr>
        <p:txBody>
          <a:bodyPr wrap="square" rtlCol="0" anchor="ctr"/>
          <a:lstStyle/>
          <a:p>
            <a:pPr marL="0" indent="0" algn="r">
              <a:buNone/>
            </a:pPr>
            <a:r>
              <a:rPr lang="en-US" sz="800" dirty="0">
                <a:solidFill>
                  <a:srgbClr val="E12D64"/>
                </a:solidFill>
                <a:latin typeface="Fagun" pitchFamily="2" charset="77"/>
                <a:ea typeface="Georgia" pitchFamily="34" charset="-122"/>
                <a:cs typeface="Georgia"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562088" cy="109728"/>
          </a:xfrm>
          <a:prstGeom prst="rect">
            <a:avLst/>
          </a:prstGeom>
          <a:solidFill>
            <a:srgbClr val="410F37"/>
          </a:solidFill>
          <a:ln/>
        </p:spPr>
        <p:txBody>
          <a:bodyPr/>
          <a:lstStyle/>
          <a:p>
            <a:endParaRPr lang="en-US"/>
          </a:p>
        </p:txBody>
      </p:sp>
      <p:sp>
        <p:nvSpPr>
          <p:cNvPr id="3" name="Text 1"/>
          <p:cNvSpPr/>
          <p:nvPr/>
        </p:nvSpPr>
        <p:spPr>
          <a:xfrm>
            <a:off x="722376" y="320040"/>
            <a:ext cx="6117336" cy="320040"/>
          </a:xfrm>
          <a:prstGeom prst="rect">
            <a:avLst/>
          </a:prstGeom>
          <a:noFill/>
          <a:ln/>
        </p:spPr>
        <p:txBody>
          <a:bodyPr wrap="square" rtlCol="0" anchor="ctr"/>
          <a:lstStyle/>
          <a:p>
            <a:pPr marL="0" indent="0">
              <a:buNone/>
            </a:pPr>
            <a:r>
              <a:rPr lang="en-US" sz="750" dirty="0">
                <a:solidFill>
                  <a:srgbClr val="8D7081"/>
                </a:solidFill>
                <a:latin typeface="Fagun" pitchFamily="2" charset="77"/>
                <a:ea typeface="Georgia" pitchFamily="34" charset="-122"/>
                <a:cs typeface="Georgia" pitchFamily="34" charset="-120"/>
              </a:rPr>
              <a:t>Financial Report</a:t>
            </a:r>
            <a:endParaRPr lang="en-US" sz="750" dirty="0"/>
          </a:p>
        </p:txBody>
      </p:sp>
      <p:sp>
        <p:nvSpPr>
          <p:cNvPr id="4" name="Shape 2"/>
          <p:cNvSpPr/>
          <p:nvPr/>
        </p:nvSpPr>
        <p:spPr>
          <a:xfrm>
            <a:off x="722376" y="658368"/>
            <a:ext cx="6117336" cy="0"/>
          </a:xfrm>
          <a:prstGeom prst="line">
            <a:avLst/>
          </a:prstGeom>
          <a:noFill/>
          <a:ln w="6350">
            <a:solidFill>
              <a:srgbClr val="D9CFCB"/>
            </a:solidFill>
            <a:prstDash val="solid"/>
          </a:ln>
        </p:spPr>
        <p:txBody>
          <a:bodyPr/>
          <a:lstStyle/>
          <a:p>
            <a:endParaRPr lang="en-US"/>
          </a:p>
        </p:txBody>
      </p:sp>
      <p:pic>
        <p:nvPicPr>
          <p:cNvPr id="5" name="Image 0" descr="preencoded.png"/>
          <p:cNvPicPr>
            <a:picLocks noChangeAspect="1"/>
          </p:cNvPicPr>
          <p:nvPr/>
        </p:nvPicPr>
        <p:blipFill>
          <a:blip r:embed="rId3">
            <a:alphaModFix amt="4000"/>
          </a:blip>
          <a:stretch>
            <a:fillRect/>
          </a:stretch>
        </p:blipFill>
        <p:spPr>
          <a:xfrm>
            <a:off x="4818888" y="8403336"/>
            <a:ext cx="2743200" cy="1828800"/>
          </a:xfrm>
          <a:prstGeom prst="rect">
            <a:avLst/>
          </a:prstGeom>
        </p:spPr>
      </p:pic>
      <p:sp>
        <p:nvSpPr>
          <p:cNvPr id="6" name="Text 3"/>
          <p:cNvSpPr/>
          <p:nvPr/>
        </p:nvSpPr>
        <p:spPr>
          <a:xfrm>
            <a:off x="722376" y="822960"/>
            <a:ext cx="6117336" cy="548640"/>
          </a:xfrm>
          <a:prstGeom prst="rect">
            <a:avLst/>
          </a:prstGeom>
          <a:noFill/>
          <a:ln/>
        </p:spPr>
        <p:txBody>
          <a:bodyPr wrap="square" rtlCol="0" anchor="ctr"/>
          <a:lstStyle/>
          <a:p>
            <a:pPr marL="0" indent="0">
              <a:buNone/>
            </a:pPr>
            <a:r>
              <a:rPr lang="en-US" sz="2200" dirty="0">
                <a:solidFill>
                  <a:srgbClr val="410F37"/>
                </a:solidFill>
                <a:latin typeface="Fagun" pitchFamily="2" charset="77"/>
                <a:ea typeface="Georgia" pitchFamily="34" charset="-122"/>
                <a:cs typeface="Georgia" pitchFamily="34" charset="-120"/>
              </a:rPr>
              <a:t>Financial Report</a:t>
            </a:r>
            <a:endParaRPr lang="en-US" sz="2200" dirty="0"/>
          </a:p>
        </p:txBody>
      </p:sp>
      <p:sp>
        <p:nvSpPr>
          <p:cNvPr id="7" name="Text 4"/>
          <p:cNvSpPr/>
          <p:nvPr/>
        </p:nvSpPr>
        <p:spPr>
          <a:xfrm>
            <a:off x="722376" y="1417320"/>
            <a:ext cx="6117336" cy="228600"/>
          </a:xfrm>
          <a:prstGeom prst="rect">
            <a:avLst/>
          </a:prstGeom>
          <a:noFill/>
          <a:ln/>
        </p:spPr>
        <p:txBody>
          <a:bodyPr wrap="square" rtlCol="0" anchor="ctr"/>
          <a:lstStyle/>
          <a:p>
            <a:pPr marL="0" indent="0">
              <a:buNone/>
            </a:pPr>
            <a:r>
              <a:rPr lang="en-US" sz="900" dirty="0">
                <a:solidFill>
                  <a:srgbClr val="8D7081"/>
                </a:solidFill>
                <a:latin typeface="Fagun" pitchFamily="2" charset="77"/>
                <a:ea typeface="Georgia" pitchFamily="34" charset="-122"/>
                <a:cs typeface="Georgia" pitchFamily="34" charset="-120"/>
              </a:rPr>
              <a:t>Profit and Loss for the year ended 31 December 2025. All figures in USD.</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22376" y="1737360"/>
          <a:ext cx="6035040" cy="4745736"/>
        </p:xfrm>
        <a:graphic>
          <a:graphicData uri="http://schemas.openxmlformats.org/drawingml/2006/table">
            <a:tbl>
              <a:tblPr/>
              <a:tblGrid>
                <a:gridCol w="32918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74320">
                <a:tc>
                  <a:txBody>
                    <a:bodyPr/>
                    <a:lstStyle/>
                    <a:p>
                      <a:pPr marL="0" indent="0">
                        <a:buNone/>
                      </a:pPr>
                      <a:r>
                        <a:rPr lang="en-US" sz="950" b="0" i="0" dirty="0">
                          <a:solidFill>
                            <a:srgbClr val="FFFFFF"/>
                          </a:solidFill>
                          <a:latin typeface="Fagun" pitchFamily="2" charset="77"/>
                          <a:ea typeface="Georgia" pitchFamily="34" charset="-122"/>
                          <a:cs typeface="Georgia" pitchFamily="34" charset="-120"/>
                        </a:rPr>
                        <a:t>Category</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solidFill>
                      <a:srgbClr val="410F37"/>
                    </a:solidFill>
                  </a:tcPr>
                </a:tc>
                <a:tc>
                  <a:txBody>
                    <a:bodyPr/>
                    <a:lstStyle/>
                    <a:p>
                      <a:pPr marL="0" indent="0" algn="r">
                        <a:buNone/>
                      </a:pPr>
                      <a:r>
                        <a:rPr lang="en-US" sz="950" b="0" i="0" dirty="0">
                          <a:solidFill>
                            <a:srgbClr val="FFFFFF"/>
                          </a:solidFill>
                          <a:latin typeface="Fagun" pitchFamily="2" charset="77"/>
                          <a:ea typeface="Georgia" pitchFamily="34" charset="-122"/>
                          <a:cs typeface="Georgia" pitchFamily="34" charset="-120"/>
                        </a:rPr>
                        <a:t>2025 (USD)</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solidFill>
                      <a:srgbClr val="410F37"/>
                    </a:solidFill>
                  </a:tcPr>
                </a:tc>
                <a:tc>
                  <a:txBody>
                    <a:bodyPr/>
                    <a:lstStyle/>
                    <a:p>
                      <a:pPr marL="0" indent="0" algn="r">
                        <a:buNone/>
                      </a:pPr>
                      <a:r>
                        <a:rPr lang="en-US" sz="950" b="0" i="0" dirty="0">
                          <a:solidFill>
                            <a:srgbClr val="FFFFFF"/>
                          </a:solidFill>
                          <a:latin typeface="Fagun" pitchFamily="2" charset="77"/>
                          <a:ea typeface="Georgia" pitchFamily="34" charset="-122"/>
                          <a:cs typeface="Georgia" pitchFamily="34" charset="-120"/>
                        </a:rPr>
                        <a:t>2024 (USD)</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solidFill>
                      <a:srgbClr val="410F37"/>
                    </a:solidFill>
                  </a:tcPr>
                </a:tc>
                <a:extLst>
                  <a:ext uri="{0D108BD9-81ED-4DB2-BD59-A6C34878D82A}">
                    <a16:rowId xmlns:a16="http://schemas.microsoft.com/office/drawing/2014/main" val="10000"/>
                  </a:ext>
                </a:extLst>
              </a:tr>
              <a:tr h="256032">
                <a:tc>
                  <a:txBody>
                    <a:bodyPr/>
                    <a:lstStyle/>
                    <a:p>
                      <a:pPr marL="0" indent="0">
                        <a:buNone/>
                      </a:pPr>
                      <a:r>
                        <a:rPr lang="en-US" sz="950" b="0" i="0" dirty="0">
                          <a:solidFill>
                            <a:srgbClr val="410F37"/>
                          </a:solidFill>
                          <a:latin typeface="Fagun" pitchFamily="2" charset="77"/>
                          <a:ea typeface="Georgia" pitchFamily="34" charset="-122"/>
                          <a:cs typeface="Georgia" pitchFamily="34" charset="-120"/>
                        </a:rPr>
                        <a:t>Income</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buNone/>
                      </a:pP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buNone/>
                      </a:pP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950" b="0" i="0" dirty="0">
                          <a:solidFill>
                            <a:srgbClr val="410F37"/>
                          </a:solidFill>
                          <a:latin typeface="Fagun" pitchFamily="2" charset="77"/>
                          <a:ea typeface="Georgia" pitchFamily="34" charset="-122"/>
                          <a:cs typeface="Georgia" pitchFamily="34" charset="-120"/>
                        </a:rPr>
                        <a:t>  Grant income</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171,034</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599,292</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950" b="0" i="0" dirty="0">
                          <a:solidFill>
                            <a:srgbClr val="410F37"/>
                          </a:solidFill>
                          <a:latin typeface="Fagun" pitchFamily="2" charset="77"/>
                          <a:ea typeface="Georgia" pitchFamily="34" charset="-122"/>
                          <a:cs typeface="Georgia" pitchFamily="34" charset="-120"/>
                        </a:rPr>
                        <a:t>  Interest income</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2,783</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4,353</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950" b="0" i="0" dirty="0">
                          <a:solidFill>
                            <a:srgbClr val="410F37"/>
                          </a:solidFill>
                          <a:latin typeface="Fagun" pitchFamily="2" charset="77"/>
                          <a:ea typeface="Georgia" pitchFamily="34" charset="-122"/>
                          <a:cs typeface="Georgia" pitchFamily="34" charset="-120"/>
                        </a:rPr>
                        <a:t>Total Income</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solidFill>
                      <a:srgbClr val="EAFFD0"/>
                    </a:solidFill>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173,818</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solidFill>
                      <a:srgbClr val="EAFFD0"/>
                    </a:solidFill>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603,645</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solidFill>
                      <a:srgbClr val="EAFFD0"/>
                    </a:solidFill>
                  </a:tcPr>
                </a:tc>
                <a:extLst>
                  <a:ext uri="{0D108BD9-81ED-4DB2-BD59-A6C34878D82A}">
                    <a16:rowId xmlns:a16="http://schemas.microsoft.com/office/drawing/2014/main" val="10004"/>
                  </a:ext>
                </a:extLst>
              </a:tr>
              <a:tr h="256032">
                <a:tc>
                  <a:txBody>
                    <a:bodyPr/>
                    <a:lstStyle/>
                    <a:p>
                      <a:pPr marL="0" indent="0">
                        <a:buNone/>
                      </a:pPr>
                      <a:r>
                        <a:rPr lang="en-US" sz="950" b="0" i="0" dirty="0">
                          <a:solidFill>
                            <a:srgbClr val="410F37"/>
                          </a:solidFill>
                          <a:latin typeface="Fagun" pitchFamily="2" charset="77"/>
                          <a:ea typeface="Georgia" pitchFamily="34" charset="-122"/>
                          <a:cs typeface="Georgia" pitchFamily="34" charset="-120"/>
                        </a:rPr>
                        <a:t>Programme Costs</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buNone/>
                      </a:pP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buNone/>
                      </a:pP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950" b="0" i="0" dirty="0">
                          <a:solidFill>
                            <a:srgbClr val="410F37"/>
                          </a:solidFill>
                          <a:latin typeface="Fagun" pitchFamily="2" charset="77"/>
                          <a:ea typeface="Georgia" pitchFamily="34" charset="-122"/>
                          <a:cs typeface="Georgia" pitchFamily="34" charset="-120"/>
                        </a:rPr>
                        <a:t>  Personnel</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301,370</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298,797</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extLst>
                  <a:ext uri="{0D108BD9-81ED-4DB2-BD59-A6C34878D82A}">
                    <a16:rowId xmlns:a16="http://schemas.microsoft.com/office/drawing/2014/main" val="10006"/>
                  </a:ext>
                </a:extLst>
              </a:tr>
              <a:tr h="256032">
                <a:tc>
                  <a:txBody>
                    <a:bodyPr/>
                    <a:lstStyle/>
                    <a:p>
                      <a:pPr marL="0" indent="0">
                        <a:buNone/>
                      </a:pPr>
                      <a:r>
                        <a:rPr lang="en-US" sz="950" b="0" i="0" dirty="0">
                          <a:solidFill>
                            <a:srgbClr val="410F37"/>
                          </a:solidFill>
                          <a:latin typeface="Fagun" pitchFamily="2" charset="77"/>
                          <a:ea typeface="Georgia" pitchFamily="34" charset="-122"/>
                          <a:cs typeface="Georgia" pitchFamily="34" charset="-120"/>
                        </a:rPr>
                        <a:t>  Partner grants</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57,921</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33,553</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extLst>
                  <a:ext uri="{0D108BD9-81ED-4DB2-BD59-A6C34878D82A}">
                    <a16:rowId xmlns:a16="http://schemas.microsoft.com/office/drawing/2014/main" val="10007"/>
                  </a:ext>
                </a:extLst>
              </a:tr>
              <a:tr h="256032">
                <a:tc>
                  <a:txBody>
                    <a:bodyPr/>
                    <a:lstStyle/>
                    <a:p>
                      <a:pPr marL="0" indent="0">
                        <a:buNone/>
                      </a:pPr>
                      <a:r>
                        <a:rPr lang="en-US" sz="950" b="0" i="0" dirty="0">
                          <a:solidFill>
                            <a:srgbClr val="410F37"/>
                          </a:solidFill>
                          <a:latin typeface="Fagun" pitchFamily="2" charset="77"/>
                          <a:ea typeface="Georgia" pitchFamily="34" charset="-122"/>
                          <a:cs typeface="Georgia" pitchFamily="34" charset="-120"/>
                        </a:rPr>
                        <a:t>  Travel &amp; subsistence</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109,634</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80,842</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extLst>
                  <a:ext uri="{0D108BD9-81ED-4DB2-BD59-A6C34878D82A}">
                    <a16:rowId xmlns:a16="http://schemas.microsoft.com/office/drawing/2014/main" val="10008"/>
                  </a:ext>
                </a:extLst>
              </a:tr>
              <a:tr h="256032">
                <a:tc>
                  <a:txBody>
                    <a:bodyPr/>
                    <a:lstStyle/>
                    <a:p>
                      <a:pPr marL="0" indent="0">
                        <a:buNone/>
                      </a:pPr>
                      <a:r>
                        <a:rPr lang="en-US" sz="950" b="0" i="0" dirty="0">
                          <a:solidFill>
                            <a:srgbClr val="410F37"/>
                          </a:solidFill>
                          <a:latin typeface="Fagun" pitchFamily="2" charset="77"/>
                          <a:ea typeface="Georgia" pitchFamily="34" charset="-122"/>
                          <a:cs typeface="Georgia" pitchFamily="34" charset="-120"/>
                        </a:rPr>
                        <a:t>  Volunteer stipends</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12,615</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5,916</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extLst>
                  <a:ext uri="{0D108BD9-81ED-4DB2-BD59-A6C34878D82A}">
                    <a16:rowId xmlns:a16="http://schemas.microsoft.com/office/drawing/2014/main" val="10009"/>
                  </a:ext>
                </a:extLst>
              </a:tr>
              <a:tr h="274320">
                <a:tc>
                  <a:txBody>
                    <a:bodyPr/>
                    <a:lstStyle/>
                    <a:p>
                      <a:pPr marL="0" indent="0">
                        <a:buNone/>
                      </a:pPr>
                      <a:r>
                        <a:rPr lang="en-US" sz="950" b="0" i="0" dirty="0">
                          <a:solidFill>
                            <a:srgbClr val="410F37"/>
                          </a:solidFill>
                          <a:latin typeface="Fagun" pitchFamily="2" charset="77"/>
                          <a:ea typeface="Georgia" pitchFamily="34" charset="-122"/>
                          <a:cs typeface="Georgia" pitchFamily="34" charset="-120"/>
                        </a:rPr>
                        <a:t>Total Programme Costs</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solidFill>
                      <a:srgbClr val="EAFFD0"/>
                    </a:solidFill>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481,540</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solidFill>
                      <a:srgbClr val="EAFFD0"/>
                    </a:solidFill>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419,109</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solidFill>
                      <a:srgbClr val="EAFFD0"/>
                    </a:solidFill>
                  </a:tcPr>
                </a:tc>
                <a:extLst>
                  <a:ext uri="{0D108BD9-81ED-4DB2-BD59-A6C34878D82A}">
                    <a16:rowId xmlns:a16="http://schemas.microsoft.com/office/drawing/2014/main" val="10010"/>
                  </a:ext>
                </a:extLst>
              </a:tr>
              <a:tr h="256032">
                <a:tc>
                  <a:txBody>
                    <a:bodyPr/>
                    <a:lstStyle/>
                    <a:p>
                      <a:pPr marL="0" indent="0">
                        <a:buNone/>
                      </a:pPr>
                      <a:r>
                        <a:rPr lang="en-US" sz="950" b="0" i="0" dirty="0">
                          <a:solidFill>
                            <a:srgbClr val="410F37"/>
                          </a:solidFill>
                          <a:latin typeface="Fagun" pitchFamily="2" charset="77"/>
                          <a:ea typeface="Georgia" pitchFamily="34" charset="-122"/>
                          <a:cs typeface="Georgia" pitchFamily="34" charset="-120"/>
                        </a:rPr>
                        <a:t>Operating Expenses</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buNone/>
                      </a:pP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buNone/>
                      </a:pP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extLst>
                  <a:ext uri="{0D108BD9-81ED-4DB2-BD59-A6C34878D82A}">
                    <a16:rowId xmlns:a16="http://schemas.microsoft.com/office/drawing/2014/main" val="10011"/>
                  </a:ext>
                </a:extLst>
              </a:tr>
              <a:tr h="256032">
                <a:tc>
                  <a:txBody>
                    <a:bodyPr/>
                    <a:lstStyle/>
                    <a:p>
                      <a:pPr marL="0" indent="0">
                        <a:buNone/>
                      </a:pPr>
                      <a:r>
                        <a:rPr lang="en-US" sz="950" b="0" i="0" dirty="0">
                          <a:solidFill>
                            <a:srgbClr val="410F37"/>
                          </a:solidFill>
                          <a:latin typeface="Fagun" pitchFamily="2" charset="77"/>
                          <a:ea typeface="Georgia" pitchFamily="34" charset="-122"/>
                          <a:cs typeface="Georgia" pitchFamily="34" charset="-120"/>
                        </a:rPr>
                        <a:t>  Branding &amp; communications</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35,438</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extLst>
                  <a:ext uri="{0D108BD9-81ED-4DB2-BD59-A6C34878D82A}">
                    <a16:rowId xmlns:a16="http://schemas.microsoft.com/office/drawing/2014/main" val="10012"/>
                  </a:ext>
                </a:extLst>
              </a:tr>
              <a:tr h="256032">
                <a:tc>
                  <a:txBody>
                    <a:bodyPr/>
                    <a:lstStyle/>
                    <a:p>
                      <a:pPr marL="0" indent="0">
                        <a:buNone/>
                      </a:pPr>
                      <a:r>
                        <a:rPr lang="en-US" sz="950" b="0" i="0" dirty="0">
                          <a:solidFill>
                            <a:srgbClr val="410F37"/>
                          </a:solidFill>
                          <a:latin typeface="Fagun" pitchFamily="2" charset="77"/>
                          <a:ea typeface="Georgia" pitchFamily="34" charset="-122"/>
                          <a:cs typeface="Georgia" pitchFamily="34" charset="-120"/>
                        </a:rPr>
                        <a:t>  Professional services</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55,917</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35,441</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extLst>
                  <a:ext uri="{0D108BD9-81ED-4DB2-BD59-A6C34878D82A}">
                    <a16:rowId xmlns:a16="http://schemas.microsoft.com/office/drawing/2014/main" val="10013"/>
                  </a:ext>
                </a:extLst>
              </a:tr>
              <a:tr h="256032">
                <a:tc>
                  <a:txBody>
                    <a:bodyPr/>
                    <a:lstStyle/>
                    <a:p>
                      <a:pPr marL="0" indent="0">
                        <a:buNone/>
                      </a:pPr>
                      <a:r>
                        <a:rPr lang="en-US" sz="950" b="0" i="0" dirty="0">
                          <a:solidFill>
                            <a:srgbClr val="410F37"/>
                          </a:solidFill>
                          <a:latin typeface="Fagun" pitchFamily="2" charset="77"/>
                          <a:ea typeface="Georgia" pitchFamily="34" charset="-122"/>
                          <a:cs typeface="Georgia" pitchFamily="34" charset="-120"/>
                        </a:rPr>
                        <a:t>  IT, administration &amp; other</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8,570</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2,441</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extLst>
                  <a:ext uri="{0D108BD9-81ED-4DB2-BD59-A6C34878D82A}">
                    <a16:rowId xmlns:a16="http://schemas.microsoft.com/office/drawing/2014/main" val="10014"/>
                  </a:ext>
                </a:extLst>
              </a:tr>
              <a:tr h="256032">
                <a:tc>
                  <a:txBody>
                    <a:bodyPr/>
                    <a:lstStyle/>
                    <a:p>
                      <a:pPr marL="0" indent="0">
                        <a:buNone/>
                      </a:pPr>
                      <a:r>
                        <a:rPr lang="en-US" sz="950" b="0" i="0" dirty="0">
                          <a:solidFill>
                            <a:srgbClr val="410F37"/>
                          </a:solidFill>
                          <a:latin typeface="Fagun" pitchFamily="2" charset="77"/>
                          <a:ea typeface="Georgia" pitchFamily="34" charset="-122"/>
                          <a:cs typeface="Georgia" pitchFamily="34" charset="-120"/>
                        </a:rPr>
                        <a:t>  Currency adjustments (net)</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(14,566)</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6,881</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tcPr>
                </a:tc>
                <a:extLst>
                  <a:ext uri="{0D108BD9-81ED-4DB2-BD59-A6C34878D82A}">
                    <a16:rowId xmlns:a16="http://schemas.microsoft.com/office/drawing/2014/main" val="10015"/>
                  </a:ext>
                </a:extLst>
              </a:tr>
              <a:tr h="274320">
                <a:tc>
                  <a:txBody>
                    <a:bodyPr/>
                    <a:lstStyle/>
                    <a:p>
                      <a:pPr marL="0" indent="0">
                        <a:buNone/>
                      </a:pPr>
                      <a:r>
                        <a:rPr lang="en-US" sz="950" b="0" i="0" dirty="0">
                          <a:solidFill>
                            <a:srgbClr val="410F37"/>
                          </a:solidFill>
                          <a:latin typeface="Fagun" pitchFamily="2" charset="77"/>
                          <a:ea typeface="Georgia" pitchFamily="34" charset="-122"/>
                          <a:cs typeface="Georgia" pitchFamily="34" charset="-120"/>
                        </a:rPr>
                        <a:t>Total Operating Expenses</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solidFill>
                      <a:srgbClr val="EAFFD0"/>
                    </a:solidFill>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85,359</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solidFill>
                      <a:srgbClr val="EAFFD0"/>
                    </a:solidFill>
                  </a:tcPr>
                </a:tc>
                <a:tc>
                  <a:txBody>
                    <a:bodyPr/>
                    <a:lstStyle/>
                    <a:p>
                      <a:pPr marL="0" indent="0" algn="r">
                        <a:buNone/>
                      </a:pPr>
                      <a:r>
                        <a:rPr lang="en-US" sz="950" b="0" i="0" dirty="0">
                          <a:solidFill>
                            <a:srgbClr val="410F37"/>
                          </a:solidFill>
                          <a:latin typeface="Fagun" pitchFamily="2" charset="77"/>
                          <a:ea typeface="Georgia" pitchFamily="34" charset="-122"/>
                          <a:cs typeface="Georgia" pitchFamily="34" charset="-120"/>
                        </a:rPr>
                        <a:t>44,762</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solidFill>
                      <a:srgbClr val="EAFFD0"/>
                    </a:solidFill>
                  </a:tcPr>
                </a:tc>
                <a:extLst>
                  <a:ext uri="{0D108BD9-81ED-4DB2-BD59-A6C34878D82A}">
                    <a16:rowId xmlns:a16="http://schemas.microsoft.com/office/drawing/2014/main" val="10016"/>
                  </a:ext>
                </a:extLst>
              </a:tr>
              <a:tr h="320040">
                <a:tc>
                  <a:txBody>
                    <a:bodyPr/>
                    <a:lstStyle/>
                    <a:p>
                      <a:pPr marL="0" indent="0">
                        <a:buNone/>
                      </a:pPr>
                      <a:r>
                        <a:rPr lang="en-US" sz="950" b="0" i="0" dirty="0">
                          <a:solidFill>
                            <a:srgbClr val="96FF14"/>
                          </a:solidFill>
                          <a:latin typeface="Fagun" pitchFamily="2" charset="77"/>
                          <a:ea typeface="Georgia" pitchFamily="34" charset="-122"/>
                          <a:cs typeface="Georgia" pitchFamily="34" charset="-120"/>
                        </a:rPr>
                        <a:t>Net Result</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solidFill>
                      <a:srgbClr val="410F37"/>
                    </a:solidFill>
                  </a:tcPr>
                </a:tc>
                <a:tc>
                  <a:txBody>
                    <a:bodyPr/>
                    <a:lstStyle/>
                    <a:p>
                      <a:pPr marL="0" indent="0" algn="r">
                        <a:buNone/>
                      </a:pPr>
                      <a:r>
                        <a:rPr lang="en-US" sz="950" b="0" i="0" dirty="0">
                          <a:solidFill>
                            <a:srgbClr val="96FF14"/>
                          </a:solidFill>
                          <a:latin typeface="Fagun" pitchFamily="2" charset="77"/>
                          <a:ea typeface="Georgia" pitchFamily="34" charset="-122"/>
                          <a:cs typeface="Georgia" pitchFamily="34" charset="-120"/>
                        </a:rPr>
                        <a:t>(393,081)</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solidFill>
                      <a:srgbClr val="410F37"/>
                    </a:solidFill>
                  </a:tcPr>
                </a:tc>
                <a:tc>
                  <a:txBody>
                    <a:bodyPr/>
                    <a:lstStyle/>
                    <a:p>
                      <a:pPr marL="0" indent="0" algn="r">
                        <a:buNone/>
                      </a:pPr>
                      <a:r>
                        <a:rPr lang="en-US" sz="950" b="0" i="0" dirty="0">
                          <a:solidFill>
                            <a:srgbClr val="96FF14"/>
                          </a:solidFill>
                          <a:latin typeface="Fagun" pitchFamily="2" charset="77"/>
                          <a:ea typeface="Georgia" pitchFamily="34" charset="-122"/>
                          <a:cs typeface="Georgia" pitchFamily="34" charset="-120"/>
                        </a:rPr>
                        <a:t>139,774</a:t>
                      </a:r>
                      <a:endParaRPr lang="en-US" sz="950" b="0" i="0" dirty="0">
                        <a:latin typeface="Fagun" pitchFamily="2" charset="77"/>
                        <a:ea typeface="Georgia" charset="0"/>
                        <a:cs typeface="Georgia" charset="0"/>
                      </a:endParaRPr>
                    </a:p>
                  </a:txBody>
                  <a:tcPr>
                    <a:lnL w="3810" cap="flat" cmpd="sng" algn="ctr">
                      <a:solidFill>
                        <a:srgbClr val="D9CFCB"/>
                      </a:solidFill>
                      <a:prstDash val="solid"/>
                      <a:round/>
                      <a:headEnd type="none" w="med" len="med"/>
                      <a:tailEnd type="none" w="med" len="med"/>
                    </a:lnL>
                    <a:lnR w="3810" cap="flat" cmpd="sng" algn="ctr">
                      <a:solidFill>
                        <a:srgbClr val="D9CFCB"/>
                      </a:solidFill>
                      <a:prstDash val="solid"/>
                      <a:round/>
                      <a:headEnd type="none" w="med" len="med"/>
                      <a:tailEnd type="none" w="med" len="med"/>
                    </a:lnR>
                    <a:lnT w="3810" cap="flat" cmpd="sng" algn="ctr">
                      <a:solidFill>
                        <a:srgbClr val="D9CFCB"/>
                      </a:solidFill>
                      <a:prstDash val="solid"/>
                      <a:round/>
                      <a:headEnd type="none" w="med" len="med"/>
                      <a:tailEnd type="none" w="med" len="med"/>
                    </a:lnT>
                    <a:lnB w="3810" cap="flat" cmpd="sng" algn="ctr">
                      <a:solidFill>
                        <a:srgbClr val="D9CFCB"/>
                      </a:solidFill>
                      <a:prstDash val="solid"/>
                      <a:round/>
                      <a:headEnd type="none" w="med" len="med"/>
                      <a:tailEnd type="none" w="med" len="med"/>
                    </a:lnB>
                    <a:solidFill>
                      <a:srgbClr val="410F37"/>
                    </a:solidFill>
                  </a:tcPr>
                </a:tc>
                <a:extLst>
                  <a:ext uri="{0D108BD9-81ED-4DB2-BD59-A6C34878D82A}">
                    <a16:rowId xmlns:a16="http://schemas.microsoft.com/office/drawing/2014/main" val="10017"/>
                  </a:ext>
                </a:extLst>
              </a:tr>
            </a:tbl>
          </a:graphicData>
        </a:graphic>
      </p:graphicFrame>
      <p:sp>
        <p:nvSpPr>
          <p:cNvPr id="9" name="Text 5"/>
          <p:cNvSpPr/>
          <p:nvPr/>
        </p:nvSpPr>
        <p:spPr>
          <a:xfrm>
            <a:off x="722376" y="7772400"/>
            <a:ext cx="6117336" cy="1097280"/>
          </a:xfrm>
          <a:prstGeom prst="rect">
            <a:avLst/>
          </a:prstGeom>
          <a:noFill/>
          <a:ln/>
        </p:spPr>
        <p:txBody>
          <a:bodyPr wrap="square" rtlCol="0" anchor="ctr"/>
          <a:lstStyle/>
          <a:p>
            <a:pPr marL="0" indent="0">
              <a:lnSpc>
                <a:spcPct val="150000"/>
              </a:lnSpc>
              <a:buNone/>
            </a:pPr>
            <a:r>
              <a:rPr lang="en-US" sz="850" dirty="0">
                <a:solidFill>
                  <a:srgbClr val="8D7081"/>
                </a:solidFill>
                <a:latin typeface="Fagun" pitchFamily="2" charset="77"/>
                <a:ea typeface="Georgia" pitchFamily="34" charset="-122"/>
                <a:cs typeface="Georgia" pitchFamily="34" charset="-120"/>
              </a:rPr>
              <a:t>Personnel includes Executive Director, project staff, and project consultants. Travel &amp; subsistence includes international and domestic flights, accommodation, per diem, meeting expenses, local transportation, and cost of living allowances. Professional services includes accounting, legal fees, and strategy &amp; advisory services. The net deficit reflects the timing of multi-year grant disbursements against programme delivery.</a:t>
            </a:r>
            <a:endParaRPr lang="en-US" sz="850" dirty="0"/>
          </a:p>
        </p:txBody>
      </p:sp>
      <p:sp>
        <p:nvSpPr>
          <p:cNvPr id="10" name="Text 6"/>
          <p:cNvSpPr/>
          <p:nvPr/>
        </p:nvSpPr>
        <p:spPr>
          <a:xfrm>
            <a:off x="722376" y="10186416"/>
            <a:ext cx="1828800" cy="274320"/>
          </a:xfrm>
          <a:prstGeom prst="rect">
            <a:avLst/>
          </a:prstGeom>
          <a:noFill/>
          <a:ln/>
        </p:spPr>
        <p:txBody>
          <a:bodyPr wrap="square" rtlCol="0" anchor="ctr"/>
          <a:lstStyle/>
          <a:p>
            <a:pPr marL="0" indent="0">
              <a:buNone/>
            </a:pPr>
            <a:r>
              <a:rPr lang="en-US" sz="800" dirty="0">
                <a:solidFill>
                  <a:srgbClr val="410F37">
                    <a:alpha val="30000"/>
                  </a:srgbClr>
                </a:solidFill>
                <a:latin typeface="Fagun" pitchFamily="2" charset="77"/>
                <a:ea typeface="Georgia" pitchFamily="34" charset="-122"/>
                <a:cs typeface="Georgia" pitchFamily="34" charset="-120"/>
              </a:rPr>
              <a:t>hūmānus</a:t>
            </a:r>
            <a:endParaRPr lang="en-US" sz="800" dirty="0"/>
          </a:p>
        </p:txBody>
      </p:sp>
      <p:sp>
        <p:nvSpPr>
          <p:cNvPr id="11" name="Text 7"/>
          <p:cNvSpPr/>
          <p:nvPr/>
        </p:nvSpPr>
        <p:spPr>
          <a:xfrm>
            <a:off x="5925312" y="10186416"/>
            <a:ext cx="914400" cy="274320"/>
          </a:xfrm>
          <a:prstGeom prst="rect">
            <a:avLst/>
          </a:prstGeom>
          <a:noFill/>
          <a:ln/>
        </p:spPr>
        <p:txBody>
          <a:bodyPr wrap="square" rtlCol="0" anchor="ctr"/>
          <a:lstStyle/>
          <a:p>
            <a:pPr marL="0" indent="0" algn="r">
              <a:buNone/>
            </a:pPr>
            <a:r>
              <a:rPr lang="en-US" sz="800" dirty="0">
                <a:solidFill>
                  <a:srgbClr val="E12D64"/>
                </a:solidFill>
                <a:latin typeface="Fagun" pitchFamily="2" charset="77"/>
                <a:ea typeface="Georgia" pitchFamily="34" charset="-122"/>
                <a:cs typeface="Georgia"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562088" cy="109728"/>
          </a:xfrm>
          <a:prstGeom prst="rect">
            <a:avLst/>
          </a:prstGeom>
          <a:solidFill>
            <a:srgbClr val="410F37"/>
          </a:solidFill>
          <a:ln/>
        </p:spPr>
        <p:txBody>
          <a:bodyPr/>
          <a:lstStyle/>
          <a:p>
            <a:endParaRPr lang="en-US"/>
          </a:p>
        </p:txBody>
      </p:sp>
      <p:sp>
        <p:nvSpPr>
          <p:cNvPr id="3" name="Text 1"/>
          <p:cNvSpPr/>
          <p:nvPr/>
        </p:nvSpPr>
        <p:spPr>
          <a:xfrm>
            <a:off x="722376" y="320040"/>
            <a:ext cx="6117336" cy="320040"/>
          </a:xfrm>
          <a:prstGeom prst="rect">
            <a:avLst/>
          </a:prstGeom>
          <a:noFill/>
          <a:ln/>
        </p:spPr>
        <p:txBody>
          <a:bodyPr wrap="square" rtlCol="0" anchor="ctr"/>
          <a:lstStyle/>
          <a:p>
            <a:pPr marL="0" indent="0">
              <a:buNone/>
            </a:pPr>
            <a:r>
              <a:rPr lang="en-US" sz="750" dirty="0">
                <a:solidFill>
                  <a:srgbClr val="8D7081"/>
                </a:solidFill>
                <a:latin typeface="Fagun" pitchFamily="2" charset="77"/>
                <a:ea typeface="Georgia" pitchFamily="34" charset="-122"/>
                <a:cs typeface="Georgia" pitchFamily="34" charset="-120"/>
              </a:rPr>
              <a:t>Our Partners</a:t>
            </a:r>
            <a:endParaRPr lang="en-US" sz="750" dirty="0"/>
          </a:p>
        </p:txBody>
      </p:sp>
      <p:sp>
        <p:nvSpPr>
          <p:cNvPr id="4" name="Shape 2"/>
          <p:cNvSpPr/>
          <p:nvPr/>
        </p:nvSpPr>
        <p:spPr>
          <a:xfrm>
            <a:off x="722376" y="658368"/>
            <a:ext cx="6117336" cy="0"/>
          </a:xfrm>
          <a:prstGeom prst="line">
            <a:avLst/>
          </a:prstGeom>
          <a:noFill/>
          <a:ln w="6350">
            <a:solidFill>
              <a:srgbClr val="D9CFCB"/>
            </a:solidFill>
            <a:prstDash val="solid"/>
          </a:ln>
        </p:spPr>
        <p:txBody>
          <a:bodyPr/>
          <a:lstStyle/>
          <a:p>
            <a:endParaRPr lang="en-US"/>
          </a:p>
        </p:txBody>
      </p:sp>
      <p:pic>
        <p:nvPicPr>
          <p:cNvPr id="5" name="Image 0" descr="preencoded.png"/>
          <p:cNvPicPr>
            <a:picLocks noChangeAspect="1"/>
          </p:cNvPicPr>
          <p:nvPr/>
        </p:nvPicPr>
        <p:blipFill>
          <a:blip r:embed="rId3">
            <a:alphaModFix amt="6000"/>
          </a:blip>
          <a:stretch>
            <a:fillRect/>
          </a:stretch>
        </p:blipFill>
        <p:spPr>
          <a:xfrm>
            <a:off x="4818888" y="8403336"/>
            <a:ext cx="2743200" cy="1828800"/>
          </a:xfrm>
          <a:prstGeom prst="rect">
            <a:avLst/>
          </a:prstGeom>
        </p:spPr>
      </p:pic>
      <p:sp>
        <p:nvSpPr>
          <p:cNvPr id="6" name="Text 3"/>
          <p:cNvSpPr/>
          <p:nvPr/>
        </p:nvSpPr>
        <p:spPr>
          <a:xfrm>
            <a:off x="722376" y="822960"/>
            <a:ext cx="6117336" cy="914400"/>
          </a:xfrm>
          <a:prstGeom prst="rect">
            <a:avLst/>
          </a:prstGeom>
          <a:noFill/>
          <a:ln/>
        </p:spPr>
        <p:txBody>
          <a:bodyPr wrap="square" rtlCol="0" anchor="ctr"/>
          <a:lstStyle/>
          <a:p>
            <a:pPr marL="0" indent="0">
              <a:lnSpc>
                <a:spcPct val="115000"/>
              </a:lnSpc>
              <a:buNone/>
            </a:pPr>
            <a:r>
              <a:rPr lang="en-US" sz="2200" dirty="0">
                <a:solidFill>
                  <a:srgbClr val="410F37"/>
                </a:solidFill>
                <a:latin typeface="Fagun" pitchFamily="2" charset="77"/>
                <a:ea typeface="Georgia" pitchFamily="34" charset="-122"/>
                <a:cs typeface="Georgia" pitchFamily="34" charset="-120"/>
              </a:rPr>
              <a:t>We Are Grateful to</a:t>
            </a:r>
            <a:endParaRPr lang="en-US" sz="2200" dirty="0"/>
          </a:p>
          <a:p>
            <a:pPr marL="0" indent="0">
              <a:lnSpc>
                <a:spcPct val="115000"/>
              </a:lnSpc>
              <a:buNone/>
            </a:pPr>
            <a:r>
              <a:rPr lang="en-US" sz="2200" dirty="0">
                <a:solidFill>
                  <a:srgbClr val="410F37"/>
                </a:solidFill>
                <a:latin typeface="Fagun" pitchFamily="2" charset="77"/>
                <a:ea typeface="Georgia" pitchFamily="34" charset="-122"/>
                <a:cs typeface="Georgia" pitchFamily="34" charset="-120"/>
              </a:rPr>
              <a:t>Our Partners for 2025</a:t>
            </a:r>
            <a:endParaRPr lang="en-US" sz="2200" dirty="0"/>
          </a:p>
        </p:txBody>
      </p:sp>
      <p:sp>
        <p:nvSpPr>
          <p:cNvPr id="7" name="Text 4"/>
          <p:cNvSpPr/>
          <p:nvPr/>
        </p:nvSpPr>
        <p:spPr>
          <a:xfrm>
            <a:off x="722376" y="1828800"/>
            <a:ext cx="6117336" cy="365760"/>
          </a:xfrm>
          <a:prstGeom prst="rect">
            <a:avLst/>
          </a:prstGeom>
          <a:noFill/>
          <a:ln/>
        </p:spPr>
        <p:txBody>
          <a:bodyPr wrap="square" rtlCol="0" anchor="ctr"/>
          <a:lstStyle/>
          <a:p>
            <a:pPr marL="0" indent="0">
              <a:buNone/>
            </a:pPr>
            <a:r>
              <a:rPr lang="en-US" sz="1000" dirty="0">
                <a:solidFill>
                  <a:srgbClr val="410F37"/>
                </a:solidFill>
                <a:latin typeface="Fagun" pitchFamily="2" charset="77"/>
                <a:ea typeface="Georgia" pitchFamily="34" charset="-122"/>
                <a:cs typeface="Georgia" pitchFamily="34" charset="-120"/>
              </a:rPr>
              <a:t>hūmānus' work in 2025 was made possible by the generous support of the following partners.</a:t>
            </a:r>
            <a:endParaRPr lang="en-US" sz="1000" dirty="0"/>
          </a:p>
        </p:txBody>
      </p:sp>
      <p:sp>
        <p:nvSpPr>
          <p:cNvPr id="8" name="Shape 5"/>
          <p:cNvSpPr/>
          <p:nvPr/>
        </p:nvSpPr>
        <p:spPr>
          <a:xfrm>
            <a:off x="722376" y="2560320"/>
            <a:ext cx="2967228" cy="457200"/>
          </a:xfrm>
          <a:prstGeom prst="rect">
            <a:avLst/>
          </a:prstGeom>
          <a:noFill/>
          <a:ln w="6350">
            <a:solidFill>
              <a:srgbClr val="D9CFCB"/>
            </a:solidFill>
            <a:prstDash val="solid"/>
          </a:ln>
        </p:spPr>
        <p:txBody>
          <a:bodyPr/>
          <a:lstStyle/>
          <a:p>
            <a:endParaRPr lang="en-US"/>
          </a:p>
        </p:txBody>
      </p:sp>
      <p:sp>
        <p:nvSpPr>
          <p:cNvPr id="9" name="Shape 6"/>
          <p:cNvSpPr/>
          <p:nvPr/>
        </p:nvSpPr>
        <p:spPr>
          <a:xfrm>
            <a:off x="859536" y="2715768"/>
            <a:ext cx="146304" cy="146304"/>
          </a:xfrm>
          <a:prstGeom prst="ellipse">
            <a:avLst/>
          </a:prstGeom>
          <a:solidFill>
            <a:srgbClr val="96FF14"/>
          </a:solidFill>
          <a:ln/>
        </p:spPr>
        <p:txBody>
          <a:bodyPr/>
          <a:lstStyle/>
          <a:p>
            <a:endParaRPr lang="en-US"/>
          </a:p>
        </p:txBody>
      </p:sp>
      <p:sp>
        <p:nvSpPr>
          <p:cNvPr id="10" name="Text 7"/>
          <p:cNvSpPr/>
          <p:nvPr/>
        </p:nvSpPr>
        <p:spPr>
          <a:xfrm>
            <a:off x="1088136" y="2560320"/>
            <a:ext cx="2510028" cy="457200"/>
          </a:xfrm>
          <a:prstGeom prst="rect">
            <a:avLst/>
          </a:prstGeom>
          <a:noFill/>
          <a:ln/>
        </p:spPr>
        <p:txBody>
          <a:bodyPr wrap="square" rtlCol="0" anchor="ctr"/>
          <a:lstStyle/>
          <a:p>
            <a:pPr marL="0" indent="0">
              <a:buNone/>
            </a:pPr>
            <a:r>
              <a:rPr lang="en-US" sz="1100" dirty="0">
                <a:solidFill>
                  <a:srgbClr val="410F37"/>
                </a:solidFill>
                <a:latin typeface="Fagun" pitchFamily="2" charset="77"/>
                <a:ea typeface="Georgia" pitchFamily="34" charset="-122"/>
                <a:cs typeface="Georgia" pitchFamily="34" charset="-120"/>
              </a:rPr>
              <a:t>Cowater</a:t>
            </a:r>
            <a:endParaRPr lang="en-US" sz="1100" dirty="0"/>
          </a:p>
        </p:txBody>
      </p:sp>
      <p:sp>
        <p:nvSpPr>
          <p:cNvPr id="11" name="Shape 8"/>
          <p:cNvSpPr/>
          <p:nvPr/>
        </p:nvSpPr>
        <p:spPr>
          <a:xfrm>
            <a:off x="3872484" y="2560320"/>
            <a:ext cx="2967228" cy="457200"/>
          </a:xfrm>
          <a:prstGeom prst="rect">
            <a:avLst/>
          </a:prstGeom>
          <a:noFill/>
          <a:ln w="6350">
            <a:solidFill>
              <a:srgbClr val="D9CFCB"/>
            </a:solidFill>
            <a:prstDash val="solid"/>
          </a:ln>
        </p:spPr>
        <p:txBody>
          <a:bodyPr/>
          <a:lstStyle/>
          <a:p>
            <a:endParaRPr lang="en-US"/>
          </a:p>
        </p:txBody>
      </p:sp>
      <p:sp>
        <p:nvSpPr>
          <p:cNvPr id="12" name="Shape 9"/>
          <p:cNvSpPr/>
          <p:nvPr/>
        </p:nvSpPr>
        <p:spPr>
          <a:xfrm>
            <a:off x="4009644" y="2715768"/>
            <a:ext cx="146304" cy="146304"/>
          </a:xfrm>
          <a:prstGeom prst="ellipse">
            <a:avLst/>
          </a:prstGeom>
          <a:solidFill>
            <a:srgbClr val="96FF14"/>
          </a:solidFill>
          <a:ln/>
        </p:spPr>
        <p:txBody>
          <a:bodyPr/>
          <a:lstStyle/>
          <a:p>
            <a:endParaRPr lang="en-US"/>
          </a:p>
        </p:txBody>
      </p:sp>
      <p:sp>
        <p:nvSpPr>
          <p:cNvPr id="13" name="Text 10"/>
          <p:cNvSpPr/>
          <p:nvPr/>
        </p:nvSpPr>
        <p:spPr>
          <a:xfrm>
            <a:off x="4238244" y="2560320"/>
            <a:ext cx="2510028" cy="457200"/>
          </a:xfrm>
          <a:prstGeom prst="rect">
            <a:avLst/>
          </a:prstGeom>
          <a:noFill/>
          <a:ln/>
        </p:spPr>
        <p:txBody>
          <a:bodyPr wrap="square" rtlCol="0" anchor="ctr"/>
          <a:lstStyle/>
          <a:p>
            <a:pPr marL="0" indent="0">
              <a:buNone/>
            </a:pPr>
            <a:r>
              <a:rPr lang="en-US" sz="1100" dirty="0">
                <a:solidFill>
                  <a:srgbClr val="410F37"/>
                </a:solidFill>
                <a:latin typeface="Fagun" pitchFamily="2" charset="77"/>
                <a:ea typeface="Georgia" pitchFamily="34" charset="-122"/>
                <a:cs typeface="Georgia" pitchFamily="34" charset="-120"/>
              </a:rPr>
              <a:t>Swiss Embassy, Dhaka</a:t>
            </a:r>
            <a:endParaRPr lang="en-US" sz="1100" dirty="0"/>
          </a:p>
        </p:txBody>
      </p:sp>
      <p:sp>
        <p:nvSpPr>
          <p:cNvPr id="14" name="Shape 11"/>
          <p:cNvSpPr/>
          <p:nvPr/>
        </p:nvSpPr>
        <p:spPr>
          <a:xfrm>
            <a:off x="722376" y="3154680"/>
            <a:ext cx="2967228" cy="457200"/>
          </a:xfrm>
          <a:prstGeom prst="rect">
            <a:avLst/>
          </a:prstGeom>
          <a:noFill/>
          <a:ln w="6350">
            <a:solidFill>
              <a:srgbClr val="D9CFCB"/>
            </a:solidFill>
            <a:prstDash val="solid"/>
          </a:ln>
        </p:spPr>
        <p:txBody>
          <a:bodyPr/>
          <a:lstStyle/>
          <a:p>
            <a:endParaRPr lang="en-US"/>
          </a:p>
        </p:txBody>
      </p:sp>
      <p:sp>
        <p:nvSpPr>
          <p:cNvPr id="15" name="Shape 12"/>
          <p:cNvSpPr/>
          <p:nvPr/>
        </p:nvSpPr>
        <p:spPr>
          <a:xfrm>
            <a:off x="859536" y="3310128"/>
            <a:ext cx="146304" cy="146304"/>
          </a:xfrm>
          <a:prstGeom prst="ellipse">
            <a:avLst/>
          </a:prstGeom>
          <a:solidFill>
            <a:srgbClr val="96FF14"/>
          </a:solidFill>
          <a:ln/>
        </p:spPr>
        <p:txBody>
          <a:bodyPr/>
          <a:lstStyle/>
          <a:p>
            <a:endParaRPr lang="en-US"/>
          </a:p>
        </p:txBody>
      </p:sp>
      <p:sp>
        <p:nvSpPr>
          <p:cNvPr id="16" name="Text 13"/>
          <p:cNvSpPr/>
          <p:nvPr/>
        </p:nvSpPr>
        <p:spPr>
          <a:xfrm>
            <a:off x="1088136" y="3154680"/>
            <a:ext cx="2510028" cy="457200"/>
          </a:xfrm>
          <a:prstGeom prst="rect">
            <a:avLst/>
          </a:prstGeom>
          <a:noFill/>
          <a:ln/>
        </p:spPr>
        <p:txBody>
          <a:bodyPr wrap="square" rtlCol="0" anchor="ctr"/>
          <a:lstStyle/>
          <a:p>
            <a:pPr marL="0" indent="0">
              <a:buNone/>
            </a:pPr>
            <a:r>
              <a:rPr lang="en-US" sz="1100" dirty="0">
                <a:solidFill>
                  <a:srgbClr val="410F37"/>
                </a:solidFill>
                <a:latin typeface="Fagun" pitchFamily="2" charset="77"/>
                <a:ea typeface="Georgia" pitchFamily="34" charset="-122"/>
                <a:cs typeface="Georgia" pitchFamily="34" charset="-120"/>
              </a:rPr>
              <a:t>Open Society Foundations</a:t>
            </a:r>
            <a:endParaRPr lang="en-US" sz="1100" dirty="0"/>
          </a:p>
        </p:txBody>
      </p:sp>
      <p:sp>
        <p:nvSpPr>
          <p:cNvPr id="17" name="Shape 14"/>
          <p:cNvSpPr/>
          <p:nvPr/>
        </p:nvSpPr>
        <p:spPr>
          <a:xfrm>
            <a:off x="3872484" y="3154680"/>
            <a:ext cx="2967228" cy="457200"/>
          </a:xfrm>
          <a:prstGeom prst="rect">
            <a:avLst/>
          </a:prstGeom>
          <a:noFill/>
          <a:ln w="6350">
            <a:solidFill>
              <a:srgbClr val="D9CFCB"/>
            </a:solidFill>
            <a:prstDash val="solid"/>
          </a:ln>
        </p:spPr>
        <p:txBody>
          <a:bodyPr/>
          <a:lstStyle/>
          <a:p>
            <a:endParaRPr lang="en-US"/>
          </a:p>
        </p:txBody>
      </p:sp>
      <p:sp>
        <p:nvSpPr>
          <p:cNvPr id="18" name="Shape 15"/>
          <p:cNvSpPr/>
          <p:nvPr/>
        </p:nvSpPr>
        <p:spPr>
          <a:xfrm>
            <a:off x="4009644" y="3310128"/>
            <a:ext cx="146304" cy="146304"/>
          </a:xfrm>
          <a:prstGeom prst="ellipse">
            <a:avLst/>
          </a:prstGeom>
          <a:solidFill>
            <a:srgbClr val="96FF14"/>
          </a:solidFill>
          <a:ln/>
        </p:spPr>
        <p:txBody>
          <a:bodyPr/>
          <a:lstStyle/>
          <a:p>
            <a:endParaRPr lang="en-US"/>
          </a:p>
        </p:txBody>
      </p:sp>
      <p:sp>
        <p:nvSpPr>
          <p:cNvPr id="19" name="Text 16"/>
          <p:cNvSpPr/>
          <p:nvPr/>
        </p:nvSpPr>
        <p:spPr>
          <a:xfrm>
            <a:off x="4238244" y="3154680"/>
            <a:ext cx="2510028" cy="457200"/>
          </a:xfrm>
          <a:prstGeom prst="rect">
            <a:avLst/>
          </a:prstGeom>
          <a:noFill/>
          <a:ln/>
        </p:spPr>
        <p:txBody>
          <a:bodyPr wrap="square" rtlCol="0" anchor="ctr"/>
          <a:lstStyle/>
          <a:p>
            <a:pPr marL="0" indent="0">
              <a:buNone/>
            </a:pPr>
            <a:r>
              <a:rPr lang="en-US" sz="1100" dirty="0">
                <a:solidFill>
                  <a:srgbClr val="410F37"/>
                </a:solidFill>
                <a:latin typeface="Fagun" pitchFamily="2" charset="77"/>
                <a:ea typeface="Georgia" pitchFamily="34" charset="-122"/>
                <a:cs typeface="Georgia" pitchFamily="34" charset="-120"/>
              </a:rPr>
              <a:t>FCDO</a:t>
            </a:r>
            <a:endParaRPr lang="en-US" sz="1100" dirty="0"/>
          </a:p>
        </p:txBody>
      </p:sp>
      <p:sp>
        <p:nvSpPr>
          <p:cNvPr id="20" name="Shape 17"/>
          <p:cNvSpPr/>
          <p:nvPr/>
        </p:nvSpPr>
        <p:spPr>
          <a:xfrm>
            <a:off x="722376" y="3749040"/>
            <a:ext cx="2967228" cy="457200"/>
          </a:xfrm>
          <a:prstGeom prst="rect">
            <a:avLst/>
          </a:prstGeom>
          <a:noFill/>
          <a:ln w="6350">
            <a:solidFill>
              <a:srgbClr val="D9CFCB"/>
            </a:solidFill>
            <a:prstDash val="solid"/>
          </a:ln>
        </p:spPr>
        <p:txBody>
          <a:bodyPr/>
          <a:lstStyle/>
          <a:p>
            <a:endParaRPr lang="en-US"/>
          </a:p>
        </p:txBody>
      </p:sp>
      <p:sp>
        <p:nvSpPr>
          <p:cNvPr id="21" name="Shape 18"/>
          <p:cNvSpPr/>
          <p:nvPr/>
        </p:nvSpPr>
        <p:spPr>
          <a:xfrm>
            <a:off x="859536" y="3904488"/>
            <a:ext cx="146304" cy="146304"/>
          </a:xfrm>
          <a:prstGeom prst="ellipse">
            <a:avLst/>
          </a:prstGeom>
          <a:solidFill>
            <a:srgbClr val="96FF14"/>
          </a:solidFill>
          <a:ln/>
        </p:spPr>
        <p:txBody>
          <a:bodyPr/>
          <a:lstStyle/>
          <a:p>
            <a:endParaRPr lang="en-US"/>
          </a:p>
        </p:txBody>
      </p:sp>
      <p:sp>
        <p:nvSpPr>
          <p:cNvPr id="22" name="Text 19"/>
          <p:cNvSpPr/>
          <p:nvPr/>
        </p:nvSpPr>
        <p:spPr>
          <a:xfrm>
            <a:off x="1088136" y="3749040"/>
            <a:ext cx="2510028" cy="457200"/>
          </a:xfrm>
          <a:prstGeom prst="rect">
            <a:avLst/>
          </a:prstGeom>
          <a:noFill/>
          <a:ln/>
        </p:spPr>
        <p:txBody>
          <a:bodyPr wrap="square" rtlCol="0" anchor="ctr"/>
          <a:lstStyle/>
          <a:p>
            <a:pPr marL="0" indent="0">
              <a:buNone/>
            </a:pPr>
            <a:r>
              <a:rPr lang="en-US" sz="1100" dirty="0">
                <a:solidFill>
                  <a:srgbClr val="410F37"/>
                </a:solidFill>
                <a:latin typeface="Fagun" pitchFamily="2" charset="77"/>
                <a:ea typeface="Georgia" pitchFamily="34" charset="-122"/>
                <a:cs typeface="Georgia" pitchFamily="34" charset="-120"/>
              </a:rPr>
              <a:t>Swiss Embassy, Yangon</a:t>
            </a:r>
            <a:endParaRPr lang="en-US" sz="1100" dirty="0"/>
          </a:p>
        </p:txBody>
      </p:sp>
      <p:sp>
        <p:nvSpPr>
          <p:cNvPr id="23" name="Text 20"/>
          <p:cNvSpPr/>
          <p:nvPr/>
        </p:nvSpPr>
        <p:spPr>
          <a:xfrm>
            <a:off x="722376" y="10186416"/>
            <a:ext cx="1828800" cy="274320"/>
          </a:xfrm>
          <a:prstGeom prst="rect">
            <a:avLst/>
          </a:prstGeom>
          <a:noFill/>
          <a:ln/>
        </p:spPr>
        <p:txBody>
          <a:bodyPr wrap="square" rtlCol="0" anchor="ctr"/>
          <a:lstStyle/>
          <a:p>
            <a:pPr marL="0" indent="0">
              <a:buNone/>
            </a:pPr>
            <a:r>
              <a:rPr lang="en-US" sz="800" dirty="0">
                <a:solidFill>
                  <a:srgbClr val="410F37">
                    <a:alpha val="30000"/>
                  </a:srgbClr>
                </a:solidFill>
                <a:latin typeface="Fagun" pitchFamily="2" charset="77"/>
                <a:ea typeface="Georgia" pitchFamily="34" charset="-122"/>
                <a:cs typeface="Georgia" pitchFamily="34" charset="-120"/>
              </a:rPr>
              <a:t>hūmānus</a:t>
            </a:r>
            <a:endParaRPr lang="en-US" sz="800" dirty="0"/>
          </a:p>
        </p:txBody>
      </p:sp>
      <p:sp>
        <p:nvSpPr>
          <p:cNvPr id="24" name="Text 21"/>
          <p:cNvSpPr/>
          <p:nvPr/>
        </p:nvSpPr>
        <p:spPr>
          <a:xfrm>
            <a:off x="5925312" y="10186416"/>
            <a:ext cx="914400" cy="274320"/>
          </a:xfrm>
          <a:prstGeom prst="rect">
            <a:avLst/>
          </a:prstGeom>
          <a:noFill/>
          <a:ln/>
        </p:spPr>
        <p:txBody>
          <a:bodyPr wrap="square" rtlCol="0" anchor="ctr"/>
          <a:lstStyle/>
          <a:p>
            <a:pPr marL="0" indent="0" algn="r">
              <a:buNone/>
            </a:pPr>
            <a:r>
              <a:rPr lang="en-US" sz="800" dirty="0">
                <a:solidFill>
                  <a:srgbClr val="E12D64"/>
                </a:solidFill>
                <a:latin typeface="Fagun" pitchFamily="2" charset="77"/>
                <a:ea typeface="Georgia" pitchFamily="34" charset="-122"/>
                <a:cs typeface="Georgia"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410F3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1000"/>
          </a:blip>
          <a:stretch>
            <a:fillRect/>
          </a:stretch>
        </p:blipFill>
        <p:spPr>
          <a:xfrm>
            <a:off x="0" y="0"/>
            <a:ext cx="7562088" cy="10689336"/>
          </a:xfrm>
          <a:prstGeom prst="rect">
            <a:avLst/>
          </a:prstGeom>
        </p:spPr>
      </p:pic>
      <p:sp>
        <p:nvSpPr>
          <p:cNvPr id="3" name="Shape 0"/>
          <p:cNvSpPr/>
          <p:nvPr/>
        </p:nvSpPr>
        <p:spPr>
          <a:xfrm>
            <a:off x="0" y="0"/>
            <a:ext cx="7562088" cy="146304"/>
          </a:xfrm>
          <a:prstGeom prst="rect">
            <a:avLst/>
          </a:prstGeom>
          <a:solidFill>
            <a:srgbClr val="E12D64"/>
          </a:solidFill>
          <a:ln/>
        </p:spPr>
        <p:txBody>
          <a:bodyPr/>
          <a:lstStyle/>
          <a:p>
            <a:endParaRPr lang="en-US"/>
          </a:p>
        </p:txBody>
      </p:sp>
      <p:sp>
        <p:nvSpPr>
          <p:cNvPr id="4" name="Text 1"/>
          <p:cNvSpPr/>
          <p:nvPr/>
        </p:nvSpPr>
        <p:spPr>
          <a:xfrm>
            <a:off x="0" y="3657600"/>
            <a:ext cx="7562088" cy="640080"/>
          </a:xfrm>
          <a:prstGeom prst="rect">
            <a:avLst/>
          </a:prstGeom>
          <a:noFill/>
          <a:ln/>
        </p:spPr>
        <p:txBody>
          <a:bodyPr wrap="square" rtlCol="0" anchor="ctr"/>
          <a:lstStyle/>
          <a:p>
            <a:pPr marL="0" indent="0" algn="ctr">
              <a:buNone/>
            </a:pPr>
            <a:r>
              <a:rPr lang="en-US" sz="2000" dirty="0">
                <a:solidFill>
                  <a:srgbClr val="FFFFFF"/>
                </a:solidFill>
                <a:latin typeface="Fagun" pitchFamily="2" charset="77"/>
                <a:ea typeface="Georgia" pitchFamily="34" charset="-122"/>
                <a:cs typeface="Georgia" pitchFamily="34" charset="-120"/>
              </a:rPr>
              <a:t>hūmānus</a:t>
            </a:r>
            <a:endParaRPr lang="en-US" sz="2000" dirty="0"/>
          </a:p>
        </p:txBody>
      </p:sp>
      <p:sp>
        <p:nvSpPr>
          <p:cNvPr id="5" name="Text 2"/>
          <p:cNvSpPr/>
          <p:nvPr/>
        </p:nvSpPr>
        <p:spPr>
          <a:xfrm>
            <a:off x="0" y="4572000"/>
            <a:ext cx="7562088" cy="457200"/>
          </a:xfrm>
          <a:prstGeom prst="rect">
            <a:avLst/>
          </a:prstGeom>
          <a:noFill/>
          <a:ln/>
        </p:spPr>
        <p:txBody>
          <a:bodyPr wrap="square" rtlCol="0" anchor="ctr"/>
          <a:lstStyle/>
          <a:p>
            <a:pPr marL="0" indent="0" algn="ctr">
              <a:buNone/>
            </a:pPr>
            <a:r>
              <a:rPr lang="en-US" sz="2000" dirty="0">
                <a:solidFill>
                  <a:srgbClr val="96FF14"/>
                </a:solidFill>
                <a:latin typeface="Fagun" pitchFamily="2" charset="77"/>
                <a:ea typeface="Georgia" pitchFamily="34" charset="-122"/>
                <a:cs typeface="Georgia" pitchFamily="34" charset="-120"/>
              </a:rPr>
              <a:t>Humanising justice</a:t>
            </a:r>
            <a:endParaRPr lang="en-US" sz="2000" dirty="0"/>
          </a:p>
        </p:txBody>
      </p:sp>
      <p:sp>
        <p:nvSpPr>
          <p:cNvPr id="6" name="Text 3"/>
          <p:cNvSpPr/>
          <p:nvPr/>
        </p:nvSpPr>
        <p:spPr>
          <a:xfrm>
            <a:off x="0" y="5120640"/>
            <a:ext cx="7562088" cy="274320"/>
          </a:xfrm>
          <a:prstGeom prst="rect">
            <a:avLst/>
          </a:prstGeom>
          <a:noFill/>
          <a:ln/>
        </p:spPr>
        <p:txBody>
          <a:bodyPr wrap="square" rtlCol="0" anchor="ctr"/>
          <a:lstStyle/>
          <a:p>
            <a:pPr marL="0" indent="0" algn="ctr">
              <a:buNone/>
            </a:pPr>
            <a:r>
              <a:rPr lang="en-US" sz="1000" kern="0" spc="300" dirty="0">
                <a:solidFill>
                  <a:srgbClr val="FFFFFF">
                    <a:alpha val="60000"/>
                  </a:srgbClr>
                </a:solidFill>
                <a:latin typeface="Fagun" pitchFamily="2" charset="77"/>
                <a:ea typeface="Georgia" pitchFamily="34" charset="-122"/>
                <a:cs typeface="Georgia" pitchFamily="34" charset="-120"/>
              </a:rPr>
              <a:t>ACCOUNTABILITY  ·  COMMUNITY  ·  EVIDENCE</a:t>
            </a:r>
            <a:endParaRPr lang="en-US" sz="1000" dirty="0"/>
          </a:p>
        </p:txBody>
      </p:sp>
      <p:sp>
        <p:nvSpPr>
          <p:cNvPr id="7" name="Text 4"/>
          <p:cNvSpPr/>
          <p:nvPr/>
        </p:nvSpPr>
        <p:spPr>
          <a:xfrm>
            <a:off x="0" y="6400800"/>
            <a:ext cx="7562088" cy="548640"/>
          </a:xfrm>
          <a:prstGeom prst="rect">
            <a:avLst/>
          </a:prstGeom>
          <a:noFill/>
          <a:ln/>
        </p:spPr>
        <p:txBody>
          <a:bodyPr wrap="square" rtlCol="0" anchor="ctr"/>
          <a:lstStyle/>
          <a:p>
            <a:pPr marL="0" indent="0" algn="ctr">
              <a:lnSpc>
                <a:spcPct val="180000"/>
              </a:lnSpc>
              <a:buNone/>
            </a:pPr>
            <a:r>
              <a:rPr lang="en-US" sz="900" dirty="0" err="1">
                <a:solidFill>
                  <a:srgbClr val="FFFFFF">
                    <a:alpha val="50000"/>
                  </a:srgbClr>
                </a:solidFill>
                <a:latin typeface="Fagun" pitchFamily="2" charset="77"/>
                <a:ea typeface="Georgia" pitchFamily="34" charset="-122"/>
                <a:cs typeface="Georgia" pitchFamily="34" charset="-120"/>
              </a:rPr>
              <a:t>www.humanus.co</a:t>
            </a:r>
            <a:endParaRPr lang="en-US" sz="900" dirty="0"/>
          </a:p>
          <a:p>
            <a:pPr marL="0" indent="0" algn="ctr">
              <a:lnSpc>
                <a:spcPct val="180000"/>
              </a:lnSpc>
              <a:buNone/>
            </a:pPr>
            <a:r>
              <a:rPr lang="en-US" sz="900" dirty="0" err="1">
                <a:solidFill>
                  <a:srgbClr val="FFFFFF">
                    <a:alpha val="50000"/>
                  </a:srgbClr>
                </a:solidFill>
                <a:latin typeface="Fagun" pitchFamily="2" charset="77"/>
                <a:ea typeface="Georgia" pitchFamily="34" charset="-122"/>
                <a:cs typeface="Georgia" pitchFamily="34" charset="-120"/>
              </a:rPr>
              <a:t>hello@humanus.co</a:t>
            </a:r>
            <a:endParaRPr lang="en-US" sz="900" dirty="0"/>
          </a:p>
        </p:txBody>
      </p:sp>
      <p:sp>
        <p:nvSpPr>
          <p:cNvPr id="8" name="Text 5"/>
          <p:cNvSpPr/>
          <p:nvPr/>
        </p:nvSpPr>
        <p:spPr>
          <a:xfrm>
            <a:off x="0" y="8686800"/>
            <a:ext cx="7562088" cy="1371600"/>
          </a:xfrm>
          <a:prstGeom prst="rect">
            <a:avLst/>
          </a:prstGeom>
          <a:noFill/>
          <a:ln/>
        </p:spPr>
        <p:txBody>
          <a:bodyPr wrap="square" rtlCol="0" anchor="ctr"/>
          <a:lstStyle/>
          <a:p>
            <a:pPr marL="0" indent="0" algn="ctr">
              <a:buNone/>
            </a:pPr>
            <a:r>
              <a:rPr lang="en-US" sz="8000" dirty="0">
                <a:solidFill>
                  <a:srgbClr val="96FF14">
                    <a:alpha val="8000"/>
                  </a:srgbClr>
                </a:solidFill>
                <a:latin typeface="Fagun" pitchFamily="2" charset="77"/>
                <a:ea typeface="Georgia" pitchFamily="34" charset="-122"/>
                <a:cs typeface="Georgia" pitchFamily="34" charset="-120"/>
              </a:rPr>
              <a:t>2025</a:t>
            </a:r>
            <a:endParaRPr lang="en-US" sz="8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8829FCE51F4D64BAB0AF78AD6D2860C" ma:contentTypeVersion="12" ma:contentTypeDescription="Create a new document." ma:contentTypeScope="" ma:versionID="567b78d4f5e29afebe11329d02a53b72">
  <xsd:schema xmlns:xsd="http://www.w3.org/2001/XMLSchema" xmlns:xs="http://www.w3.org/2001/XMLSchema" xmlns:p="http://schemas.microsoft.com/office/2006/metadata/properties" xmlns:ns2="80d9e87b-fbc8-4a54-949b-0385830f1ca9" xmlns:ns3="b6066941-5361-4794-be6c-ac49dba01cbf" targetNamespace="http://schemas.microsoft.com/office/2006/metadata/properties" ma:root="true" ma:fieldsID="60c12fee8b73da57cc35a3d17c98ac99" ns2:_="" ns3:_="">
    <xsd:import namespace="80d9e87b-fbc8-4a54-949b-0385830f1ca9"/>
    <xsd:import namespace="b6066941-5361-4794-be6c-ac49dba01cb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0d9e87b-fbc8-4a54-949b-0385830f1c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c9ed0b52-a196-47b6-8260-1695e528139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6066941-5361-4794-be6c-ac49dba01cbf"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e17bba70-ee6f-4ead-8087-4ab62e8bdc28}" ma:internalName="TaxCatchAll" ma:showField="CatchAllData" ma:web="b6066941-5361-4794-be6c-ac49dba01cb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6066941-5361-4794-be6c-ac49dba01cbf" xsi:nil="true"/>
    <lcf76f155ced4ddcb4097134ff3c332f xmlns="80d9e87b-fbc8-4a54-949b-0385830f1ca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7C09282-78FD-4021-89CD-CBD8A65BD5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0d9e87b-fbc8-4a54-949b-0385830f1ca9"/>
    <ds:schemaRef ds:uri="b6066941-5361-4794-be6c-ac49dba01cb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7D129A1-9023-47F0-96F8-C25F553A6CEA}">
  <ds:schemaRefs>
    <ds:schemaRef ds:uri="http://schemas.microsoft.com/sharepoint/v3/contenttype/forms"/>
  </ds:schemaRefs>
</ds:datastoreItem>
</file>

<file path=customXml/itemProps3.xml><?xml version="1.0" encoding="utf-8"?>
<ds:datastoreItem xmlns:ds="http://schemas.openxmlformats.org/officeDocument/2006/customXml" ds:itemID="{94C06C87-B967-4F53-B4B0-C7FA6C62A48A}">
  <ds:schemaRefs>
    <ds:schemaRef ds:uri="http://purl.org/dc/elements/1.1/"/>
    <ds:schemaRef ds:uri="http://schemas.microsoft.com/office/2006/documentManagement/types"/>
    <ds:schemaRef ds:uri="http://schemas.microsoft.com/office/infopath/2007/PartnerControls"/>
    <ds:schemaRef ds:uri="80d9e87b-fbc8-4a54-949b-0385830f1ca9"/>
    <ds:schemaRef ds:uri="http://schemas.microsoft.com/office/2006/metadata/properties"/>
    <ds:schemaRef ds:uri="http://purl.org/dc/terms/"/>
    <ds:schemaRef ds:uri="http://schemas.openxmlformats.org/package/2006/metadata/core-properties"/>
    <ds:schemaRef ds:uri="b6066941-5361-4794-be6c-ac49dba01cbf"/>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69</TotalTime>
  <Words>2380</Words>
  <Application>Microsoft Macintosh PowerPoint</Application>
  <PresentationFormat>Custom</PresentationFormat>
  <Paragraphs>246</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Fagun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hūmānus Annual Report 2025</dc:title>
  <dc:subject>PptxGenJS Presentation</dc:subject>
  <dc:creator>hūmānus</dc:creator>
  <cp:lastModifiedBy>Eva  Buzo</cp:lastModifiedBy>
  <cp:revision>5</cp:revision>
  <dcterms:created xsi:type="dcterms:W3CDTF">2026-02-17T08:28:47Z</dcterms:created>
  <dcterms:modified xsi:type="dcterms:W3CDTF">2026-02-23T12:14:04Z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0x010100E8829FCE51F4D64BAB0AF78AD6D2860C</vt:lpwstr>
  </property>
  <property fmtid="{D5CDD505-2E9C-101B-9397-08002B2CF9AE}" pid="3" name="MediaServiceImageTags">
    <vt:lpwstr/>
  </property>
</Properties>
</file>